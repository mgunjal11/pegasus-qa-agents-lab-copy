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731520"/>
            <a:ext cx="2926080" cy="292608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5029200"/>
            <a:ext cx="1828800" cy="1828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C000"/>
                </a:solidFill>
                <a:latin typeface="Calibri"/>
              </a:defRPr>
            </a:pPr>
            <a:r>
              <a:t>Business Assurance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MSC Dev Code and QA Test Coverage Validator</a:t>
            </a:r>
          </a:p>
        </p:txBody>
      </p:sp>
      <p:sp>
        <p:nvSpPr>
          <p:cNvPr id="8" name="TextBox 7">
            <a:hlinkHover tooltip="MSC coverage validation report comparing the Jira story to linked GitHub PRs, attached QMetry test plan, and CI pipeline metrics." action="ppaction://noaction"/>
          </p:cNvPr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AI-driven release readiness · Jira + Confluence LADR (when linked) + GitHub + Excel test plan in one report</a:t>
            </a:r>
          </a:p>
        </p:txBody>
      </p:sp>
      <p:sp>
        <p:nvSpPr>
          <p:cNvPr id="9" name="Oval 8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10241280" y="345643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2" name="TextBox 11">
            <a:hlinkHover tooltip="Jira, Confluence LADR, GitHub PR(s), and Excel test plan in one run." action="ppaction://noaction"/>
          </p:cNvPr>
          <p:cNvSpPr txBox="1"/>
          <p:nvPr/>
        </p:nvSpPr>
        <p:spPr>
          <a:xfrm>
            <a:off x="850392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Systems unified</a:t>
            </a:r>
          </a:p>
        </p:txBody>
      </p:sp>
      <p:sp>
        <p:nvSpPr>
          <p:cNvPr id="13" name="Oval 12">
            <a:hlinkHover tooltip="Jira, Confluence LADR, GitHub PR(s), and Excel test plan in one run." action="ppaction://noaction"/>
          </p:cNvPr>
          <p:cNvSpPr/>
          <p:nvPr/>
        </p:nvSpPr>
        <p:spPr>
          <a:xfrm>
            <a:off x="3108960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4" name="TextBox 13">
            <a:hlinkHover tooltip="Jira, Confluence LADR, GitHub PR(s), and Excel test plan in one run." action="ppaction://noaction"/>
          </p:cNvPr>
          <p:cNvSpPr txBox="1"/>
          <p:nvPr/>
        </p:nvSpPr>
        <p:spPr>
          <a:xfrm>
            <a:off x="832104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Jira, Confluence LADR, GitHub PR(s), and Excel test plan in one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7" name="TextBox 16">
            <a:hlinkHover tooltip="Eight summary cards in §1 of the HTML report (dev, plan, CI, gaps)." action="ppaction://noaction"/>
          </p:cNvPr>
          <p:cNvSpPr txBox="1"/>
          <p:nvPr/>
        </p:nvSpPr>
        <p:spPr>
          <a:xfrm>
            <a:off x="3566160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Coverage metrics</a:t>
            </a:r>
          </a:p>
        </p:txBody>
      </p:sp>
      <p:sp>
        <p:nvSpPr>
          <p:cNvPr id="18" name="Oval 17">
            <a:hlinkHover tooltip="Eight summary cards in §1 of the HTML report (dev, plan, CI, gaps)." action="ppaction://noaction"/>
          </p:cNvPr>
          <p:cNvSpPr/>
          <p:nvPr/>
        </p:nvSpPr>
        <p:spPr>
          <a:xfrm>
            <a:off x="5824728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9" name="TextBox 18">
            <a:hlinkHover tooltip="Eight summary cards in §1 of the HTML report (dev, plan, CI, gaps)." action="ppaction://noaction"/>
          </p:cNvPr>
          <p:cNvSpPr txBox="1"/>
          <p:nvPr/>
        </p:nvSpPr>
        <p:spPr>
          <a:xfrm>
            <a:off x="3547872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Eight summary cards in §1 of the HTML report (dev, plan, CI, gaps).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216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2–5</a:t>
            </a:r>
          </a:p>
        </p:txBody>
      </p:sp>
      <p:sp>
        <p:nvSpPr>
          <p:cNvPr id="22" name="TextBox 21">
            <a:hlinkHover tooltip="Typical --auto pipeline after caches are warm (2–5 minutes)." action="ppaction://noaction"/>
          </p:cNvPr>
          <p:cNvSpPr txBox="1"/>
          <p:nvPr/>
        </p:nvSpPr>
        <p:spPr>
          <a:xfrm>
            <a:off x="6281928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Minutes per run</a:t>
            </a:r>
          </a:p>
        </p:txBody>
      </p:sp>
      <p:sp>
        <p:nvSpPr>
          <p:cNvPr id="23" name="Oval 22">
            <a:hlinkHover tooltip="Typical --auto pipeline after caches are warm (2–5 minutes)." action="ppaction://noaction"/>
          </p:cNvPr>
          <p:cNvSpPr/>
          <p:nvPr/>
        </p:nvSpPr>
        <p:spPr>
          <a:xfrm>
            <a:off x="8540496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4" name="TextBox 23">
            <a:hlinkHover tooltip="Typical --auto pipeline after caches are warm (2–5 minutes)." action="ppaction://noaction"/>
          </p:cNvPr>
          <p:cNvSpPr txBox="1"/>
          <p:nvPr/>
        </p:nvSpPr>
        <p:spPr>
          <a:xfrm>
            <a:off x="6263640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Typical --auto pipeline after caches are warm (2–5 minutes).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4434840"/>
            <a:ext cx="2606040" cy="1435608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4544568"/>
            <a:ext cx="2423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7" name="TextBox 26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8997696" y="4965192"/>
            <a:ext cx="245973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HTML verdict</a:t>
            </a:r>
          </a:p>
        </p:txBody>
      </p:sp>
      <p:sp>
        <p:nvSpPr>
          <p:cNvPr id="28" name="Oval 27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11256264" y="44897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9" name="TextBox 28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8979408" y="5504688"/>
            <a:ext cx="2496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94A3B8"/>
                </a:solidFill>
                <a:latin typeface="Calibri"/>
              </a:defRPr>
            </a:pPr>
            <a:r>
              <a:t>Overall readiness: Pass when requirements are met; Pass with gaps when minor items remain; Fail when critical…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44768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Pegasus QA Agents Lab · June 2026 · layout v8 · PPT hover tooltips · github.com/mgunjal11/pegasus-qa-agents-lab · Developed by Mayur Gunjal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5E4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7" name="TextBox 6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8" name="Rounded Rectangle 7">
            <a:hlinkHover tooltip="One automated readiness view before MSC release sign-off." action="ppaction://noaction"/>
          </p:cNvPr>
          <p:cNvSpPr/>
          <p:nvPr/>
        </p:nvSpPr>
        <p:spPr>
          <a:xfrm>
            <a:off x="502920" y="132588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1280160" y="1801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One automated readiness view before MSC release sign-off.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356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4173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099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Value at a glance</a:t>
            </a:r>
          </a:p>
        </p:txBody>
      </p:sp>
      <p:sp>
        <p:nvSpPr>
          <p:cNvPr id="13" name="Rounded Rectangle 12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502920" y="228600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1280160" y="27614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3957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01b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3774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What’s new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6700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June 2026 · layout v8 · PPT hover tooltips</a:t>
            </a:r>
          </a:p>
        </p:txBody>
      </p:sp>
      <p:sp>
        <p:nvSpPr>
          <p:cNvPr id="18" name="Rounded Rectangle 17">
            <a:hlinkHover tooltip="Why siloed Jira, GitHub, Excel, and Confluence block confident releases." action="ppaction://noaction"/>
          </p:cNvPr>
          <p:cNvSpPr/>
          <p:nvPr/>
        </p:nvSpPr>
        <p:spPr>
          <a:xfrm>
            <a:off x="502920" y="324612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Hover tooltip="Why siloed Jira, GitHub, Excel, and Confluence block confident releases." action="ppaction://noaction"/>
          </p:cNvPr>
          <p:cNvSpPr txBox="1"/>
          <p:nvPr/>
        </p:nvSpPr>
        <p:spPr>
          <a:xfrm>
            <a:off x="1280160" y="37216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Why siloed Jira, GitHub, Excel, and Confluence block confident releases.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5584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33756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63016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Fragmented release signals</a:t>
            </a:r>
          </a:p>
        </p:txBody>
      </p:sp>
      <p:sp>
        <p:nvSpPr>
          <p:cNvPr id="23" name="Rounded Rectangle 22">
            <a:hlinkHover tooltip="Cursor subagent + workflow + architecture." action="ppaction://noaction"/>
          </p:cNvPr>
          <p:cNvSpPr/>
          <p:nvPr/>
        </p:nvSpPr>
        <p:spPr>
          <a:xfrm>
            <a:off x="502920" y="420624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Hover tooltip="Cursor subagent + workflow + architecture." action="ppaction://noaction"/>
          </p:cNvPr>
          <p:cNvSpPr txBox="1"/>
          <p:nvPr/>
        </p:nvSpPr>
        <p:spPr>
          <a:xfrm>
            <a:off x="1280160" y="46817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Cursor subagent + workflow + architecture.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31596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297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59028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Cursor subagent + workflow</a:t>
            </a:r>
          </a:p>
        </p:txBody>
      </p:sp>
      <p:sp>
        <p:nvSpPr>
          <p:cNvPr id="28" name="Rounded Rectangle 27">
            <a:hlinkHover tooltip="Mirrors live report structure; hover ⓘ on slides for field definitions." action="ppaction://noaction"/>
          </p:cNvPr>
          <p:cNvSpPr/>
          <p:nvPr/>
        </p:nvSpPr>
        <p:spPr>
          <a:xfrm>
            <a:off x="502920" y="516636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Hover tooltip="Mirrors live report structure; hover ⓘ on slides for field definitions." action="ppaction://noaction"/>
          </p:cNvPr>
          <p:cNvSpPr txBox="1"/>
          <p:nvPr/>
        </p:nvSpPr>
        <p:spPr>
          <a:xfrm>
            <a:off x="1280160" y="564184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Mirrors live report structure; hover ⓘ on slides for field definitions.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7608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25780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HTML report deep-dive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55040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8 sections · info icons · traceability</a:t>
            </a:r>
          </a:p>
        </p:txBody>
      </p:sp>
      <p:sp>
        <p:nvSpPr>
          <p:cNvPr id="33" name="Rounded Rectangle 32">
            <a:hlinkHover tooltip="install_coverage_validator_permissions.py + cache reuse." action="ppaction://noaction"/>
          </p:cNvPr>
          <p:cNvSpPr/>
          <p:nvPr/>
        </p:nvSpPr>
        <p:spPr>
          <a:xfrm>
            <a:off x="502920" y="6126480"/>
            <a:ext cx="5669280" cy="86868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>
            <a:hlinkHover tooltip="install_coverage_validator_permissions.py + cache reuse." action="ppaction://noaction"/>
          </p:cNvPr>
          <p:cNvSpPr txBox="1"/>
          <p:nvPr/>
        </p:nvSpPr>
        <p:spPr>
          <a:xfrm>
            <a:off x="1280160" y="66019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install_coverage_validator_permissions.py + cache reuse.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23620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62179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Enablement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651052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Setup · scripts · permissions</a:t>
            </a:r>
          </a:p>
        </p:txBody>
      </p:sp>
      <p:sp>
        <p:nvSpPr>
          <p:cNvPr id="38" name="Rounded Rectangle 37">
            <a:hlinkHover tooltip="Recent MSC-204417, MSC-205625, MSC-195138, MSC-212571 validation runs." action="ppaction://noaction"/>
          </p:cNvPr>
          <p:cNvSpPr/>
          <p:nvPr/>
        </p:nvSpPr>
        <p:spPr>
          <a:xfrm>
            <a:off x="502920" y="7086600"/>
            <a:ext cx="56692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>
            <a:hlinkHover tooltip="Recent MSC-204417, MSC-205625, MSC-195138, MSC-212571 validation runs." action="ppaction://noaction"/>
          </p:cNvPr>
          <p:cNvSpPr txBox="1"/>
          <p:nvPr/>
        </p:nvSpPr>
        <p:spPr>
          <a:xfrm>
            <a:off x="1280160" y="756208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Recent MSC-204417, MSC-205625, MSC-195138, MSC-212571 validation runs.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7196328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71780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4066C"/>
                </a:solidFill>
                <a:latin typeface="Calibri"/>
              </a:defRPr>
            </a:pPr>
            <a:r>
              <a:t>Proven outcomes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" y="74706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MSC case studies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92240" y="1097280"/>
            <a:ext cx="5212080" cy="50292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0840" y="128016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C000"/>
                </a:solidFill>
                <a:latin typeface="Calibri"/>
              </a:defRPr>
            </a:pPr>
            <a:r>
              <a:t>What you get in one run</a:t>
            </a:r>
          </a:p>
        </p:txBody>
      </p:sp>
      <p:sp>
        <p:nvSpPr>
          <p:cNvPr id="45" name="Rounded Rectangle 44">
            <a:hlinkHover tooltip="Jira story + AC + LADR links" action="ppaction://noaction"/>
          </p:cNvPr>
          <p:cNvSpPr/>
          <p:nvPr/>
        </p:nvSpPr>
        <p:spPr>
          <a:xfrm>
            <a:off x="6858000" y="1691640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Jira story + AC + LADR links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8778240" y="2350008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>
            <a:hlinkHover tooltip="Confluence LADR requirements (when linked)" action="ppaction://noaction"/>
          </p:cNvPr>
          <p:cNvSpPr/>
          <p:nvPr/>
        </p:nvSpPr>
        <p:spPr>
          <a:xfrm>
            <a:off x="6858000" y="2404872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Confluence LADR requirements (when linked)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8778240" y="3063240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>
            <a:hlinkHover tooltip="Linked PR + CI" action="ppaction://noaction"/>
          </p:cNvPr>
          <p:cNvSpPr/>
          <p:nvPr/>
        </p:nvSpPr>
        <p:spPr>
          <a:xfrm>
            <a:off x="6858000" y="3118104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Linked PR + CI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8778240" y="3776472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>
            <a:hlinkHover tooltip="Excel test plan (Jira attachment)" action="ppaction://noaction"/>
          </p:cNvPr>
          <p:cNvSpPr/>
          <p:nvPr/>
        </p:nvSpPr>
        <p:spPr>
          <a:xfrm>
            <a:off x="6858000" y="3831336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Excel test plan (Jira attachment)</a:t>
            </a:r>
          </a:p>
        </p:txBody>
      </p:sp>
      <p:sp>
        <p:nvSpPr>
          <p:cNvPr id="52" name="Down Arrow 51"/>
          <p:cNvSpPr/>
          <p:nvPr/>
        </p:nvSpPr>
        <p:spPr>
          <a:xfrm>
            <a:off x="8778240" y="4489704"/>
            <a:ext cx="320040" cy="201168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>
            <a:hlinkHover tooltip="HTML readiness report" action="ppaction://noaction"/>
          </p:cNvPr>
          <p:cNvSpPr/>
          <p:nvPr/>
        </p:nvSpPr>
        <p:spPr>
          <a:xfrm>
            <a:off x="6858000" y="4544568"/>
            <a:ext cx="4480560" cy="530352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HTML readiness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Oval 6">
            <a:hlinkHover tooltip="One automated readiness view before MSC release sign-off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One automated readiness view before every MSC release sign-off</a:t>
            </a:r>
          </a:p>
        </p:txBody>
      </p:sp>
      <p:sp>
        <p:nvSpPr>
          <p:cNvPr id="9" name="TextBox 8">
            <a:hlinkHover tooltip="One automated readiness view before MSC release sign-off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One automated readiness view before MSC release sign-off.</a:t>
            </a:r>
          </a:p>
        </p:txBody>
      </p:sp>
      <p:sp>
        <p:nvSpPr>
          <p:cNvPr id="10" name="Rounded Rectangle 9">
            <a:hlinkHover tooltip="Jira, GitHub, Excel, and Confluence LADR live in silos without one evidence trail." action="ppaction://noaction"/>
          </p:cNvPr>
          <p:cNvSpPr/>
          <p:nvPr/>
        </p:nvSpPr>
        <p:spPr>
          <a:xfrm>
            <a:off x="502920" y="1234440"/>
            <a:ext cx="3611880" cy="457200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Jira, GitHub, Excel test plans, and Confluence LADR (when linked) live in silos — release reviews lack one evidence trail.</a:t>
            </a:r>
          </a:p>
        </p:txBody>
      </p:sp>
      <p:sp>
        <p:nvSpPr>
          <p:cNvPr id="12" name="TextBox 11">
            <a:hlinkHover tooltip="Jira, GitHub, Excel, and Confluence LADR live in silos without one evidence trail." action="ppaction://noaction"/>
          </p:cNvPr>
          <p:cNvSpPr txBox="1"/>
          <p:nvPr/>
        </p:nvSpPr>
        <p:spPr>
          <a:xfrm>
            <a:off x="57607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Jira, GitHub, Excel, and Confluence LADR live in silos without one evidence trail.</a:t>
            </a:r>
          </a:p>
        </p:txBody>
      </p:sp>
      <p:sp>
        <p:nvSpPr>
          <p:cNvPr id="13" name="Oval 12">
            <a:hlinkHover tooltip="Jira, GitHub, Excel, and Confluence LADR live in silos without one evidence trail." action="ppaction://noaction"/>
          </p:cNvPr>
          <p:cNvSpPr/>
          <p:nvPr/>
        </p:nvSpPr>
        <p:spPr>
          <a:xfrm>
            <a:off x="384048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4" name="Rounded Rectangle 13">
            <a:hlinkHover tooltip="Subagent maps AC + LADR → code → dev tests → QA plan → verdict." action="ppaction://noaction"/>
          </p:cNvPr>
          <p:cNvSpPr/>
          <p:nvPr/>
        </p:nvSpPr>
        <p:spPr>
          <a:xfrm>
            <a:off x="4297680" y="1234440"/>
            <a:ext cx="3611880" cy="45720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Cursor subagent correlates Jira AC + Confluence LADR requirements → code → dev tests → QA plan → verdict.</a:t>
            </a:r>
          </a:p>
        </p:txBody>
      </p:sp>
      <p:sp>
        <p:nvSpPr>
          <p:cNvPr id="16" name="TextBox 15">
            <a:hlinkHover tooltip="Subagent maps AC + LADR → code → dev tests → QA plan → verdict." action="ppaction://noaction"/>
          </p:cNvPr>
          <p:cNvSpPr txBox="1"/>
          <p:nvPr/>
        </p:nvSpPr>
        <p:spPr>
          <a:xfrm>
            <a:off x="437083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Subagent maps AC + LADR → code → dev tests → QA plan → verdict.</a:t>
            </a:r>
          </a:p>
        </p:txBody>
      </p:sp>
      <p:sp>
        <p:nvSpPr>
          <p:cNvPr id="17" name="Oval 16">
            <a:hlinkHover tooltip="Subagent maps AC + LADR → code → dev tests → QA plan → verdict." action="ppaction://noaction"/>
          </p:cNvPr>
          <p:cNvSpPr/>
          <p:nvPr/>
        </p:nvSpPr>
        <p:spPr>
          <a:xfrm>
            <a:off x="763524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8" name="Rounded Rectangle 17">
            <a:hlinkHover tooltip="Timestamped HTML report with eight metrics and QA handoff." action="ppaction://noaction"/>
          </p:cNvPr>
          <p:cNvSpPr/>
          <p:nvPr/>
        </p:nvSpPr>
        <p:spPr>
          <a:xfrm>
            <a:off x="8092440" y="1234440"/>
            <a:ext cx="3611880" cy="457200"/>
          </a:xfrm>
          <a:prstGeom prst="roundRect">
            <a:avLst/>
          </a:prstGeom>
          <a:solidFill>
            <a:srgbClr val="009688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1783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Leadership opens a timestamped HTML report with 8 quantified metrics and clear QA handoff.</a:t>
            </a:r>
          </a:p>
        </p:txBody>
      </p:sp>
      <p:sp>
        <p:nvSpPr>
          <p:cNvPr id="20" name="TextBox 19">
            <a:hlinkHover tooltip="Timestamped HTML report with eight metrics and QA handoff." action="ppaction://noaction"/>
          </p:cNvPr>
          <p:cNvSpPr txBox="1"/>
          <p:nvPr/>
        </p:nvSpPr>
        <p:spPr>
          <a:xfrm>
            <a:off x="8165592" y="290779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i="1">
                <a:solidFill>
                  <a:srgbClr val="64748B"/>
                </a:solidFill>
                <a:latin typeface="Calibri"/>
              </a:defRPr>
            </a:pPr>
            <a:r>
              <a:t>Timestamped HTML report with eight metrics and QA handoff.</a:t>
            </a:r>
          </a:p>
        </p:txBody>
      </p:sp>
      <p:sp>
        <p:nvSpPr>
          <p:cNvPr id="21" name="Oval 20">
            <a:hlinkHover tooltip="Timestamped HTML report with eight metrics and QA handoff." action="ppaction://noaction"/>
          </p:cNvPr>
          <p:cNvSpPr/>
          <p:nvPr/>
        </p:nvSpPr>
        <p:spPr>
          <a:xfrm>
            <a:off x="11430000" y="12801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20440"/>
            <a:ext cx="2697480" cy="1801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5E4F"/>
                </a:solidFill>
                <a:latin typeface="Calibri"/>
              </a:defRPr>
            </a:pPr>
            <a:r>
              <a:t>~35–40%</a:t>
            </a:r>
          </a:p>
        </p:txBody>
      </p:sp>
      <p:sp>
        <p:nvSpPr>
          <p:cNvPr id="24" name="TextBox 23">
            <a:hlinkHover tooltip="Single HTML artifact replaces multi-tool manual cross-check." action="ppaction://noaction"/>
          </p:cNvPr>
          <p:cNvSpPr txBox="1"/>
          <p:nvPr/>
        </p:nvSpPr>
        <p:spPr>
          <a:xfrm>
            <a:off x="576072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5E4F"/>
                </a:solidFill>
                <a:latin typeface="Calibri"/>
              </a:defRPr>
            </a:pPr>
            <a:r>
              <a:t>Faster triage vs manual traceability</a:t>
            </a:r>
          </a:p>
        </p:txBody>
      </p:sp>
      <p:sp>
        <p:nvSpPr>
          <p:cNvPr id="25" name="Oval 24">
            <a:hlinkHover tooltip="Single HTML artifact replaces multi-tool manual cross-check." action="ppaction://noaction"/>
          </p:cNvPr>
          <p:cNvSpPr/>
          <p:nvPr/>
        </p:nvSpPr>
        <p:spPr>
          <a:xfrm>
            <a:off x="2926080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6" name="TextBox 25">
            <a:hlinkHover tooltip="Single HTML artifact replaces multi-tool manual cross-check." action="ppaction://noaction"/>
          </p:cNvPr>
          <p:cNvSpPr txBox="1"/>
          <p:nvPr/>
        </p:nvSpPr>
        <p:spPr>
          <a:xfrm>
            <a:off x="557784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Single HTML artifact replaces multi-tool manual cross-check.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5E4F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55848" y="3520440"/>
            <a:ext cx="2697480" cy="1801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4066C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30" name="TextBox 29">
            <a:hlinkHover tooltip="Every R-item scored against PR diff, dev tests, and test plan." action="ppaction://noaction"/>
          </p:cNvPr>
          <p:cNvSpPr txBox="1"/>
          <p:nvPr/>
        </p:nvSpPr>
        <p:spPr>
          <a:xfrm>
            <a:off x="3429000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4066C"/>
                </a:solidFill>
                <a:latin typeface="Calibri"/>
              </a:defRPr>
            </a:pPr>
            <a:r>
              <a:t>AC-to-evidence mapping per run</a:t>
            </a:r>
          </a:p>
        </p:txBody>
      </p:sp>
      <p:sp>
        <p:nvSpPr>
          <p:cNvPr id="31" name="Oval 30">
            <a:hlinkHover tooltip="Every R-item scored against PR diff, dev tests, and test plan." action="ppaction://noaction"/>
          </p:cNvPr>
          <p:cNvSpPr/>
          <p:nvPr/>
        </p:nvSpPr>
        <p:spPr>
          <a:xfrm>
            <a:off x="5779008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2" name="TextBox 31">
            <a:hlinkHover tooltip="Every R-item scored against PR diff, dev tests, and test plan." action="ppaction://noaction"/>
          </p:cNvPr>
          <p:cNvSpPr txBox="1"/>
          <p:nvPr/>
        </p:nvSpPr>
        <p:spPr>
          <a:xfrm>
            <a:off x="3410712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Every R-item scored against PR diff, dev tests, and test plan.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4066C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3520440"/>
            <a:ext cx="2697480" cy="1801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49A00"/>
                </a:solidFill>
                <a:latin typeface="Calibri"/>
              </a:defRPr>
            </a:pPr>
            <a:r>
              <a:t>Pass / Gaps / Fail</a:t>
            </a:r>
          </a:p>
        </p:txBody>
      </p:sp>
      <p:sp>
        <p:nvSpPr>
          <p:cNvPr id="36" name="TextBox 35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6281928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D49A00"/>
                </a:solidFill>
                <a:latin typeface="Calibri"/>
              </a:defRPr>
            </a:pPr>
            <a:r>
              <a:t>Explicit release verdict</a:t>
            </a:r>
          </a:p>
        </p:txBody>
      </p:sp>
      <p:sp>
        <p:nvSpPr>
          <p:cNvPr id="37" name="Oval 36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8631936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8" name="TextBox 37">
            <a:hlinkHover tooltip="Overall readiness: Pass when requirements are met; Pass with gaps when minor items remain; Fail when critical gaps or contradictions exist." action="ppaction://noaction"/>
          </p:cNvPr>
          <p:cNvSpPr txBox="1"/>
          <p:nvPr/>
        </p:nvSpPr>
        <p:spPr>
          <a:xfrm>
            <a:off x="6263640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Overall readiness: Pass when requirements are met; Pass with gaps when minor items remain; Fail when critical…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D49A00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61704" y="3520440"/>
            <a:ext cx="2697480" cy="1801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53144" y="3630168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6A34A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42" name="TextBox 41">
            <a:hlinkHover tooltip="reports/{KEY}-{date}-{time}-{TZ}.html in local timezone." action="ppaction://noaction"/>
          </p:cNvPr>
          <p:cNvSpPr txBox="1"/>
          <p:nvPr/>
        </p:nvSpPr>
        <p:spPr>
          <a:xfrm>
            <a:off x="9134856" y="4050792"/>
            <a:ext cx="2551176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Calibri"/>
              </a:defRPr>
            </a:pPr>
            <a:r>
              <a:t>Shareable HTML artifact</a:t>
            </a:r>
          </a:p>
        </p:txBody>
      </p:sp>
      <p:sp>
        <p:nvSpPr>
          <p:cNvPr id="43" name="Oval 42">
            <a:hlinkHover tooltip="reports/{KEY}-{date}-{time}-{TZ}.html in local timezone." action="ppaction://noaction"/>
          </p:cNvPr>
          <p:cNvSpPr/>
          <p:nvPr/>
        </p:nvSpPr>
        <p:spPr>
          <a:xfrm>
            <a:off x="11484864" y="3575304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44" name="TextBox 43">
            <a:hlinkHover tooltip="reports/{KEY}-{date}-{time}-{TZ}.html in local timezone." action="ppaction://noaction"/>
          </p:cNvPr>
          <p:cNvSpPr txBox="1"/>
          <p:nvPr/>
        </p:nvSpPr>
        <p:spPr>
          <a:xfrm>
            <a:off x="9116568" y="4956048"/>
            <a:ext cx="25877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334155"/>
                </a:solidFill>
                <a:latin typeface="Calibri"/>
              </a:defRPr>
            </a:pPr>
            <a:r>
              <a:t>reports/{KEY}-{date}-{time}-{TZ}.html in local timezone.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4856" y="4974336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16A34A"/>
                </a:solidFill>
                <a:latin typeface="Calibri"/>
              </a:defRPr>
            </a:pPr>
            <a:r>
              <a:t>Per validator run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166360"/>
            <a:ext cx="11155680" cy="777240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285232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4066C"/>
                </a:solidFill>
                <a:latin typeface="Calibri"/>
              </a:defRPr>
            </a:pPr>
            <a:r>
              <a:t>"We no longer ask five people whether the PR, unit tests, Jira test plan, and LADR design doc align — the validator answers that in one report." — MSC QA lead workflow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What’s new — June 2026 · layout v8 · PPT hover tooltips</a:t>
            </a:r>
          </a:p>
        </p:txBody>
      </p:sp>
      <p:sp>
        <p:nvSpPr>
          <p:cNvPr id="7" name="Oval 6">
            <a:hlinkHover tooltip="Gray italic text = short definition (always visible). Coral ⓘ = full definition on hover in Slide Show (press F5). Matches HTML report info tooltips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Shipped in pegasus-qa-agents-lab · reflects latest HTML reports</a:t>
            </a:r>
          </a:p>
        </p:txBody>
      </p:sp>
      <p:sp>
        <p:nvSpPr>
          <p:cNvPr id="9" name="TextBox 8">
            <a:hlinkHover tooltip="Gray italic text = short definition (always visible). Coral ⓘ = full definition on hover in Slide Show (press F5). Matches HTML report info tooltips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Gray italic text = short definition (always visible). Coral ⓘ = full definition on hover in Slide Show (press…</a:t>
            </a:r>
          </a:p>
        </p:txBody>
      </p:sp>
      <p:sp>
        <p:nvSpPr>
          <p:cNvPr id="10" name="Rounded Rectangle 9">
            <a:hlinkHover tooltip="/msc-dev-code-and-qa-test-coverage-validator replaces deprecated msc-code-coverage-validator" action="ppaction://noaction"/>
          </p:cNvPr>
          <p:cNvSpPr/>
          <p:nvPr/>
        </p:nvSpPr>
        <p:spPr>
          <a:xfrm>
            <a:off x="502920" y="1234440"/>
            <a:ext cx="5440680" cy="16002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hlinkHover tooltip="/msc-dev-code-and-qa-test-coverage-validator replaces deprecated msc-code-coverage-validator" action="ppaction://noaction"/>
          </p:cNvPr>
          <p:cNvSpPr/>
          <p:nvPr/>
        </p:nvSpPr>
        <p:spPr>
          <a:xfrm>
            <a:off x="5641848" y="132588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34416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5E4F"/>
                </a:solidFill>
                <a:latin typeface="Calibri"/>
              </a:defRPr>
            </a:pPr>
            <a:r>
              <a:t>Renamed command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916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/msc-dev-code-and-qa-test-coverage-validator replaces deprecated msc-code-coverage-validator</a:t>
            </a:r>
          </a:p>
        </p:txBody>
      </p:sp>
      <p:sp>
        <p:nvSpPr>
          <p:cNvPr id="14" name="Rounded Rectangle 13">
            <a:hlinkHover tooltip="collect_ladr_page_links() filters grooming, deployment, PVC go-live, and operational wiki pages" action="ppaction://noaction"/>
          </p:cNvPr>
          <p:cNvSpPr/>
          <p:nvPr/>
        </p:nvSpPr>
        <p:spPr>
          <a:xfrm>
            <a:off x="6172200" y="1234440"/>
            <a:ext cx="5440680" cy="16002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hlinkHover tooltip="collect_ladr_page_links() filters grooming, deployment, PVC go-live, and operational wiki pages" action="ppaction://noaction"/>
          </p:cNvPr>
          <p:cNvSpPr/>
          <p:nvPr/>
        </p:nvSpPr>
        <p:spPr>
          <a:xfrm>
            <a:off x="11311128" y="132588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4416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4066C"/>
                </a:solidFill>
                <a:latin typeface="Calibri"/>
              </a:defRPr>
            </a:pPr>
            <a:r>
              <a:t>LADR-only quick 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916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collect_ladr_page_links() filters grooming, deployment, PVC go-live, and operational wiki pages</a:t>
            </a:r>
          </a:p>
        </p:txBody>
      </p:sp>
      <p:sp>
        <p:nvSpPr>
          <p:cNvPr id="18" name="Rounded Rectangle 17">
            <a:hlinkHover tooltip="Dev-covered AC (qaScope: none) excluded from QA execute list; handoff lists TC IDs only for remaining scope" action="ppaction://noaction"/>
          </p:cNvPr>
          <p:cNvSpPr/>
          <p:nvPr/>
        </p:nvSpPr>
        <p:spPr>
          <a:xfrm>
            <a:off x="502920" y="3017520"/>
            <a:ext cx="5440680" cy="160020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hlinkHover tooltip="Dev-covered AC (qaScope: none) excluded from QA execute list; handoff lists TC IDs only for remaining scope" action="ppaction://noaction"/>
          </p:cNvPr>
          <p:cNvSpPr/>
          <p:nvPr/>
        </p:nvSpPr>
        <p:spPr>
          <a:xfrm>
            <a:off x="5641848" y="3108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12724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49A00"/>
                </a:solidFill>
                <a:latin typeface="Calibri"/>
              </a:defRPr>
            </a:pPr>
            <a:r>
              <a:t>§4 QA ownership v3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Dev-covered AC (qaScope: none) excluded from QA execute list; handoff lists TC IDs only for remaining scope</a:t>
            </a:r>
          </a:p>
        </p:txBody>
      </p:sp>
      <p:sp>
        <p:nvSpPr>
          <p:cNvPr id="22" name="Rounded Rectangle 21">
            <a:hlinkHover tooltip="Info-icon tooltips on all 8 sections; Linked PR Dev tests + CI columns; release readiness score" action="ppaction://noaction"/>
          </p:cNvPr>
          <p:cNvSpPr/>
          <p:nvPr/>
        </p:nvSpPr>
        <p:spPr>
          <a:xfrm>
            <a:off x="6172200" y="3017520"/>
            <a:ext cx="5440680" cy="16002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hlinkHover tooltip="Info-icon tooltips on all 8 sections; Linked PR Dev tests + CI columns; release readiness score" action="ppaction://noaction"/>
          </p:cNvPr>
          <p:cNvSpPr/>
          <p:nvPr/>
        </p:nvSpPr>
        <p:spPr>
          <a:xfrm>
            <a:off x="11311128" y="3108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12724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Calibri"/>
              </a:defRPr>
            </a:pPr>
            <a:r>
              <a:t>Report UI v8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7472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Info-icon tooltips on all 8 sections; Linked PR Dev tests + CI columns; release readiness score</a:t>
            </a:r>
          </a:p>
        </p:txBody>
      </p:sp>
      <p:sp>
        <p:nvSpPr>
          <p:cNvPr id="26" name="Rounded Rectangle 25">
            <a:hlinkHover tooltip="Newest report: MSC-212571 (MSC-212571-06-02-2026-17-33-50-IST.html) — matrix refreshed at build" action="ppaction://noaction"/>
          </p:cNvPr>
          <p:cNvSpPr/>
          <p:nvPr/>
        </p:nvSpPr>
        <p:spPr>
          <a:xfrm>
            <a:off x="502920" y="4800600"/>
            <a:ext cx="5440680" cy="1600200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>
            <a:hlinkHover tooltip="Newest report: MSC-212571 (MSC-212571-06-02-2026-17-33-50-IST.html) — matrix refreshed at build" action="ppaction://noaction"/>
          </p:cNvPr>
          <p:cNvSpPr/>
          <p:nvPr/>
        </p:nvSpPr>
        <p:spPr>
          <a:xfrm>
            <a:off x="5641848" y="489204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1032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4155"/>
                </a:solidFill>
                <a:latin typeface="Calibri"/>
              </a:defRPr>
            </a:pPr>
            <a:r>
              <a:t>Latest pilots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Newest report: MSC-212571 (MSC-212571-06-02-2026-17-33-50-IST.html) — matrix refreshed at build</a:t>
            </a:r>
          </a:p>
        </p:txBody>
      </p:sp>
      <p:sp>
        <p:nvSpPr>
          <p:cNvPr id="30" name="Rounded Rectangle 29">
            <a:hlinkHover tooltip="scripts/test_fixtures/ + conftest.py — LADR quick-link unit tests without live Jira cache" action="ppaction://noaction"/>
          </p:cNvPr>
          <p:cNvSpPr/>
          <p:nvPr/>
        </p:nvSpPr>
        <p:spPr>
          <a:xfrm>
            <a:off x="6172200" y="4800600"/>
            <a:ext cx="5440680" cy="16002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hlinkHover tooltip="scripts/test_fixtures/ + conftest.py — LADR quick-link unit tests without live Jira cache" action="ppaction://noaction"/>
          </p:cNvPr>
          <p:cNvSpPr/>
          <p:nvPr/>
        </p:nvSpPr>
        <p:spPr>
          <a:xfrm>
            <a:off x="11311128" y="489204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10328"/>
            <a:ext cx="5120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9688"/>
                </a:solidFill>
                <a:latin typeface="Calibri"/>
              </a:defRPr>
            </a:pPr>
            <a:r>
              <a:t>Portable tests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2578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scripts/test_fixtures/ + conftest.py — LADR quick-link unit tests without live Jira cache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challenge</a:t>
            </a:r>
          </a:p>
        </p:txBody>
      </p:sp>
      <p:sp>
        <p:nvSpPr>
          <p:cNvPr id="6" name="TextBox 5">
            <a:hlinkHover tooltip="Why fragmented Jira · GitHub · Excel test plans · Confluence LADR blocks confident releases" action="ppaction://noaction"/>
          </p:cNvPr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Why fragmented Jira · GitHub · Excel test plans · Confluence LADR blocks confident releases</a:t>
            </a:r>
          </a:p>
        </p:txBody>
      </p:sp>
      <p:sp>
        <p:nvSpPr>
          <p:cNvPr id="7" name="Oval 6">
            <a:hlinkHover tooltip="Why siloed Jira, GitHub, Excel, and Confluence block confident releases." action="ppaction://noaction"/>
          </p:cNvPr>
          <p:cNvSpPr/>
          <p:nvPr/>
        </p:nvSpPr>
        <p:spPr>
          <a:xfrm>
            <a:off x="11475720" y="1965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The challenge — four silos, zero single view</a:t>
            </a:r>
          </a:p>
        </p:txBody>
      </p:sp>
      <p:sp>
        <p:nvSpPr>
          <p:cNvPr id="7" name="Oval 6">
            <a:hlinkHover tooltip="Guide: The challenge — four silos, zero single view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Manual traceability before release is slow, inconsistent, and error-prone</a:t>
            </a:r>
          </a:p>
        </p:txBody>
      </p:sp>
      <p:sp>
        <p:nvSpPr>
          <p:cNvPr id="9" name="TextBox 8">
            <a:hlinkHover tooltip="Guide: The challenge — four silos, zero single view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Guide: The challenge — four silos, zero single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2697480" cy="292608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7320" y="160020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Acceptance criteria,</a:t>
            </a:r>
          </a:p>
          <a:p>
            <a:r>
              <a:t>story status, attachments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325880"/>
            <a:ext cx="2697480" cy="292608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251960" y="160020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PR diffs, checks,</a:t>
            </a:r>
          </a:p>
          <a:p>
            <a:r>
              <a:t>unit/integration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25880"/>
            <a:ext cx="2697480" cy="292608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86600" y="160020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Excel 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192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Jira attachment ·</a:t>
            </a:r>
          </a:p>
          <a:p>
            <a:r>
              <a:t>Given/When/Then · Mascot or IDs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325880"/>
            <a:ext cx="2697480" cy="2926080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1600200"/>
            <a:ext cx="868680" cy="8686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06040"/>
            <a:ext cx="2697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A1A1A"/>
                </a:solidFill>
                <a:latin typeface="Calibri"/>
              </a:defRPr>
            </a:pPr>
            <a:r>
              <a:t>Confluence LADR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3063240"/>
            <a:ext cx="2478024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34155"/>
                </a:solidFill>
                <a:latin typeface="Calibri"/>
              </a:defRPr>
            </a:pPr>
            <a:r>
              <a:t>Design requirements</a:t>
            </a:r>
          </a:p>
          <a:p>
            <a:r>
              <a:t>when linked from Jira</a:t>
            </a:r>
          </a:p>
        </p:txBody>
      </p:sp>
      <p:sp>
        <p:nvSpPr>
          <p:cNvPr id="26" name="Rounded Rectangle 25">
            <a:hlinkHover tooltip="Duplicate QA/dev effort" action="ppaction://noaction"/>
          </p:cNvPr>
          <p:cNvSpPr/>
          <p:nvPr/>
        </p:nvSpPr>
        <p:spPr>
          <a:xfrm>
            <a:off x="594360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Duplicate QA/dev effort</a:t>
            </a:r>
          </a:p>
        </p:txBody>
      </p:sp>
      <p:sp>
        <p:nvSpPr>
          <p:cNvPr id="27" name="Rounded Rectangle 26">
            <a:hlinkHover tooltip="Missed E2E handoffs" action="ppaction://noaction"/>
          </p:cNvPr>
          <p:cNvSpPr/>
          <p:nvPr/>
        </p:nvSpPr>
        <p:spPr>
          <a:xfrm>
            <a:off x="3447288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Missed E2E handoffs</a:t>
            </a:r>
          </a:p>
        </p:txBody>
      </p:sp>
      <p:sp>
        <p:nvSpPr>
          <p:cNvPr id="28" name="Rounded Rectangle 27">
            <a:hlinkHover tooltip="No LADR ↔ test plan traceability" action="ppaction://noaction"/>
          </p:cNvPr>
          <p:cNvSpPr/>
          <p:nvPr/>
        </p:nvSpPr>
        <p:spPr>
          <a:xfrm>
            <a:off x="6300216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No LADR ↔ test plan traceability</a:t>
            </a:r>
          </a:p>
        </p:txBody>
      </p:sp>
      <p:sp>
        <p:nvSpPr>
          <p:cNvPr id="29" name="Rounded Rectangle 28">
            <a:hlinkHover tooltip="Weak AC ↔ evidence mapping" action="ppaction://noaction"/>
          </p:cNvPr>
          <p:cNvSpPr/>
          <p:nvPr/>
        </p:nvSpPr>
        <p:spPr>
          <a:xfrm>
            <a:off x="9153144" y="4572000"/>
            <a:ext cx="2697480" cy="50292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DC2626"/>
                </a:solidFill>
                <a:latin typeface="Calibri"/>
              </a:defRPr>
            </a:pPr>
            <a:r>
              <a:t>Weak AC ↔ evidence mapping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57800"/>
            <a:ext cx="11155680" cy="685800"/>
          </a:xfrm>
          <a:prstGeom prst="roundRect">
            <a:avLst/>
          </a:prstGeom>
          <a:solidFill>
            <a:srgbClr val="04066C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49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→  MSC Dev Code and QA Test Coverage Validator unifies all four silos into one HTML readiness report with numbered recommended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Guide: Idea Generation — Cursor AI subagent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Idea Generation — Cursor AI subagent</a:t>
            </a:r>
          </a:p>
        </p:txBody>
      </p:sp>
      <p:sp>
        <p:nvSpPr>
          <p:cNvPr id="7" name="Oval 6">
            <a:hlinkHover tooltip="Guide: Idea Generation — Cursor AI subagent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Guide: Idea Generation — Cursor AI subagent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Completed · Pegasus QA Agents Lab · Gen AI transformation journey</a:t>
            </a:r>
          </a:p>
        </p:txBody>
      </p:sp>
      <p:sp>
        <p:nvSpPr>
          <p:cNvPr id="9" name="TextBox 8">
            <a:hlinkHover tooltip="Guide: Idea Generation — Cursor AI subagent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Guide: Idea Generation — Cursor AI subagent</a:t>
            </a:r>
          </a:p>
        </p:txBody>
      </p:sp>
      <p:sp>
        <p:nvSpPr>
          <p:cNvPr id="10" name="Rounded Rectangle 9">
            <a:hlinkHover tooltip="Fragmented readiness" action="ppaction://noaction"/>
          </p:cNvPr>
          <p:cNvSpPr/>
          <p:nvPr/>
        </p:nvSpPr>
        <p:spPr>
          <a:xfrm>
            <a:off x="502920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Fragmented readiness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Problem Statement: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AC in Jira, code in GitHub, Excel test plans, and Confluence LADR — four silos, no single view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Release reviews depend on tribal knowledge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Manual traceability is slow before sign-off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875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08860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8970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17" name="Rounded Rectangle 16">
            <a:hlinkHover tooltip="Unified validator" action="ppaction://noaction"/>
          </p:cNvPr>
          <p:cNvSpPr/>
          <p:nvPr/>
        </p:nvSpPr>
        <p:spPr>
          <a:xfrm>
            <a:off x="4315968" y="1234440"/>
            <a:ext cx="3611880" cy="438912"/>
          </a:xfrm>
          <a:prstGeom prst="roundRect">
            <a:avLst/>
          </a:prstGeom>
          <a:solidFill>
            <a:srgbClr val="FFC000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Unified validator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5696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Solution: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/msc-dev-code-and-qa-test-coverage-validator {KEY}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One batch: Jira + Confluence LADR (if linked) + PR(s) + Excel test plan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Maps Jira AC + LADR L1…Ln → test cases → code → dev tests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HTML report + LADR traceability table + Pass / Pass with gaps / 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4179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1908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02018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  <p:sp>
        <p:nvSpPr>
          <p:cNvPr id="24" name="Rounded Rectangle 23">
            <a:hlinkHover tooltip="Leadership evidence" action="ppaction://noaction"/>
          </p:cNvPr>
          <p:cNvSpPr/>
          <p:nvPr/>
        </p:nvSpPr>
        <p:spPr>
          <a:xfrm>
            <a:off x="8129016" y="1234440"/>
            <a:ext cx="3611880" cy="438912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Leadership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9016" y="1673352"/>
            <a:ext cx="3611880" cy="3977639"/>
          </a:xfrm>
          <a:prstGeom prst="roundRect">
            <a:avLst/>
          </a:prstGeom>
          <a:solidFill>
            <a:srgbClr val="F2F2F2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38744" y="1783080"/>
            <a:ext cx="339242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4066C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8 quantified metric cards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 vs QA ownership made explicit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Mascot + Given/When/Then + SIT Jobs ID evidence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Audit-friendly downloadable artifact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• Developed by Mayur Gunjal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7473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5484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Pilot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34956" y="5440680"/>
            <a:ext cx="834390" cy="201168"/>
          </a:xfrm>
          <a:prstGeom prst="roundRect">
            <a:avLst/>
          </a:prstGeom>
          <a:solidFill>
            <a:srgbClr val="7474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15066" y="5440680"/>
            <a:ext cx="834390" cy="20116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Completed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4114800" cy="41148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828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C000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2608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6" name="TextBox 5">
            <a:hlinkHover tooltip="Cursor subagent · automated workflow · solution architecture" action="ppaction://noaction"/>
          </p:cNvPr>
          <p:cNvSpPr txBox="1"/>
          <p:nvPr/>
        </p:nvSpPr>
        <p:spPr>
          <a:xfrm>
            <a:off x="777240" y="3977639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BFDBFE"/>
                </a:solidFill>
                <a:latin typeface="Calibri"/>
              </a:defRPr>
            </a:pPr>
            <a:r>
              <a:t>Cursor subagent · automated workflow · solution architecture</a:t>
            </a:r>
          </a:p>
        </p:txBody>
      </p:sp>
      <p:sp>
        <p:nvSpPr>
          <p:cNvPr id="7" name="Oval 6">
            <a:hlinkHover tooltip="Cursor subagent · automated workflow · solution architecture" action="ppaction://noaction"/>
          </p:cNvPr>
          <p:cNvSpPr/>
          <p:nvPr/>
        </p:nvSpPr>
        <p:spPr>
          <a:xfrm>
            <a:off x="11475720" y="1965960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Who uses it — four personas</a:t>
            </a:r>
          </a:p>
        </p:txBody>
      </p:sp>
      <p:sp>
        <p:nvSpPr>
          <p:cNvPr id="7" name="Oval 6">
            <a:hlinkHover tooltip="Same slash command; each role reads a different slice of the HTML report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Same command, role-specific value from one HTML report</a:t>
            </a:r>
          </a:p>
        </p:txBody>
      </p:sp>
      <p:sp>
        <p:nvSpPr>
          <p:cNvPr id="9" name="TextBox 8">
            <a:hlinkHover tooltip="Same slash command; each role reads a different slice of the HTML report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Same slash command; each role reads a different slice of the HTML report.</a:t>
            </a:r>
          </a:p>
        </p:txBody>
      </p:sp>
      <p:sp>
        <p:nvSpPr>
          <p:cNvPr id="10" name="Rounded Rectangle 9">
            <a:hlinkHover tooltip="Test plan AC %, QA scope remaining, §4 execute list, open gaps." action="ppaction://noaction"/>
          </p:cNvPr>
          <p:cNvSpPr/>
          <p:nvPr/>
        </p:nvSpPr>
        <p:spPr>
          <a:xfrm>
            <a:off x="502920" y="1280160"/>
            <a:ext cx="2697480" cy="438912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hlinkHover tooltip="Test plan AC %, QA scope remaining, §4 execute list, open gaps." action="ppaction://noaction"/>
          </p:cNvPr>
          <p:cNvSpPr/>
          <p:nvPr/>
        </p:nvSpPr>
        <p:spPr>
          <a:xfrm>
            <a:off x="2898648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2" name="Oval 11"/>
          <p:cNvSpPr/>
          <p:nvPr/>
        </p:nvSpPr>
        <p:spPr>
          <a:xfrm>
            <a:off x="1417320" y="1508760"/>
            <a:ext cx="868680" cy="86868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QA Lead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Pre-release readiness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In QA / Ready for Release stories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QA scope %, test plan gaps</a:t>
            </a:r>
          </a:p>
        </p:txBody>
      </p:sp>
      <p:sp>
        <p:nvSpPr>
          <p:cNvPr id="17" name="Rounded Rectangle 16">
            <a:hlinkHover tooltip="Code %, dev test evidence" action="ppaction://noaction"/>
          </p:cNvPr>
          <p:cNvSpPr/>
          <p:nvPr/>
        </p:nvSpPr>
        <p:spPr>
          <a:xfrm>
            <a:off x="3355848" y="1280160"/>
            <a:ext cx="2697480" cy="438912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hlinkHover tooltip="Code %, dev test evidence" action="ppaction://noaction"/>
          </p:cNvPr>
          <p:cNvSpPr/>
          <p:nvPr/>
        </p:nvSpPr>
        <p:spPr>
          <a:xfrm>
            <a:off x="5751576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19" name="Oval 18"/>
          <p:cNvSpPr/>
          <p:nvPr/>
        </p:nvSpPr>
        <p:spPr>
          <a:xfrm>
            <a:off x="4270248" y="1508760"/>
            <a:ext cx="868680" cy="868680"/>
          </a:xfrm>
          <a:prstGeom prst="ellipse">
            <a:avLst/>
          </a:prstGeom>
          <a:solidFill>
            <a:srgbClr val="D4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008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Merge confidence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Dev-owned AC + unit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Code %, dev test evidence</a:t>
            </a:r>
          </a:p>
        </p:txBody>
      </p:sp>
      <p:sp>
        <p:nvSpPr>
          <p:cNvPr id="24" name="Rounded Rectangle 23">
            <a:hlinkHover tooltip="Verdict, release readiness score, open gaps by severity." action="ppaction://noaction"/>
          </p:cNvPr>
          <p:cNvSpPr/>
          <p:nvPr/>
        </p:nvSpPr>
        <p:spPr>
          <a:xfrm>
            <a:off x="6208776" y="1280160"/>
            <a:ext cx="2697480" cy="438912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hlinkHover tooltip="Verdict, release readiness score, open gaps by severity." action="ppaction://noaction"/>
          </p:cNvPr>
          <p:cNvSpPr/>
          <p:nvPr/>
        </p:nvSpPr>
        <p:spPr>
          <a:xfrm>
            <a:off x="8604504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26" name="Oval 25"/>
          <p:cNvSpPr/>
          <p:nvPr/>
        </p:nvSpPr>
        <p:spPr>
          <a:xfrm>
            <a:off x="7123176" y="1508760"/>
            <a:ext cx="868680" cy="86868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Release Mgr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Go/no-go snapshot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Verdict + open gaps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8 cards, recommended actions</a:t>
            </a:r>
          </a:p>
        </p:txBody>
      </p:sp>
      <p:sp>
        <p:nvSpPr>
          <p:cNvPr id="31" name="Rounded Rectangle 30">
            <a:hlinkHover tooltip="GWT quality, LADR ↔ test case traceability, plan gaps." action="ppaction://noaction"/>
          </p:cNvPr>
          <p:cNvSpPr/>
          <p:nvPr/>
        </p:nvSpPr>
        <p:spPr>
          <a:xfrm>
            <a:off x="9061704" y="1280160"/>
            <a:ext cx="2697480" cy="438912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>
            <a:hlinkHover tooltip="GWT quality, LADR ↔ test case traceability, plan gaps." action="ppaction://noaction"/>
          </p:cNvPr>
          <p:cNvSpPr/>
          <p:nvPr/>
        </p:nvSpPr>
        <p:spPr>
          <a:xfrm>
            <a:off x="11457432" y="1353312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33" name="Oval 32"/>
          <p:cNvSpPr/>
          <p:nvPr/>
        </p:nvSpPr>
        <p:spPr>
          <a:xfrm>
            <a:off x="9976104" y="1508760"/>
            <a:ext cx="868680" cy="8686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4" y="25146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A1A1A"/>
                </a:solidFill>
                <a:latin typeface="Calibri"/>
              </a:defRPr>
            </a:pPr>
            <a:r>
              <a:t>Test Designer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4" y="288036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34155"/>
                </a:solidFill>
                <a:latin typeface="Calibri"/>
              </a:defRPr>
            </a:pPr>
            <a:r>
              <a:t>Plan 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24612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334155"/>
                </a:solidFill>
                <a:latin typeface="Calibri"/>
              </a:defRPr>
            </a:pPr>
            <a:r>
              <a:t>Excel plan vs Jira AC + LADR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384048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A1A1A"/>
                </a:solidFill>
                <a:latin typeface="Calibri"/>
              </a:defRPr>
            </a:pPr>
            <a:r>
              <a:t>GWT quality · Mascot or SIT Jobs IDs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286000" y="5806440"/>
            <a:ext cx="7589520" cy="457200"/>
          </a:xfrm>
          <a:prstGeom prst="roundRect">
            <a:avLst/>
          </a:prstGeom>
          <a:solidFill>
            <a:srgbClr val="1A1A1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23160" y="5870448"/>
            <a:ext cx="7315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C000"/>
                </a:solidFill>
                <a:latin typeface="Consolas"/>
              </a:defRPr>
            </a:pPr>
            <a:r>
              <a:t>/msc-dev-code-and-qa-test-coverage-validator MSC-212571   ·   --auto --write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©LTM  |  Privileged and Confidential  |  MSC Dev Code and QA Test Coverage Validator  |  Developed by Mayur Gunjal  |  Gray text = definitions  |  F5 = hover tips on 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292608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Automated workflow</a:t>
            </a:r>
          </a:p>
        </p:txBody>
      </p:sp>
      <p:sp>
        <p:nvSpPr>
          <p:cNvPr id="7" name="Oval 6">
            <a:hlinkHover tooltip="End-to-end --auto --write: one MCP Jira batch + batched Python scripts." action="ppaction://noaction"/>
          </p:cNvPr>
          <p:cNvSpPr/>
          <p:nvPr/>
        </p:nvSpPr>
        <p:spPr>
          <a:xfrm>
            <a:off x="11384280" y="310896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8" name="TextBox 7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Slash command --auto --write · ~2–5 min · one MCP turn + batched shells</a:t>
            </a:r>
          </a:p>
        </p:txBody>
      </p:sp>
      <p:sp>
        <p:nvSpPr>
          <p:cNvPr id="9" name="TextBox 8">
            <a:hlinkHover tooltip="End-to-end --auto --write: one MCP Jira batch + batched Python scripts." action="ppaction://noaction"/>
          </p:cNvPr>
          <p:cNvSpPr txBox="1"/>
          <p:nvPr/>
        </p:nvSpPr>
        <p:spPr>
          <a:xfrm>
            <a:off x="502920" y="1115568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>
                <a:solidFill>
                  <a:srgbClr val="64748B"/>
                </a:solidFill>
                <a:latin typeface="Calibri"/>
              </a:defRPr>
            </a:pPr>
            <a:r>
              <a:t>End-to-end --auto --write: one MCP Jira batch + batched Python scripts.</a:t>
            </a:r>
          </a:p>
        </p:txBody>
      </p:sp>
      <p:sp>
        <p:nvSpPr>
          <p:cNvPr id="10" name="Rounded Rectangle 9">
            <a:hlinkHover tooltip="Parallel MCP: getJiraIssue + remote wiki links + attachments." action="ppaction://noaction"/>
          </p:cNvPr>
          <p:cNvSpPr/>
          <p:nvPr/>
        </p:nvSpPr>
        <p:spPr>
          <a:xfrm>
            <a:off x="320040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>
            <a:hlinkHover tooltip="Parallel MCP: getJiraIssue + remote wiki links + attachments." action="ppaction://noaction"/>
          </p:cNvPr>
          <p:cNvSpPr txBox="1"/>
          <p:nvPr/>
        </p:nvSpPr>
        <p:spPr>
          <a:xfrm>
            <a:off x="393192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Parallel MCP: getJiraIssue + remote wiki links + attachments.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Jira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Parallel MCP:</a:t>
            </a:r>
          </a:p>
          <a:p>
            <a:r>
              <a:t>issue + remote</a:t>
            </a:r>
          </a:p>
          <a:p>
            <a:r>
              <a:t>wiki links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39696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>
            <a:hlinkHover tooltip="fetch_confluence_requirements.py — LADR ESS when linked from Jira." action="ppaction://noaction"/>
          </p:cNvPr>
          <p:cNvSpPr/>
          <p:nvPr/>
        </p:nvSpPr>
        <p:spPr>
          <a:xfrm>
            <a:off x="2267712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Hover tooltip="fetch_confluence_requirements.py — LADR ESS when linked from Jira." action="ppaction://noaction"/>
          </p:cNvPr>
          <p:cNvSpPr txBox="1"/>
          <p:nvPr/>
        </p:nvSpPr>
        <p:spPr>
          <a:xfrm>
            <a:off x="2340864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fetch_confluence_requirements.py — LADR ESS when linked from Jira.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9152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LADR ESS or</a:t>
            </a:r>
          </a:p>
          <a:p>
            <a:r>
              <a:t>passport scenarios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87368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>
            <a:hlinkHover tooltip="fetch_jira_testplan.py — Excel attachment, GWT, Mascot/SIT evidence columns." action="ppaction://noaction"/>
          </p:cNvPr>
          <p:cNvSpPr/>
          <p:nvPr/>
        </p:nvSpPr>
        <p:spPr>
          <a:xfrm>
            <a:off x="4215384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Hover tooltip="fetch_jira_testplan.py — Excel attachment, GWT, Mascot/SIT evidence columns." action="ppaction://noaction"/>
          </p:cNvPr>
          <p:cNvSpPr txBox="1"/>
          <p:nvPr/>
        </p:nvSpPr>
        <p:spPr>
          <a:xfrm>
            <a:off x="4288536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fetch_jira_testplan.py — Excel attachment, GWT, Mascot/SIT evidence columns.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4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5384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Test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06824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Excel attach,</a:t>
            </a:r>
          </a:p>
          <a:p>
            <a:r>
              <a:t>GWT, Evidence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035040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>
            <a:hlinkHover tooltip="prefetch_coverage_inputs.py — all PR URLs in one shell invocation." action="ppaction://noaction"/>
          </p:cNvPr>
          <p:cNvSpPr/>
          <p:nvPr/>
        </p:nvSpPr>
        <p:spPr>
          <a:xfrm>
            <a:off x="6163056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Hover tooltip="prefetch_coverage_inputs.py — all PR URLs in one shell invocation." action="ppaction://noaction"/>
          </p:cNvPr>
          <p:cNvSpPr txBox="1"/>
          <p:nvPr/>
        </p:nvSpPr>
        <p:spPr>
          <a:xfrm>
            <a:off x="6236208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prefetch_coverage_inputs.py — all PR URLs in one shell invocation.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63056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6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prefetch PR(s)</a:t>
            </a:r>
          </a:p>
          <a:p>
            <a:r>
              <a:t>or branch compare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982712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>
            <a:hlinkHover tooltip="map_requirements_to_diff.py — R1…Rn vs diff; qaScope: none when dev-covered." action="ppaction://noaction"/>
          </p:cNvPr>
          <p:cNvSpPr/>
          <p:nvPr/>
        </p:nvSpPr>
        <p:spPr>
          <a:xfrm>
            <a:off x="8110728" y="1417320"/>
            <a:ext cx="1783080" cy="2331720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>
            <a:hlinkHover tooltip="map_requirements_to_diff.py — R1…Rn vs diff; qaScope: none when dev-covered." action="ppaction://noaction"/>
          </p:cNvPr>
          <p:cNvSpPr txBox="1"/>
          <p:nvPr/>
        </p:nvSpPr>
        <p:spPr>
          <a:xfrm>
            <a:off x="8183880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map_requirements_to_diff.py — R1…Rn vs diff; qaScope: none when dev-covered.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map_requirements_</a:t>
            </a:r>
          </a:p>
          <a:p>
            <a:r>
              <a:t>to_diff.py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9930384" y="2240280"/>
            <a:ext cx="201168" cy="32004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>
            <a:hlinkHover tooltip="build_coverage_report.py + apply_report_ui_enhancements() tooltips v8." action="ppaction://noaction"/>
          </p:cNvPr>
          <p:cNvSpPr/>
          <p:nvPr/>
        </p:nvSpPr>
        <p:spPr>
          <a:xfrm>
            <a:off x="10058400" y="1417320"/>
            <a:ext cx="1783080" cy="2331720"/>
          </a:xfrm>
          <a:prstGeom prst="roundRect">
            <a:avLst/>
          </a:prstGeom>
          <a:solidFill>
            <a:srgbClr val="1E3A8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>
            <a:hlinkHover tooltip="build_coverage_report.py + apply_report_ui_enhancements() tooltips v8." action="ppaction://noaction"/>
          </p:cNvPr>
          <p:cNvSpPr txBox="1"/>
          <p:nvPr/>
        </p:nvSpPr>
        <p:spPr>
          <a:xfrm>
            <a:off x="10131552" y="3063240"/>
            <a:ext cx="163677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i="1">
                <a:solidFill>
                  <a:srgbClr val="BFDBFE"/>
                </a:solidFill>
                <a:latin typeface="Calibri"/>
              </a:defRPr>
            </a:pPr>
            <a:r>
              <a:t>build_coverage_report.py + apply_report_ui_enhancements() tooltips v8.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15544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C0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205740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2514600"/>
            <a:ext cx="1600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BFDBFE"/>
                </a:solidFill>
                <a:latin typeface="Calibri"/>
              </a:defRPr>
            </a:pPr>
            <a:r>
              <a:t>build_coverage_</a:t>
            </a:r>
          </a:p>
          <a:p>
            <a:r>
              <a:t>report.py + tooltips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886200"/>
            <a:ext cx="11155680" cy="1051560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02336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4155"/>
                </a:solidFill>
                <a:latin typeface="Calibri"/>
              </a:defRPr>
            </a:pPr>
            <a:r>
              <a:t>Cache: reports/.cache/{KEY}-jira|confluence|testplan|prefetch|mapping.json — reuse --from-cache. Quick links: collect_ladr_page_links() — LADR/design Confluence only (no grooming/deployment remote links). No linked PR? fetch_coverage_github.py --compare develop + branchCompare mapping. §4 build_qa_ownership_fields() — qaScope: none skips dev-covered AC from QA TC list. build_coverage_report.py fills CI {{CI_*}} and Dev tests columns automatically.</a:t>
            </a:r>
          </a:p>
        </p:txBody>
      </p:sp>
      <p:sp>
        <p:nvSpPr>
          <p:cNvPr id="47" name="Rounded Rectangle 46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502920" y="5166360"/>
            <a:ext cx="3611880" cy="64008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48" name="Oval 47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384048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49" name="Rounded Rectangle 48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4297680" y="5166360"/>
            <a:ext cx="3611880" cy="64008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</p:txBody>
      </p:sp>
      <p:sp>
        <p:nvSpPr>
          <p:cNvPr id="50" name="Oval 49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763524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  <p:sp>
        <p:nvSpPr>
          <p:cNvPr id="51" name="Rounded Rectangle 50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8092440" y="5166360"/>
            <a:ext cx="3611880" cy="6400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52" name="Oval 51">
            <a:hlinkHover tooltip="Overall readiness: Pass when requirements are met; Pass with gaps when minor items remain; Fail when critical gaps or contradictions exist." action="ppaction://noaction"/>
          </p:cNvPr>
          <p:cNvSpPr/>
          <p:nvPr/>
        </p:nvSpPr>
        <p:spPr>
          <a:xfrm>
            <a:off x="11430000" y="5230368"/>
            <a:ext cx="256032" cy="256032"/>
          </a:xfrm>
          <a:prstGeom prst="ellipse">
            <a:avLst/>
          </a:prstGeom>
          <a:solidFill>
            <a:srgbClr val="FF5E4F"/>
          </a:solidFill>
          <a:ln w="6350">
            <a:solidFill>
              <a:srgbClr val="E28F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i="1" b="1">
                <a:solidFill>
                  <a:srgbClr val="FFFFFF"/>
                </a:solidFill>
                <a:latin typeface="Georgia"/>
              </a:defRPr>
            </a:pPr>
            <a:r>
              <a:t>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92608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4066C"/>
                </a:solidFill>
                <a:latin typeface="Calibri"/>
              </a:defRPr>
            </a:pPr>
            <a:r>
              <a:t>Enablement â€” one-time setup (~10 min)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10789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Clone lab â†’ MCP â†’ gh â†’ permissions â†’ optional .env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Clone pegasus-qa-agents-lab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cursor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23444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09360" y="143560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4416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pip install -r requirements.txt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7335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Python 3.10+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19456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Atlassian MCP 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wbdstreaming.atlassian.net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19456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09360" y="239572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30428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gh auth login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63347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GitHub PR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154680"/>
            <a:ext cx="5440680" cy="804672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008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install_coverage_validator_permissions.py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Auto-run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5440680" cy="804672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9360" y="3355848"/>
            <a:ext cx="411480" cy="41148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âœ“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2644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.env + validator.defaults.json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9359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Test plan download + repo defaults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6052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Scripts (batched â€” no manual gh per run):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fetch_confluence_requirements.py  Â·  fetch_jira_testplan.py  Â·  prefetch_coverage_inputs.py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map_requirements_to_diff.py  Â·  build_coverage_report.py  Â·  apply_report_ui_enhancements()</a:t>
            </a:r>
          </a:p>
          <a:p>
            <a:pPr>
              <a:defRPr sz="1100" b="0">
                <a:solidFill>
                  <a:srgbClr val="334155"/>
                </a:solidFill>
                <a:latin typeface="Calibri"/>
              </a:defRPr>
            </a:pPr>
            <a:r>
              <a:t>sync_pegasus_qa_agents_lab.py â†’ push to github.com/mgunjal11/pegasus-qa-agents-lab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874519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603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t>MSC-205625 â€” Live coverage validation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[PFT Clear] Content passport dropped from cumulative output manifâ€¦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411480"/>
            <a:ext cx="2331720" cy="1051560"/>
          </a:xfrm>
          <a:prstGeom prst="roundRect">
            <a:avLst/>
          </a:prstGeom>
          <a:solidFill>
            <a:srgbClr val="FFEDD5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D97706"/>
                </a:solidFill>
                <a:latin typeface="Calibri"/>
              </a:defRPr>
            </a:pPr>
            <a:r>
              <a:t>Pass with gaps</a:t>
            </a:r>
          </a:p>
          <a:p>
            <a:r>
              <a:t>81%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011680"/>
            <a:ext cx="2697480" cy="96012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17336" y="2011680"/>
            <a:ext cx="269748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17336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2011680"/>
            <a:ext cx="269748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24544" y="2103120"/>
            <a:ext cx="26974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24688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08960"/>
            <a:ext cx="11155680" cy="329184"/>
          </a:xfrm>
          <a:prstGeom prst="roundRect">
            <a:avLst/>
          </a:prstGeom>
          <a:solidFill>
            <a:srgbClr val="FF5E4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Report walkthrough â€” 8 sections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547872"/>
            <a:ext cx="2651760" cy="658368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547872"/>
            <a:ext cx="2651760" cy="658368"/>
          </a:xfrm>
          <a:prstGeom prst="round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80760" y="3547872"/>
            <a:ext cx="2651760" cy="658368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048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5E4F"/>
                </a:solidFill>
                <a:latin typeface="Calibri"/>
              </a:defRPr>
            </a:pPr>
            <a:r>
              <a:t>Attached test plan validatioâ€¦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69680" y="3547872"/>
            <a:ext cx="2651760" cy="658368"/>
          </a:xfrm>
          <a:prstGeom prst="roundRect">
            <a:avLst/>
          </a:prstGeom>
          <a:solidFill>
            <a:srgbClr val="E0E7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79408" y="3621024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3602736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315968"/>
            <a:ext cx="2651760" cy="658368"/>
          </a:xfrm>
          <a:prstGeom prst="roundRect">
            <a:avLst/>
          </a:prstGeom>
          <a:solidFill>
            <a:srgbClr val="CCFBF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315968"/>
            <a:ext cx="2651760" cy="658368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0332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80760" y="4315968"/>
            <a:ext cx="2651760" cy="658368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048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34155"/>
                </a:solidFill>
                <a:latin typeface="Calibri"/>
              </a:defRPr>
            </a:pPr>
            <a:r>
              <a:t>Assumptions and open questioâ€¦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69680" y="4315968"/>
            <a:ext cx="2651760" cy="658368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79408" y="4389120"/>
            <a:ext cx="365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4370832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5303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âœ“ Jira readiness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✓Acceptance criteriaiAbout Acceptance criteriaNumbered requirements (R1, R2, …) extracted 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✓GitHub PRiAbout GitHub PRPull requests linked in Jira or discovered during prefetch — sou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✓Test planiAbout Test planQMetry Excel attachment parsed for scenarios, Given/When/Then st</a:t>
            </a:r>
          </a:p>
          <a:p>
            <a:pPr>
              <a:spcAft>
                <a:spcPts val="300"/>
              </a:spcAft>
              <a:defRPr sz="900">
                <a:solidFill>
                  <a:srgbClr val="334155"/>
                </a:solidFill>
                <a:latin typeface="Calibri"/>
              </a:defRPr>
            </a:pPr>
            <a:r>
              <a:t>  âœ“ ✓Confluence / LADRiAbout Confluence / LADROptional Confluence design page for LADR (L1, L2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5074920"/>
            <a:ext cx="5577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Source: MSC-205625-06-09-2026-19-17-40-IST.html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Generated </a:t>
            </a:r>
          </a:p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Open the HTML report for full tables, tooltips, and evidence links.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Coverage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960120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011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Calibri"/>
              </a:defRPr>
            </a:pPr>
            <a:r>
              <a:t>81% — Weighted: dev code, dev tests, test plan,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426464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Release readiness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Implementation &amp;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87.5% — 4 scored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2697480"/>
            <a:ext cx="1691640" cy="96012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97706"/>
                </a:solidFill>
                <a:latin typeface="Calibri"/>
              </a:defRPr>
            </a:pPr>
            <a:r>
              <a:t>83.3% — auto-mappe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40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7/9 AC in test pla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23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Requirements mapped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350008"/>
            <a:ext cx="5440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QA &amp; release risk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69748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77.8% — 5 test cas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Test plan 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2697480"/>
            <a:ext cx="1691640" cy="960120"/>
          </a:xfrm>
          <a:prstGeom prst="roundRect">
            <a:avLst/>
          </a:prstGeom>
          <a:solidFill>
            <a:srgbClr val="FFEDEA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5E4F"/>
                </a:solidFill>
                <a:latin typeface="Calibri"/>
              </a:defRPr>
            </a:pPr>
            <a:r>
              <a:t>2 item(s) — E2E,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5586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QA scope remaining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84080" y="2697480"/>
            <a:ext cx="1691640" cy="960120"/>
          </a:xfrm>
          <a:prstGeom prst="roundRect">
            <a:avLst/>
          </a:prstGeom>
          <a:solidFill>
            <a:srgbClr val="FFFFFF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277063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High · 1 Med — 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311810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Open gaps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813048"/>
            <a:ext cx="11155680" cy="292608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CI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340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95.3% — SonarQube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826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line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160520"/>
            <a:ext cx="1691640" cy="960120"/>
          </a:xfrm>
          <a:prstGeom prst="roundRect">
            <a:avLst/>
          </a:prstGeom>
          <a:solidFill>
            <a:srgbClr val="DCFCE7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2336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94.5% — SonarQube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4581144"/>
            <a:ext cx="15819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4066C"/>
                </a:solidFill>
                <a:latin typeface="Calibri"/>
              </a:defRPr>
            </a:pPr>
            <a:r>
              <a:t>CI branch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49A00"/>
                </a:solidFill>
                <a:latin typeface="Calibri"/>
              </a:defRPr>
            </a:pPr>
            <a:r>
              <a:t>Linked PR(s)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#161  Â·  wbd-msc/pegasus-pick-genie  Â·  MERGED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MSC-206821 | Handle passport attachment more gracefully and handle flipping scen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test_incrementals.py, test_qm_evaluate_passport.py, test_passport_mana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61872"/>
            <a:ext cx="5440680" cy="214884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399032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4066C"/>
                </a:solidFill>
                <a:latin typeface="Calibri"/>
              </a:defRPr>
            </a:pPr>
            <a:r>
              <a:t>#195  Â·  wbd-msc/pegasus-encode-monitor  Â·  MERGED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7647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MSC-205625 | domino - fix for supplementary assets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Dev tests: test_encode_monitor.py, conftest.py</a:t>
            </a:r>
          </a:p>
          <a:p>
            <a:pPr>
              <a:defRPr sz="900">
                <a:solidFill>
                  <a:srgbClr val="334155"/>
                </a:solidFill>
                <a:latin typeface="Calibri"/>
              </a:defRPr>
            </a:pPr>
            <a:r>
              <a:t>CI: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FED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FF5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5E4F"/>
                </a:solidFill>
                <a:latin typeface="Calibri"/>
              </a:defRPr>
            </a:pPr>
            <a:r>
              <a:t>Attached test plan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R4 — no mapped test case for Jira acceptance criterion</a:t>
            </a:r>
          </a:p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L5 — no mapped test case for Confluence LADR 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TCiAbout TCTest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34056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ScenarioiAbout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65192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Mapped reqiAbout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96328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GWTiAbout GWTWhe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27464" y="2249424"/>
            <a:ext cx="2203704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Given When Theni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96328" y="2596896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27464" y="2596896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34056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65192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96328" y="2944368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27464" y="2944368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34056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incremental - Sidecar - audio and 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65192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96328" y="3291840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27464" y="3291840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TC4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34056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incremental - MDU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65192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R1, R2, R3, L1, L2, L3, 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96328" y="3639312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27464" y="3639312"/>
            <a:ext cx="2203704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TC5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4056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incremental as full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65192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R1, R3, L1, L2, L4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96328" y="3986784"/>
            <a:ext cx="2203704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27464" y="3986784"/>
            <a:ext cx="2203704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Given: An MVP is already fulfilled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4066C"/>
                </a:solidFill>
                <a:latin typeface="Calibri"/>
              </a:defRPr>
            </a:pPr>
            <a:r>
              <a:t>Dev vs QA test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Dev-owned items should be proven by unit or integration tests in the PR. QA-owned items require func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394960" cy="4114800"/>
          </a:xfrm>
          <a:prstGeom prst="roundRect">
            <a:avLst/>
          </a:prstGeom>
          <a:solidFill>
            <a:srgbClr val="E8F0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4066C"/>
                </a:solidFill>
                <a:latin typeface="Calibri"/>
              </a:defRPr>
            </a:pPr>
            <a:r>
              <a:t>Development proof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R1 — Content passport retained in cumulative output manifestation for PFT Clear incremental-as-</a:t>
            </a:r>
          </a:p>
          <a:p>
            <a:pPr>
              <a:spcAft>
                <a:spcPts val="300"/>
              </a:spcAft>
              <a:defRPr sz="1000">
                <a:solidFill>
                  <a:srgbClr val="16A34A"/>
                </a:solidFill>
                <a:latin typeface="Calibri"/>
              </a:defRPr>
            </a:pPr>
            <a:r>
              <a:t>  • R2 — When metadata-update becomes full fulfillment, pack passport must be delivered as expected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61872"/>
            <a:ext cx="5394960" cy="4114800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5E4F"/>
                </a:solidFill>
                <a:latin typeface="Calibri"/>
              </a:defRPr>
            </a:pPr>
            <a:r>
              <a:t>QA 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719072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R3 — Pick-genie must not drop passport re-fetch from FMAM when incremental workflow resolves as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R4 — Fix must be validated in SIT using provided test data (Edit ID 37ea180e-77cc-413f-95cf-9df</a:t>
            </a:r>
          </a:p>
          <a:p>
            <a:pPr>
              <a:spcAft>
                <a:spcPts val="300"/>
              </a:spcAft>
              <a:defRPr sz="1000">
                <a:solidFill>
                  <a:srgbClr val="FF5E4F"/>
                </a:solidFill>
                <a:latin typeface="Calibri"/>
              </a:defRPr>
            </a:pPr>
            <a:r>
              <a:t>  • Execute attached test plan case(s) for QA-scoped requirements only: TC1, TC2, TC3, TC4, TC5 — 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9688"/>
                </a:solidFill>
                <a:latin typeface="Calibri"/>
              </a:defRPr>
            </a:pPr>
            <a:r>
              <a:t>Requirements traceability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220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Requirement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148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004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Owner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99320" y="1261872"/>
            <a:ext cx="1831848" cy="329184"/>
          </a:xfrm>
          <a:prstGeom prst="round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QA scope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6220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Content passport retained in cumulative 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148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609344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004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99320" y="1609344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6220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When metadata-update becomes full fulfil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148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1956816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4004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Dev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99320" y="1956816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R3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6220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Pick-genie must not drop passport re-fet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21480" y="2304288"/>
            <a:ext cx="1831848" cy="310896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04288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0040" y="2304288"/>
            <a:ext cx="1831848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99320" y="2304288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E2E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R4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6220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Fix must be validated in SIT using provi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2148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80760" y="2651760"/>
            <a:ext cx="1831848" cy="310896"/>
          </a:xfrm>
          <a:prstGeom prst="round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0040" y="2651760"/>
            <a:ext cx="1831848" cy="310896"/>
          </a:xfrm>
          <a:prstGeom prst="round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Qa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99320" y="2651760"/>
            <a:ext cx="1831848" cy="310896"/>
          </a:xfrm>
          <a:prstGeom prst="roundRect">
            <a:avLst/>
          </a:prstGeom>
          <a:solidFill>
            <a:srgbClr val="FFEDE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FF5E4F"/>
                </a:solidFill>
                <a:latin typeface="Calibri"/>
              </a:defRPr>
            </a:pPr>
            <a:r>
              <a:t>Manual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A34A"/>
                </a:solidFill>
                <a:latin typeface="Calibri"/>
              </a:defRPr>
            </a:pPr>
            <a:r>
              <a:t>Implementation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5440680" cy="1828800"/>
          </a:xfrm>
          <a:prstGeom prst="round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âœ“ Strengths</a:t>
            </a:r>
          </a:p>
          <a:p>
            <a:pPr>
              <a:spcAft>
                <a:spcPts val="300"/>
              </a:spcAft>
              <a:defRPr sz="1100">
                <a:solidFill>
                  <a:srgbClr val="16A34A"/>
                </a:solidFill>
                <a:latin typeface="Calibri"/>
              </a:defRPr>
            </a:pPr>
            <a:r>
              <a:t>See PR diff and mapping cache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61872"/>
            <a:ext cx="5440680" cy="182880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99032"/>
            <a:ext cx="5029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âš  Gaps</a:t>
            </a:r>
          </a:p>
          <a:p>
            <a:pPr>
              <a:spcAft>
                <a:spcPts val="300"/>
              </a:spcAft>
              <a:defRPr sz="1100">
                <a:solidFill>
                  <a:srgbClr val="DC2626"/>
                </a:solidFill>
                <a:latin typeface="Calibri"/>
              </a:defRPr>
            </a:pPr>
            <a:r>
              <a:t>R4 — no mapped test case in test 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34155"/>
                </a:solidFill>
                <a:latin typeface="Calibri"/>
              </a:defRPr>
            </a:pPr>
            <a:r>
              <a:t>Assumptions and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61872"/>
            <a:ext cx="11155680" cy="868680"/>
          </a:xfrm>
          <a:prstGeom prst="roundRect">
            <a:avLst/>
          </a:prstGeom>
          <a:solidFill>
            <a:srgbClr val="E8F0FE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249424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155"/>
                </a:solidFill>
                <a:latin typeface="Calibri"/>
              </a:defRPr>
            </a:pPr>
            <a:r>
              <a:t>Auto-generated report — review mapping confidence before release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40080" y="384048"/>
            <a:ext cx="502920" cy="502920"/>
          </a:xfrm>
          <a:prstGeom prst="ellipse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47472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7706"/>
                </a:solidFill>
                <a:latin typeface="Calibri"/>
              </a:defRPr>
            </a:pPr>
            <a:r>
              <a:t>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713232"/>
            <a:ext cx="9875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MSC-205625 Â· live HTML report section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27648"/>
            <a:ext cx="12191695" cy="182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0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94A3B8"/>
                </a:solidFill>
                <a:latin typeface="Calibri"/>
              </a:defRPr>
            </a:pPr>
            <a:r>
              <a:t>Â©LTM  |  Privileged and Confidential  |  MSC Dev Code and QA Test Coverage Validator  |  Developed by Mayur Gunjal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94A3B8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56032"/>
            <a:ext cx="12191695" cy="96012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Proven MSC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0467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BFDBFE"/>
                </a:solidFill>
                <a:latin typeface="Calibri"/>
              </a:defRPr>
            </a:pPr>
            <a:r>
              <a:t>Four production runs Â· featured story MSC-205625 (this deck)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384048"/>
            <a:ext cx="1234440" cy="777240"/>
          </a:xfrm>
          <a:prstGeom prst="roundRect">
            <a:avLst/>
          </a:prstGeom>
          <a:solidFill>
            <a:srgbClr val="FFF8E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4066C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dev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384048"/>
            <a:ext cx="1234440" cy="777240"/>
          </a:xfrm>
          <a:prstGeom prst="roundRect">
            <a:avLst/>
          </a:prstGeom>
          <a:solidFill>
            <a:srgbClr val="FFEDD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12680" y="475488"/>
            <a:ext cx="12344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841248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4A3B8"/>
                </a:solidFill>
                <a:latin typeface="Calibri"/>
              </a:defRPr>
            </a:pPr>
            <a:r>
              <a:t>Featured plan AC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Ticket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1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2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1613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Dev tests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4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 AC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75" y="1353312"/>
            <a:ext cx="1819655" cy="365760"/>
          </a:xfrm>
          <a:prstGeom prst="rect">
            <a:avLst/>
          </a:prstGeom>
          <a:solidFill>
            <a:srgbClr val="04066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Notes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MSC-212571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59151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In 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15382" y="181051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1613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5.6%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4" y="181051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75" y="181051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#99 pegasus-partner-config-service Â· #148 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â˜… MSC-205625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59151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Bug Â· Ready for Rel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2" y="231343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87.5%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71613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4" y="231343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77.8%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84075" y="2313432"/>
            <a:ext cx="1819655" cy="457200"/>
          </a:xfrm>
          <a:prstGeom prst="rect">
            <a:avLst/>
          </a:prstGeom>
          <a:solidFill>
            <a:srgbClr val="FFF8E1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quick link only (no grooming wiki) Â· PR #1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24231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000"/>
                </a:solidFill>
              </a:defRPr>
            </a:pPr>
            <a:r>
              <a:t>â˜…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A1A1A"/>
                </a:solidFill>
                <a:latin typeface="Calibri"/>
              </a:defRPr>
            </a:pPr>
            <a:r>
              <a:t>MSC-204417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1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Ready for 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15382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71613" y="281635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33.3%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7844" y="2816352"/>
            <a:ext cx="1819655" cy="457200"/>
          </a:xfrm>
          <a:prstGeom prst="rect">
            <a:avLst/>
          </a:prstGeom>
          <a:solidFill>
            <a:srgbClr val="DCFCE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6A34A"/>
                </a:solidFill>
                <a:latin typeface="Calibri"/>
              </a:defRPr>
            </a:pPr>
            <a:r>
              <a:t>100.0%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75" y="2816352"/>
            <a:ext cx="181965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LADR Confluence in quick links only Â· No PR Â· 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334155"/>
                </a:solidFill>
                <a:latin typeface="Calibri"/>
              </a:defRPr>
            </a:pPr>
            <a:r>
              <a:t>MSC-195138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59151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1A1A1A"/>
                </a:solidFill>
                <a:latin typeface="Calibri"/>
              </a:defRPr>
            </a:pPr>
            <a:r>
              <a:t>Story Â·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15382" y="3319272"/>
            <a:ext cx="1819655" cy="457200"/>
          </a:xfrm>
          <a:prstGeom prst="rect">
            <a:avLst/>
          </a:prstGeom>
          <a:solidFill>
            <a:srgbClr val="FFEDD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71613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0.0%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27844" y="3319272"/>
            <a:ext cx="1819655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D97706"/>
                </a:solidFill>
                <a:latin typeface="Calibri"/>
              </a:defRPr>
            </a:pPr>
            <a:r>
              <a:t>66.7%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84075" y="3319272"/>
            <a:ext cx="1819655" cy="457200"/>
          </a:xfrm>
          <a:prstGeom prst="rect">
            <a:avLst/>
          </a:prstGeom>
          <a:solidFill>
            <a:srgbClr val="F2F2F2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334155"/>
                </a:solidFill>
                <a:latin typeface="Calibri"/>
              </a:defRPr>
            </a:pPr>
            <a:r>
              <a:t>PR #22 pegasus-reps Â· #75 pegasus-texttransform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0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  <a:latin typeface="Calibri"/>
              </a:defRPr>
            </a:pPr>
            <a:r>
              <a:t>It's time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9748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C000"/>
                </a:solidFill>
                <a:latin typeface="Calibri"/>
              </a:defRPr>
            </a:pPr>
            <a:r>
              <a:t>Outcreate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BFDBFE"/>
                </a:solidFill>
                <a:latin typeface="Consolas"/>
              </a:defRPr>
            </a:pPr>
            <a:r>
              <a:t>/msc-dev-code-and-qa-test-coverage-validator {YOUR-MSC-KEY}  Â·  Developed by Mayur Gunjal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