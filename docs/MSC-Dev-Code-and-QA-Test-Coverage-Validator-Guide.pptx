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>
            <a:hlinkHover tooltip="MSC coverage validation report comparing the Jira story to linked GitHub PRs, attached QMetry test plan, and CI pipeline metrics." action="ppaction://noaction"/>
          </p:cNvPr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Oval 8">
            <a:hlinkHover tooltip="Gray italic text = short definition (always visible). Coral ⓘ = full definition on hover in Slide Show (press F5). Matches HTML report info tooltips." action="ppaction://noaction"/>
          </p:cNvPr>
          <p:cNvSpPr/>
          <p:nvPr/>
        </p:nvSpPr>
        <p:spPr>
          <a:xfrm>
            <a:off x="10241280" y="345643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2" name="TextBox 11">
            <a:hlinkHover tooltip="Jira, Confluence LADR, GitHub PR(s), and Excel test plan in one run." action="ppaction://noaction"/>
          </p:cNvPr>
          <p:cNvSpPr txBox="1"/>
          <p:nvPr/>
        </p:nvSpPr>
        <p:spPr>
          <a:xfrm>
            <a:off x="850392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3" name="Oval 12">
            <a:hlinkHover tooltip="Jira, Confluence LADR, GitHub PR(s), and Excel test plan in one run." action="ppaction://noaction"/>
          </p:cNvPr>
          <p:cNvSpPr/>
          <p:nvPr/>
        </p:nvSpPr>
        <p:spPr>
          <a:xfrm>
            <a:off x="3108960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4" name="TextBox 13">
            <a:hlinkHover tooltip="Jira, Confluence LADR, GitHub PR(s), and Excel test plan in one run." action="ppaction://noaction"/>
          </p:cNvPr>
          <p:cNvSpPr txBox="1"/>
          <p:nvPr/>
        </p:nvSpPr>
        <p:spPr>
          <a:xfrm>
            <a:off x="832104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Jira, Confluence LADR, GitHub PR(s), and Excel test plan in one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7" name="TextBox 16">
            <a:hlinkHover tooltip="Eight summary cards in §1 of the HTML report (dev, plan, CI, gaps)." action="ppaction://noaction"/>
          </p:cNvPr>
          <p:cNvSpPr txBox="1"/>
          <p:nvPr/>
        </p:nvSpPr>
        <p:spPr>
          <a:xfrm>
            <a:off x="3566160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8" name="Oval 17">
            <a:hlinkHover tooltip="Eight summary cards in §1 of the HTML report (dev, plan, CI, gaps)." action="ppaction://noaction"/>
          </p:cNvPr>
          <p:cNvSpPr/>
          <p:nvPr/>
        </p:nvSpPr>
        <p:spPr>
          <a:xfrm>
            <a:off x="5824728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9" name="TextBox 18">
            <a:hlinkHover tooltip="Eight summary cards in §1 of the HTML report (dev, plan, CI, gaps)." action="ppaction://noaction"/>
          </p:cNvPr>
          <p:cNvSpPr txBox="1"/>
          <p:nvPr/>
        </p:nvSpPr>
        <p:spPr>
          <a:xfrm>
            <a:off x="3547872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Eight summary cards in §1 of the HTML report (dev, plan, CI, gaps).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22" name="TextBox 21">
            <a:hlinkHover tooltip="Typical --auto pipeline after caches are warm (2–5 minutes)." action="ppaction://noaction"/>
          </p:cNvPr>
          <p:cNvSpPr txBox="1"/>
          <p:nvPr/>
        </p:nvSpPr>
        <p:spPr>
          <a:xfrm>
            <a:off x="6281928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23" name="Oval 22">
            <a:hlinkHover tooltip="Typical --auto pipeline after caches are warm (2–5 minutes)." action="ppaction://noaction"/>
          </p:cNvPr>
          <p:cNvSpPr/>
          <p:nvPr/>
        </p:nvSpPr>
        <p:spPr>
          <a:xfrm>
            <a:off x="8540496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4" name="TextBox 23">
            <a:hlinkHover tooltip="Typical --auto pipeline after caches are warm (2–5 minutes)." action="ppaction://noaction"/>
          </p:cNvPr>
          <p:cNvSpPr txBox="1"/>
          <p:nvPr/>
        </p:nvSpPr>
        <p:spPr>
          <a:xfrm>
            <a:off x="6263640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Typical --auto pipeline after caches are warm (2–5 minutes).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7" name="TextBox 26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8997696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8" name="Oval 27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11256264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9" name="TextBox 28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8979408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Overall readiness: Pass when requirements are met; Pass with gaps when minor items remain; Fail when critical…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June 2026 · layout v8 · PPT hover tooltips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TextBox 6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Gray italic text = short definition (always visible). Coral ⓘ = full definition on hover in Slide Show (press…</a:t>
            </a:r>
          </a:p>
        </p:txBody>
      </p:sp>
      <p:sp>
        <p:nvSpPr>
          <p:cNvPr id="8" name="Rounded Rectangle 7">
            <a:hlinkHover tooltip="One automated readiness view before MSC release sign-off." action="ppaction://noaction"/>
          </p:cNvPr>
          <p:cNvSpPr/>
          <p:nvPr/>
        </p:nvSpPr>
        <p:spPr>
          <a:xfrm>
            <a:off x="502920" y="132588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1280160" y="1801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One automated readiness view before MSC release sign-off.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356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4173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7099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3" name="Rounded Rectangle 12">
            <a:hlinkHover tooltip="Gray italic text = short definition (always visible). Coral ⓘ = full definition on hover in Slide Show (press F5). Matches HTML report info tooltips." action="ppaction://noaction"/>
          </p:cNvPr>
          <p:cNvSpPr/>
          <p:nvPr/>
        </p:nvSpPr>
        <p:spPr>
          <a:xfrm>
            <a:off x="502920" y="228600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1280160" y="2761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Gray italic text = short definition (always visible). Coral ⓘ = full definition on hover in Slide Show (press…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39572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3774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What’s new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700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June 2026 · layout v8 · PPT hover tooltips</a:t>
            </a:r>
          </a:p>
        </p:txBody>
      </p:sp>
      <p:sp>
        <p:nvSpPr>
          <p:cNvPr id="18" name="Rounded Rectangle 17">
            <a:hlinkHover tooltip="Why siloed Jira, GitHub, Excel, and Confluence block confident releases." action="ppaction://noaction"/>
          </p:cNvPr>
          <p:cNvSpPr/>
          <p:nvPr/>
        </p:nvSpPr>
        <p:spPr>
          <a:xfrm>
            <a:off x="502920" y="324612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>
            <a:hlinkHover tooltip="Why siloed Jira, GitHub, Excel, and Confluence block confident releases." action="ppaction://noaction"/>
          </p:cNvPr>
          <p:cNvSpPr txBox="1"/>
          <p:nvPr/>
        </p:nvSpPr>
        <p:spPr>
          <a:xfrm>
            <a:off x="1280160" y="37216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Why siloed Jira, GitHub, Excel, and Confluence block confident releases.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5584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3375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63016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23" name="Rounded Rectangle 22">
            <a:hlinkHover tooltip="Cursor subagent + workflow + architecture." action="ppaction://noaction"/>
          </p:cNvPr>
          <p:cNvSpPr/>
          <p:nvPr/>
        </p:nvSpPr>
        <p:spPr>
          <a:xfrm>
            <a:off x="502920" y="420624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Hover tooltip="Cursor subagent + workflow + architecture." action="ppaction://noaction"/>
          </p:cNvPr>
          <p:cNvSpPr txBox="1"/>
          <p:nvPr/>
        </p:nvSpPr>
        <p:spPr>
          <a:xfrm>
            <a:off x="1280160" y="46817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Cursor subagent + workflow + architecture.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3159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97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902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28" name="Rounded Rectangle 27">
            <a:hlinkHover tooltip="Mirrors live report structure; hover ⓘ on slides for field definitions." action="ppaction://noaction"/>
          </p:cNvPr>
          <p:cNvSpPr/>
          <p:nvPr/>
        </p:nvSpPr>
        <p:spPr>
          <a:xfrm>
            <a:off x="502920" y="516636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Hover tooltip="Mirrors live report structure; hover ⓘ on slides for field definitions." action="ppaction://noaction"/>
          </p:cNvPr>
          <p:cNvSpPr txBox="1"/>
          <p:nvPr/>
        </p:nvSpPr>
        <p:spPr>
          <a:xfrm>
            <a:off x="1280160" y="56418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Mirrors live report structure; hover ⓘ on slides for field definitions.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7608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257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55040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33" name="Rounded Rectangle 32">
            <a:hlinkHover tooltip="install_coverage_validator_permissions.py + cache reuse." action="ppaction://noaction"/>
          </p:cNvPr>
          <p:cNvSpPr/>
          <p:nvPr/>
        </p:nvSpPr>
        <p:spPr>
          <a:xfrm>
            <a:off x="502920" y="612648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>
            <a:hlinkHover tooltip="install_coverage_validator_permissions.py + cache reuse." action="ppaction://noaction"/>
          </p:cNvPr>
          <p:cNvSpPr txBox="1"/>
          <p:nvPr/>
        </p:nvSpPr>
        <p:spPr>
          <a:xfrm>
            <a:off x="1280160" y="66019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install_coverage_validator_permissions.py + cache reuse.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2362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6217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65105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38" name="Rounded Rectangle 37">
            <a:hlinkHover tooltip="Recent MSC-204417, MSC-205625, MSC-195138, MSC-212571 validation runs." action="ppaction://noaction"/>
          </p:cNvPr>
          <p:cNvSpPr/>
          <p:nvPr/>
        </p:nvSpPr>
        <p:spPr>
          <a:xfrm>
            <a:off x="502920" y="708660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>
            <a:hlinkHover tooltip="Recent MSC-204417, MSC-205625, MSC-195138, MSC-212571 validation runs." action="ppaction://noaction"/>
          </p:cNvPr>
          <p:cNvSpPr txBox="1"/>
          <p:nvPr/>
        </p:nvSpPr>
        <p:spPr>
          <a:xfrm>
            <a:off x="1280160" y="75620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Recent MSC-204417, MSC-205625, MSC-195138, MSC-212571 validation runs.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719632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71780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" y="74706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45" name="Rounded Rectangle 44">
            <a:hlinkHover tooltip="Jira story + AC + LADR links" action="ppaction://noaction"/>
          </p:cNvPr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>
            <a:hlinkHover tooltip="Confluence LADR requirements (when linked)" action="ppaction://noaction"/>
          </p:cNvPr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>
            <a:hlinkHover tooltip="Linked PR + CI" action="ppaction://noaction"/>
          </p:cNvPr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>
            <a:hlinkHover tooltip="Excel test plan (Jira attachment)" action="ppaction://noaction"/>
          </p:cNvPr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>
            <a:hlinkHover tooltip="HTML readiness report" action="ppaction://noaction"/>
          </p:cNvPr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Oval 6">
            <a:hlinkHover tooltip="One automated readiness view before MSC release sign-off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9" name="TextBox 8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One automated readiness view before MSC release sign-off.</a:t>
            </a:r>
          </a:p>
        </p:txBody>
      </p:sp>
      <p:sp>
        <p:nvSpPr>
          <p:cNvPr id="10" name="Rounded Rectangle 9">
            <a:hlinkHover tooltip="Jira, GitHub, Excel, and Confluence LADR live in silos without one evidence trail." action="ppaction://noaction"/>
          </p:cNvPr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2" name="TextBox 11">
            <a:hlinkHover tooltip="Jira, GitHub, Excel, and Confluence LADR live in silos without one evidence trail." action="ppaction://noaction"/>
          </p:cNvPr>
          <p:cNvSpPr txBox="1"/>
          <p:nvPr/>
        </p:nvSpPr>
        <p:spPr>
          <a:xfrm>
            <a:off x="576072" y="29077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Jira, GitHub, Excel, and Confluence LADR live in silos without one evidence trail.</a:t>
            </a:r>
          </a:p>
        </p:txBody>
      </p:sp>
      <p:sp>
        <p:nvSpPr>
          <p:cNvPr id="13" name="Oval 12">
            <a:hlinkHover tooltip="Jira, GitHub, Excel, and Confluence LADR live in silos without one evidence trail." action="ppaction://noaction"/>
          </p:cNvPr>
          <p:cNvSpPr/>
          <p:nvPr/>
        </p:nvSpPr>
        <p:spPr>
          <a:xfrm>
            <a:off x="3840480" y="12801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4" name="Rounded Rectangle 13">
            <a:hlinkHover tooltip="Subagent maps AC + LADR → code → dev tests → QA plan → verdict." action="ppaction://noaction"/>
          </p:cNvPr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6" name="TextBox 15">
            <a:hlinkHover tooltip="Subagent maps AC + LADR → code → dev tests → QA plan → verdict." action="ppaction://noaction"/>
          </p:cNvPr>
          <p:cNvSpPr txBox="1"/>
          <p:nvPr/>
        </p:nvSpPr>
        <p:spPr>
          <a:xfrm>
            <a:off x="4370832" y="29077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Subagent maps AC + LADR → code → dev tests → QA plan → verdict.</a:t>
            </a:r>
          </a:p>
        </p:txBody>
      </p:sp>
      <p:sp>
        <p:nvSpPr>
          <p:cNvPr id="17" name="Oval 16">
            <a:hlinkHover tooltip="Subagent maps AC + LADR → code → dev tests → QA plan → verdict." action="ppaction://noaction"/>
          </p:cNvPr>
          <p:cNvSpPr/>
          <p:nvPr/>
        </p:nvSpPr>
        <p:spPr>
          <a:xfrm>
            <a:off x="7635240" y="12801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8" name="Rounded Rectangle 17">
            <a:hlinkHover tooltip="Timestamped HTML report with eight metrics and QA handoff." action="ppaction://noaction"/>
          </p:cNvPr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20" name="TextBox 19">
            <a:hlinkHover tooltip="Timestamped HTML report with eight metrics and QA handoff." action="ppaction://noaction"/>
          </p:cNvPr>
          <p:cNvSpPr txBox="1"/>
          <p:nvPr/>
        </p:nvSpPr>
        <p:spPr>
          <a:xfrm>
            <a:off x="8165592" y="29077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Timestamped HTML report with eight metrics and QA handoff.</a:t>
            </a:r>
          </a:p>
        </p:txBody>
      </p:sp>
      <p:sp>
        <p:nvSpPr>
          <p:cNvPr id="21" name="Oval 20">
            <a:hlinkHover tooltip="Timestamped HTML report with eight metrics and QA handoff." action="ppaction://noaction"/>
          </p:cNvPr>
          <p:cNvSpPr/>
          <p:nvPr/>
        </p:nvSpPr>
        <p:spPr>
          <a:xfrm>
            <a:off x="11430000" y="12801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20440"/>
            <a:ext cx="2697480" cy="1801368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24" name="TextBox 23">
            <a:hlinkHover tooltip="Single HTML artifact replaces multi-tool manual cross-check." action="ppaction://noaction"/>
          </p:cNvPr>
          <p:cNvSpPr txBox="1"/>
          <p:nvPr/>
        </p:nvSpPr>
        <p:spPr>
          <a:xfrm>
            <a:off x="576072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25" name="Oval 24">
            <a:hlinkHover tooltip="Single HTML artifact replaces multi-tool manual cross-check." action="ppaction://noaction"/>
          </p:cNvPr>
          <p:cNvSpPr/>
          <p:nvPr/>
        </p:nvSpPr>
        <p:spPr>
          <a:xfrm>
            <a:off x="2926080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6" name="TextBox 25">
            <a:hlinkHover tooltip="Single HTML artifact replaces multi-tool manual cross-check." action="ppaction://noaction"/>
          </p:cNvPr>
          <p:cNvSpPr txBox="1"/>
          <p:nvPr/>
        </p:nvSpPr>
        <p:spPr>
          <a:xfrm>
            <a:off x="557784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Single HTML artifact replaces multi-tool manual cross-check.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3520440"/>
            <a:ext cx="2697480" cy="1801368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7288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30" name="TextBox 29">
            <a:hlinkHover tooltip="Every R-item scored against PR diff, dev tests, and test plan." action="ppaction://noaction"/>
          </p:cNvPr>
          <p:cNvSpPr txBox="1"/>
          <p:nvPr/>
        </p:nvSpPr>
        <p:spPr>
          <a:xfrm>
            <a:off x="3429000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31" name="Oval 30">
            <a:hlinkHover tooltip="Every R-item scored against PR diff, dev tests, and test plan." action="ppaction://noaction"/>
          </p:cNvPr>
          <p:cNvSpPr/>
          <p:nvPr/>
        </p:nvSpPr>
        <p:spPr>
          <a:xfrm>
            <a:off x="5779008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2" name="TextBox 31">
            <a:hlinkHover tooltip="Every R-item scored against PR diff, dev tests, and test plan." action="ppaction://noaction"/>
          </p:cNvPr>
          <p:cNvSpPr txBox="1"/>
          <p:nvPr/>
        </p:nvSpPr>
        <p:spPr>
          <a:xfrm>
            <a:off x="3410712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Every R-item scored against PR diff, dev tests, and test plan.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3520440"/>
            <a:ext cx="2697480" cy="1801368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36" name="TextBox 35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6281928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37" name="Oval 36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8631936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8" name="TextBox 37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6263640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Overall readiness: Pass when requirements are met; Pass with gaps when minor items remain; Fail when critical…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61704" y="3520440"/>
            <a:ext cx="2697480" cy="1801368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53144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42" name="TextBox 41">
            <a:hlinkHover tooltip="reports/{KEY}-{date}-{time}-{TZ}.html in local timezone." action="ppaction://noaction"/>
          </p:cNvPr>
          <p:cNvSpPr txBox="1"/>
          <p:nvPr/>
        </p:nvSpPr>
        <p:spPr>
          <a:xfrm>
            <a:off x="9134856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43" name="Oval 42">
            <a:hlinkHover tooltip="reports/{KEY}-{date}-{time}-{TZ}.html in local timezone." action="ppaction://noaction"/>
          </p:cNvPr>
          <p:cNvSpPr/>
          <p:nvPr/>
        </p:nvSpPr>
        <p:spPr>
          <a:xfrm>
            <a:off x="11484864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44" name="TextBox 43">
            <a:hlinkHover tooltip="reports/{KEY}-{date}-{time}-{TZ}.html in local timezone." action="ppaction://noaction"/>
          </p:cNvPr>
          <p:cNvSpPr txBox="1"/>
          <p:nvPr/>
        </p:nvSpPr>
        <p:spPr>
          <a:xfrm>
            <a:off x="9116568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reports/{KEY}-{date}-{time}-{TZ}.html in local timezone.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6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What’s new — June 2026 · layout v8 · PPT hover tooltips</a:t>
            </a:r>
          </a:p>
        </p:txBody>
      </p:sp>
      <p:sp>
        <p:nvSpPr>
          <p:cNvPr id="7" name="Oval 6">
            <a:hlinkHover tooltip="Gray italic text = short definition (always visible). Coral ⓘ = full definition on hover in Slide Show (press F5). Matches HTML report info tooltips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Shipped in pegasus-qa-agents-lab · reflects latest HTML reports</a:t>
            </a:r>
          </a:p>
        </p:txBody>
      </p:sp>
      <p:sp>
        <p:nvSpPr>
          <p:cNvPr id="9" name="TextBox 8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Gray italic text = short definition (always visible). Coral ⓘ = full definition on hover in Slide Show (press…</a:t>
            </a:r>
          </a:p>
        </p:txBody>
      </p:sp>
      <p:sp>
        <p:nvSpPr>
          <p:cNvPr id="10" name="Rounded Rectangle 9">
            <a:hlinkHover tooltip="/msc-dev-code-and-qa-test-coverage-validator replaces deprecated msc-code-coverage-validator" action="ppaction://noaction"/>
          </p:cNvPr>
          <p:cNvSpPr/>
          <p:nvPr/>
        </p:nvSpPr>
        <p:spPr>
          <a:xfrm>
            <a:off x="502920" y="1234440"/>
            <a:ext cx="5440680" cy="16002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hlinkHover tooltip="/msc-dev-code-and-qa-test-coverage-validator replaces deprecated msc-code-coverage-validator" action="ppaction://noaction"/>
          </p:cNvPr>
          <p:cNvSpPr/>
          <p:nvPr/>
        </p:nvSpPr>
        <p:spPr>
          <a:xfrm>
            <a:off x="5641848" y="132588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34416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5E4F"/>
                </a:solidFill>
                <a:latin typeface="Calibri"/>
              </a:defRPr>
            </a:pPr>
            <a:r>
              <a:t>Renamed command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916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/msc-dev-code-and-qa-test-coverage-validator replaces deprecated msc-code-coverage-validator</a:t>
            </a:r>
          </a:p>
        </p:txBody>
      </p:sp>
      <p:sp>
        <p:nvSpPr>
          <p:cNvPr id="14" name="Rounded Rectangle 13">
            <a:hlinkHover tooltip="collect_ladr_page_links() filters grooming, deployment, PVC go-live, and operational wiki pages" action="ppaction://noaction"/>
          </p:cNvPr>
          <p:cNvSpPr/>
          <p:nvPr/>
        </p:nvSpPr>
        <p:spPr>
          <a:xfrm>
            <a:off x="6172200" y="1234440"/>
            <a:ext cx="5440680" cy="16002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>
            <a:hlinkHover tooltip="collect_ladr_page_links() filters grooming, deployment, PVC go-live, and operational wiki pages" action="ppaction://noaction"/>
          </p:cNvPr>
          <p:cNvSpPr/>
          <p:nvPr/>
        </p:nvSpPr>
        <p:spPr>
          <a:xfrm>
            <a:off x="11311128" y="132588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4416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4066C"/>
                </a:solidFill>
                <a:latin typeface="Calibri"/>
              </a:defRPr>
            </a:pPr>
            <a:r>
              <a:t>LADR-only quick links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916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collect_ladr_page_links() filters grooming, deployment, PVC go-live, and operational wiki pages</a:t>
            </a:r>
          </a:p>
        </p:txBody>
      </p:sp>
      <p:sp>
        <p:nvSpPr>
          <p:cNvPr id="18" name="Rounded Rectangle 17">
            <a:hlinkHover tooltip="Dev-covered AC (qaScope: none) excluded from QA execute list; handoff lists TC IDs only for remaining scope" action="ppaction://noaction"/>
          </p:cNvPr>
          <p:cNvSpPr/>
          <p:nvPr/>
        </p:nvSpPr>
        <p:spPr>
          <a:xfrm>
            <a:off x="502920" y="3017520"/>
            <a:ext cx="5440680" cy="160020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>
            <a:hlinkHover tooltip="Dev-covered AC (qaScope: none) excluded from QA execute list; handoff lists TC IDs only for remaining scope" action="ppaction://noaction"/>
          </p:cNvPr>
          <p:cNvSpPr/>
          <p:nvPr/>
        </p:nvSpPr>
        <p:spPr>
          <a:xfrm>
            <a:off x="5641848" y="3108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12724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49A00"/>
                </a:solidFill>
                <a:latin typeface="Calibri"/>
              </a:defRPr>
            </a:pPr>
            <a:r>
              <a:t>§4 QA ownership v3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Dev-covered AC (qaScope: none) excluded from QA execute list; handoff lists TC IDs only for remaining scope</a:t>
            </a:r>
          </a:p>
        </p:txBody>
      </p:sp>
      <p:sp>
        <p:nvSpPr>
          <p:cNvPr id="22" name="Rounded Rectangle 21">
            <a:hlinkHover tooltip="Info-icon tooltips on all 8 sections; Linked PR Dev tests + CI columns; release readiness score" action="ppaction://noaction"/>
          </p:cNvPr>
          <p:cNvSpPr/>
          <p:nvPr/>
        </p:nvSpPr>
        <p:spPr>
          <a:xfrm>
            <a:off x="6172200" y="3017520"/>
            <a:ext cx="5440680" cy="160020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>
            <a:hlinkHover tooltip="Info-icon tooltips on all 8 sections; Linked PR Dev tests + CI columns; release readiness score" action="ppaction://noaction"/>
          </p:cNvPr>
          <p:cNvSpPr/>
          <p:nvPr/>
        </p:nvSpPr>
        <p:spPr>
          <a:xfrm>
            <a:off x="11311128" y="3108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12724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Calibri"/>
              </a:defRPr>
            </a:pPr>
            <a:r>
              <a:t>Report UI v8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7472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Info-icon tooltips on all 8 sections; Linked PR Dev tests + CI columns; release readiness score</a:t>
            </a:r>
          </a:p>
        </p:txBody>
      </p:sp>
      <p:sp>
        <p:nvSpPr>
          <p:cNvPr id="26" name="Rounded Rectangle 25">
            <a:hlinkHover tooltip="Newest report: MSC-212571 (MSC-212571-06-02-2026-17-33-50-IST.html) — matrix refreshed at build" action="ppaction://noaction"/>
          </p:cNvPr>
          <p:cNvSpPr/>
          <p:nvPr/>
        </p:nvSpPr>
        <p:spPr>
          <a:xfrm>
            <a:off x="502920" y="4800600"/>
            <a:ext cx="5440680" cy="16002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>
            <a:hlinkHover tooltip="Newest report: MSC-212571 (MSC-212571-06-02-2026-17-33-50-IST.html) — matrix refreshed at build" action="ppaction://noaction"/>
          </p:cNvPr>
          <p:cNvSpPr/>
          <p:nvPr/>
        </p:nvSpPr>
        <p:spPr>
          <a:xfrm>
            <a:off x="5641848" y="489204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032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4155"/>
                </a:solidFill>
                <a:latin typeface="Calibri"/>
              </a:defRPr>
            </a:pPr>
            <a:r>
              <a:t>Latest pilots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Newest report: MSC-212571 (MSC-212571-06-02-2026-17-33-50-IST.html) — matrix refreshed at build</a:t>
            </a:r>
          </a:p>
        </p:txBody>
      </p:sp>
      <p:sp>
        <p:nvSpPr>
          <p:cNvPr id="30" name="Rounded Rectangle 29">
            <a:hlinkHover tooltip="scripts/test_fixtures/ + conftest.py — LADR quick-link unit tests without live Jira cache" action="ppaction://noaction"/>
          </p:cNvPr>
          <p:cNvSpPr/>
          <p:nvPr/>
        </p:nvSpPr>
        <p:spPr>
          <a:xfrm>
            <a:off x="6172200" y="4800600"/>
            <a:ext cx="5440680" cy="16002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>
            <a:hlinkHover tooltip="scripts/test_fixtures/ + conftest.py — LADR quick-link unit tests without live Jira cache" action="ppaction://noaction"/>
          </p:cNvPr>
          <p:cNvSpPr/>
          <p:nvPr/>
        </p:nvSpPr>
        <p:spPr>
          <a:xfrm>
            <a:off x="11311128" y="489204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1032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9688"/>
                </a:solidFill>
                <a:latin typeface="Calibri"/>
              </a:defRPr>
            </a:pPr>
            <a:r>
              <a:t>Portable tests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2578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scripts/test_fixtures/ + conftest.py — LADR quick-link unit tests without live Jira cache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>
            <a:hlinkHover tooltip="Why fragmented Jira · GitHub · Excel test plans · Confluence LADR blocks confident releases" action="ppaction://noaction"/>
          </p:cNvPr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Oval 6">
            <a:hlinkHover tooltip="Why siloed Jira, GitHub, Excel, and Confluence block confident releases." action="ppaction://noaction"/>
          </p:cNvPr>
          <p:cNvSpPr/>
          <p:nvPr/>
        </p:nvSpPr>
        <p:spPr>
          <a:xfrm>
            <a:off x="11475720" y="1965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Guide: The challenge — four silos, zero single view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Oval 6">
            <a:hlinkHover tooltip="Guide: The challenge — four silos, zero single view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Guide: The challenge — four silos, zero single view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9" name="TextBox 8">
            <a:hlinkHover tooltip="Guide: The challenge — four silos, zero single view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Guide: The challenge — four silos, zero single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or IDs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6" name="Rounded Rectangle 25">
            <a:hlinkHover tooltip="Duplicate QA/dev effort" action="ppaction://noaction"/>
          </p:cNvPr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7" name="Rounded Rectangle 26">
            <a:hlinkHover tooltip="Missed E2E handoffs" action="ppaction://noaction"/>
          </p:cNvPr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8" name="Rounded Rectangle 27">
            <a:hlinkHover tooltip="No LADR ↔ test plan traceability" action="ppaction://noaction"/>
          </p:cNvPr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9" name="Rounded Rectangle 28">
            <a:hlinkHover tooltip="Weak AC ↔ evidence mapping" action="ppaction://noaction"/>
          </p:cNvPr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Guide: Idea Generation — Cursor AI subagent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Oval 6">
            <a:hlinkHover tooltip="Guide: Idea Generation — Cursor AI subagent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Guide: Idea Generation — Cursor AI subagent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9" name="TextBox 8">
            <a:hlinkHover tooltip="Guide: Idea Generation — Cursor AI subagent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Guide: Idea Generation — Cursor AI subagent</a:t>
            </a:r>
          </a:p>
        </p:txBody>
      </p:sp>
      <p:sp>
        <p:nvSpPr>
          <p:cNvPr id="10" name="Rounded Rectangle 9">
            <a:hlinkHover tooltip="Fragmented readiness" action="ppaction://noaction"/>
          </p:cNvPr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7" name="Rounded Rectangle 16">
            <a:hlinkHover tooltip="Unified validator" action="ppaction://noaction"/>
          </p:cNvPr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4" name="Rounded Rectangle 23">
            <a:hlinkHover tooltip="Leadership evidence" action="ppaction://noaction"/>
          </p:cNvPr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+ SIT Jobs ID evidence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>
            <a:hlinkHover tooltip="Cursor subagent · automated workflow · solution architecture" action="ppaction://noaction"/>
          </p:cNvPr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Oval 6">
            <a:hlinkHover tooltip="Cursor subagent · automated workflow · solution architecture" action="ppaction://noaction"/>
          </p:cNvPr>
          <p:cNvSpPr/>
          <p:nvPr/>
        </p:nvSpPr>
        <p:spPr>
          <a:xfrm>
            <a:off x="11475720" y="1965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Same slash command; each role reads a different slice of the HTML report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Oval 6">
            <a:hlinkHover tooltip="Same slash command; each role reads a different slice of the HTML report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Same slash command; each role reads a different slice of the HTML report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9" name="TextBox 8">
            <a:hlinkHover tooltip="Same slash command; each role reads a different slice of the HTML report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Same slash command; each role reads a different slice of the HTML report.</a:t>
            </a:r>
          </a:p>
        </p:txBody>
      </p:sp>
      <p:sp>
        <p:nvSpPr>
          <p:cNvPr id="10" name="Rounded Rectangle 9">
            <a:hlinkHover tooltip="Test plan AC %, QA scope remaining, §4 execute list, open gaps." action="ppaction://noaction"/>
          </p:cNvPr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hlinkHover tooltip="Test plan AC %, QA scope remaining, §4 execute list, open gaps." action="ppaction://noaction"/>
          </p:cNvPr>
          <p:cNvSpPr/>
          <p:nvPr/>
        </p:nvSpPr>
        <p:spPr>
          <a:xfrm>
            <a:off x="2898648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2" name="Oval 11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7" name="Rounded Rectangle 16">
            <a:hlinkHover tooltip="Code %, dev test evidence" action="ppaction://noaction"/>
          </p:cNvPr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>
            <a:hlinkHover tooltip="Code %, dev test evidence" action="ppaction://noaction"/>
          </p:cNvPr>
          <p:cNvSpPr/>
          <p:nvPr/>
        </p:nvSpPr>
        <p:spPr>
          <a:xfrm>
            <a:off x="5751576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9" name="Oval 18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4" name="Rounded Rectangle 23">
            <a:hlinkHover tooltip="Verdict, release readiness score, open gaps by severity." action="ppaction://noaction"/>
          </p:cNvPr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>
            <a:hlinkHover tooltip="Verdict, release readiness score, open gaps by severity." action="ppaction://noaction"/>
          </p:cNvPr>
          <p:cNvSpPr/>
          <p:nvPr/>
        </p:nvSpPr>
        <p:spPr>
          <a:xfrm>
            <a:off x="8604504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6" name="Oval 25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31" name="Rounded Rectangle 30">
            <a:hlinkHover tooltip="GWT quality, LADR ↔ test case traceability, plan gaps." action="ppaction://noaction"/>
          </p:cNvPr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>
            <a:hlinkHover tooltip="GWT quality, LADR ↔ test case traceability, plan gaps." action="ppaction://noaction"/>
          </p:cNvPr>
          <p:cNvSpPr/>
          <p:nvPr/>
        </p:nvSpPr>
        <p:spPr>
          <a:xfrm>
            <a:off x="11457432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3" name="Oval 32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 + LADR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GWT quality · Mascot or SIT Jobs IDs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MSC-212571   ·   --auto --write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End-to-end --auto --write: one MCP Jira batch + batched Python scripts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Oval 6">
            <a:hlinkHover tooltip="End-to-end --auto --write: one MCP Jira batch + batched Python scripts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End-to-end --auto --write: one MCP Jira batch + batched Python scripts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Slash command --auto --write · ~2–5 min · one MCP turn + batched shells</a:t>
            </a:r>
          </a:p>
        </p:txBody>
      </p:sp>
      <p:sp>
        <p:nvSpPr>
          <p:cNvPr id="9" name="TextBox 8">
            <a:hlinkHover tooltip="End-to-end --auto --write: one MCP Jira batch + batched Python scripts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End-to-end --auto --write: one MCP Jira batch + batched Python scripts.</a:t>
            </a:r>
          </a:p>
        </p:txBody>
      </p:sp>
      <p:sp>
        <p:nvSpPr>
          <p:cNvPr id="10" name="Rounded Rectangle 9">
            <a:hlinkHover tooltip="Parallel MCP: getJiraIssue + remote wiki links + attachments." action="ppaction://noaction"/>
          </p:cNvPr>
          <p:cNvSpPr/>
          <p:nvPr/>
        </p:nvSpPr>
        <p:spPr>
          <a:xfrm>
            <a:off x="320040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Hover tooltip="Parallel MCP: getJiraIssue + remote wiki links + attachments." action="ppaction://noaction"/>
          </p:cNvPr>
          <p:cNvSpPr txBox="1"/>
          <p:nvPr/>
        </p:nvSpPr>
        <p:spPr>
          <a:xfrm>
            <a:off x="393192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Parallel MCP: getJiraIssue + remote wiki links + attachments.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Parallel MCP:</a:t>
            </a:r>
          </a:p>
          <a:p>
            <a:r>
              <a:t>issue + remote</a:t>
            </a:r>
          </a:p>
          <a:p>
            <a:r>
              <a:t>wiki links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Hover tooltip="fetch_confluence_requirements.py — LADR ESS when linked from Jira." action="ppaction://noaction"/>
          </p:cNvPr>
          <p:cNvSpPr/>
          <p:nvPr/>
        </p:nvSpPr>
        <p:spPr>
          <a:xfrm>
            <a:off x="2267712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Hover tooltip="fetch_confluence_requirements.py — LADR ESS when linked from Jira." action="ppaction://noaction"/>
          </p:cNvPr>
          <p:cNvSpPr txBox="1"/>
          <p:nvPr/>
        </p:nvSpPr>
        <p:spPr>
          <a:xfrm>
            <a:off x="2340864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fetch_confluence_requirements.py — LADR ESS when linked from Jira.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LADR ESS or</a:t>
            </a:r>
          </a:p>
          <a:p>
            <a:r>
              <a:t>passport scenarios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>
            <a:hlinkHover tooltip="fetch_jira_testplan.py — Excel attachment, GWT, Mascot/SIT evidence columns." action="ppaction://noaction"/>
          </p:cNvPr>
          <p:cNvSpPr/>
          <p:nvPr/>
        </p:nvSpPr>
        <p:spPr>
          <a:xfrm>
            <a:off x="4215384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Hover tooltip="fetch_jira_testplan.py — Excel attachment, GWT, Mascot/SIT evidence columns." action="ppaction://noaction"/>
          </p:cNvPr>
          <p:cNvSpPr txBox="1"/>
          <p:nvPr/>
        </p:nvSpPr>
        <p:spPr>
          <a:xfrm>
            <a:off x="4288536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fetch_jira_testplan.py — Excel attachment, GWT, Mascot/SIT evidence columns.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attach,</a:t>
            </a:r>
          </a:p>
          <a:p>
            <a:r>
              <a:t>GWT, Evidence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>
            <a:hlinkHover tooltip="prefetch_coverage_inputs.py — all PR URLs in one shell invocation." action="ppaction://noaction"/>
          </p:cNvPr>
          <p:cNvSpPr/>
          <p:nvPr/>
        </p:nvSpPr>
        <p:spPr>
          <a:xfrm>
            <a:off x="6163056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Hover tooltip="prefetch_coverage_inputs.py — all PR URLs in one shell invocation." action="ppaction://noaction"/>
          </p:cNvPr>
          <p:cNvSpPr txBox="1"/>
          <p:nvPr/>
        </p:nvSpPr>
        <p:spPr>
          <a:xfrm>
            <a:off x="6236208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prefetch_coverage_inputs.py — all PR URLs in one shell invocation.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prefetch PR(s)</a:t>
            </a:r>
          </a:p>
          <a:p>
            <a:r>
              <a:t>or branch compare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>
            <a:hlinkHover tooltip="map_requirements_to_diff.py — R1…Rn vs diff; qaScope: none when dev-covered." action="ppaction://noaction"/>
          </p:cNvPr>
          <p:cNvSpPr/>
          <p:nvPr/>
        </p:nvSpPr>
        <p:spPr>
          <a:xfrm>
            <a:off x="8110728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>
            <a:hlinkHover tooltip="map_requirements_to_diff.py — R1…Rn vs diff; qaScope: none when dev-covered." action="ppaction://noaction"/>
          </p:cNvPr>
          <p:cNvSpPr txBox="1"/>
          <p:nvPr/>
        </p:nvSpPr>
        <p:spPr>
          <a:xfrm>
            <a:off x="8183880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map_requirements_to_diff.py — R1…Rn vs diff; qaScope: none when dev-covered.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map_requirements_</a:t>
            </a:r>
          </a:p>
          <a:p>
            <a:r>
              <a:t>to_diff.py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>
            <a:hlinkHover tooltip="build_coverage_report.py + apply_report_ui_enhancements() tooltips v8." action="ppaction://noaction"/>
          </p:cNvPr>
          <p:cNvSpPr/>
          <p:nvPr/>
        </p:nvSpPr>
        <p:spPr>
          <a:xfrm>
            <a:off x="10058400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>
            <a:hlinkHover tooltip="build_coverage_report.py + apply_report_ui_enhancements() tooltips v8." action="ppaction://noaction"/>
          </p:cNvPr>
          <p:cNvSpPr txBox="1"/>
          <p:nvPr/>
        </p:nvSpPr>
        <p:spPr>
          <a:xfrm>
            <a:off x="10131552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build_coverage_report.py + apply_report_ui_enhancements() tooltips v8.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build_coverage_</a:t>
            </a:r>
          </a:p>
          <a:p>
            <a:r>
              <a:t>report.py + tooltips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Cache: reports/.cache/{KEY}-jira|confluence|testplan|prefetch|mapping.json — reuse --from-cache. Quick links: collect_ladr_page_links() — LADR/design Confluence only (no grooming/deployment remote links). No linked PR? fetch_coverage_github.py --compare develop + branchCompare mapping. §4 build_qa_ownership_fields() — qaScope: none skips dev-covered AC from QA TC list. build_coverage_report.py fills CI {{CI_*}} and Dev tests columns automatically.</a:t>
            </a:r>
          </a:p>
        </p:txBody>
      </p:sp>
      <p:sp>
        <p:nvSpPr>
          <p:cNvPr id="47" name="Rounded Rectangle 46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8" name="Oval 47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3840480" y="5230368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49" name="Rounded Rectangle 48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50" name="Oval 49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7635240" y="5230368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51" name="Rounded Rectangle 50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52" name="Oval 51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11430000" y="5230368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—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→ MCP → gh → permissions →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—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·  fetch_jira_testplan.py  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map_requirements_to_diff.py  ·  build_coverage_report.py  ·  apply_report_ui_enhancements()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→ push to github.com/mgunjal11/pegasus-qa-agents-lab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874519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MSC-205625 — Live coverage validation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[PFT Clear] Content passport dropped from cumulative output manif…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411480"/>
            <a:ext cx="2331720" cy="105156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  <a:p>
            <a:r>
              <a:t>81%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2011680"/>
            <a:ext cx="2697480" cy="96012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2011680"/>
            <a:ext cx="269748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17336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24544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08960"/>
            <a:ext cx="11155680" cy="329184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Report walkthrough — 8 sections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47872"/>
            <a:ext cx="2651760" cy="658368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547872"/>
            <a:ext cx="2651760" cy="658368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3547872"/>
            <a:ext cx="2651760" cy="658368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5E4F"/>
                </a:solidFill>
                <a:latin typeface="Calibri"/>
              </a:defRPr>
            </a:pPr>
            <a:r>
              <a:t>Attached test plan validatio…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3547872"/>
            <a:ext cx="2651760" cy="658368"/>
          </a:xfrm>
          <a:prstGeom prst="roundRect">
            <a:avLst/>
          </a:prstGeom>
          <a:solidFill>
            <a:srgbClr val="E0E7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940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315968"/>
            <a:ext cx="2651760" cy="658368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315968"/>
            <a:ext cx="2651760" cy="658368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80760" y="4315968"/>
            <a:ext cx="2651760" cy="658368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048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34155"/>
                </a:solidFill>
                <a:latin typeface="Calibri"/>
              </a:defRPr>
            </a:pPr>
            <a:r>
              <a:t>Assumptions and open questio…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69680" y="4315968"/>
            <a:ext cx="2651760" cy="658368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940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✓ Jira readiness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✓Acceptance criteriaiAbout Acceptance criteriaNumbered requirements (R1, R2, …) extracted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✓GitHub PRiAbout GitHub PRPull requests linked in Jira or discovered during prefetch — sou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✓Test planiAbout Test planQMetry Excel attachment parsed for scenarios, Given/When/Then st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✓ ✓Confluence / LADRiAbout Confluence / LADROptional Confluence design page for LADR (L1, L2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5074920"/>
            <a:ext cx="5577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Source: MSC-205625-06-09-2026-14-05-59-IST.html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Generated 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Open the HTML report for full tables, tooltips, and evidence links.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96012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Calibri"/>
              </a:defRPr>
            </a:pPr>
            <a: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426464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Release readiness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7373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Weighted: dev code, dev tests, test plan,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9748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4 scored from PR diff mapping — Jira acceptance criteri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2697480"/>
            <a:ext cx="169164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0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086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auto-mapped from PR test files — unit &amp; integration 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7/9 AC in test pla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23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Requirements mapped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2394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Jira + LADR from test plan cache — acceptance criteria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697480"/>
            <a:ext cx="169164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5 test cases · 5/5 full Given When Then · 4/5 LADR scen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2 item(s)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55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QA scope remaining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586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E2E, manual, or regression still required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High · 1 Med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38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38944" y="3364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auto-detected from mapping and test plan — from impleme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813048"/>
            <a:ext cx="11155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98264" y="482803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SonarQube new code line coverage (PR)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94.5%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134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branch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1344" y="482803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94A3B8"/>
                </a:solidFill>
                <a:latin typeface="Calibri"/>
              </a:defRPr>
            </a:pPr>
            <a:r>
              <a:t>SonarQube overall line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#161  ·  wbd-msc/pegasus-pick-genie  · 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MSC-206821 | Handle passport attachment more gracefully and handle flipping scen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test_incrementals.py, test_qm_evaluate_passport.py, test_passport_mana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#195  ·  wbd-msc/pegasus-encode-monitor  ·  MERGED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MSC-205625 | domino - fix for supplementary assets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test_encode_monitor.py, conftest.py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Attached test plan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R4 — no mapped test case for Jira acceptance criterion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L5 — no mapped test case for Confluence LADR 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TCiAbout TCTest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34056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ScenarioiAbout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5192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Mapped reqiAbout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96328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GWTiAbout GWTWhe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27464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Given When Theni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6328" y="2596896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27464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4056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65192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96328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27464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34056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Sidecar - audio and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65192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96328" y="3291840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27464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34056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65192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6328" y="3639312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27464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4056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65192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96328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27464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Dev-owned items should be proven by unit or integration tests in the PR. QA-owned items require func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394960" cy="4114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R1 — Content passport retained in cumulative output manifestation for PFT Clear incremental-as-</a:t>
            </a:r>
          </a:p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R2 — When metadata-update becomes full fulfillment, pack passport must be delivered as expected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61872"/>
            <a:ext cx="5394960" cy="41148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R3 — Pick-genie must not drop passport re-fetch from FMAM when incremental workflow resolves as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R4 — Fix must be validated in SIT using provided test data (Edit ID 37ea180e-77cc-413f-95cf-9df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Execute attached test plan case(s) for QA-scoped requirements only: TC1, TC2, TC3, TC4, TC5 — 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220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148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4004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3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6220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Content passport retained in cumulative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148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004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93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6220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When metadata-update becomes full fulfil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148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4004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993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6220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Pick-genie must not drop passport re-fet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21480" y="2304288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304288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004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Shared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99320" y="2304288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E2E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220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Fix must be validated in SIT using provi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148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8076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004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Qa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9320" y="2651760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Manual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182880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✓ Strengths</a:t>
            </a:r>
          </a:p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See PR diff and mapping cache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61872"/>
            <a:ext cx="5440680" cy="182880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⚠ Gaps</a:t>
            </a:r>
          </a:p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R4 — no mapped test case in test 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4155"/>
                </a:solidFill>
                <a:latin typeface="Calibri"/>
              </a:defRPr>
            </a:pPr>
            <a:r>
              <a:t>Assumptions and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9424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658368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389888"/>
            <a:ext cx="384048" cy="38404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4066C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4066C"/>
                </a:solidFill>
                <a:latin typeface="Calibri"/>
              </a:defRPr>
            </a:pPr>
            <a:r>
              <a:t>Review §5 traceability and run QA-scoped test plan cases only (see §4).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56032"/>
            <a:ext cx="12191695" cy="96012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Four production runs · featured story MSC-205625 (this deck)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84048"/>
            <a:ext cx="1234440" cy="7772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dev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384048"/>
            <a:ext cx="1234440" cy="77724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1268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plan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1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5382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3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7844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75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MSC-212571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59151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In 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15382" y="181051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1613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5.6%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7844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75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requirements in cache · PR #99 pegasus-part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★ MSC-205625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59151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· Ready for Rele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2" y="231343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71613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7844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75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requirements in cache · PR #161 pegasus-pic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2423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000"/>
                </a:solidFill>
              </a:defRPr>
            </a:pPr>
            <a:r>
              <a:t>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9151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Ready for 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15382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71613" y="281635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33.3%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7844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75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Confluence in quick links only · No PR · 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59151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· Done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15382" y="331927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1613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27844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75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requirements in cache · PR #22 pegasus-reps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