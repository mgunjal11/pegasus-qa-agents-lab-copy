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406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01200" y="-731520"/>
            <a:ext cx="2926080" cy="2926080"/>
          </a:xfrm>
          <a:prstGeom prst="ellipse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789920" y="5029200"/>
            <a:ext cx="1828800" cy="1828800"/>
          </a:xfrm>
          <a:prstGeom prst="ellipse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5989320"/>
            <a:ext cx="12191695" cy="86868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63040"/>
            <a:ext cx="100584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>
                <a:solidFill>
                  <a:srgbClr val="FFC000"/>
                </a:solidFill>
                <a:latin typeface="Calibri"/>
              </a:defRPr>
            </a:pPr>
            <a:r>
              <a:t>Business Assurance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148840"/>
            <a:ext cx="1005840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  <a:latin typeface="Calibri"/>
              </a:defRPr>
            </a:pPr>
            <a:r>
              <a:t>MSC Dev Code and QA Test Coverage Validator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429000"/>
            <a:ext cx="9144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BFDBFE"/>
                </a:solidFill>
                <a:latin typeface="Calibri"/>
              </a:defRPr>
            </a:pPr>
            <a:r>
              <a:t>AI-driven release readiness · Jira + Confluence LADR (when linked) + GitHub + Excel test plan in one report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4434840"/>
            <a:ext cx="2606040" cy="1051560"/>
          </a:xfrm>
          <a:prstGeom prst="roundRect">
            <a:avLst/>
          </a:prstGeom>
          <a:solidFill>
            <a:srgbClr val="1E3A8A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572000"/>
            <a:ext cx="2423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" y="5093208"/>
            <a:ext cx="2459736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Systems unified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93008" y="4434840"/>
            <a:ext cx="2606040" cy="1051560"/>
          </a:xfrm>
          <a:prstGeom prst="roundRect">
            <a:avLst/>
          </a:prstGeom>
          <a:solidFill>
            <a:srgbClr val="1E3A8A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84448" y="4572000"/>
            <a:ext cx="2423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Calibri"/>
              </a:defRPr>
            </a:pPr>
            <a:r>
              <a:t>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0" y="5093208"/>
            <a:ext cx="2459736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Coverage metrics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08776" y="4434840"/>
            <a:ext cx="2606040" cy="1051560"/>
          </a:xfrm>
          <a:prstGeom prst="roundRect">
            <a:avLst/>
          </a:prstGeom>
          <a:solidFill>
            <a:srgbClr val="1E3A8A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0216" y="4572000"/>
            <a:ext cx="2423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Calibri"/>
              </a:defRPr>
            </a:pPr>
            <a:r>
              <a:t>2–5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81928" y="5093208"/>
            <a:ext cx="2459736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Minutes per run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24544" y="4434840"/>
            <a:ext cx="2606040" cy="1051560"/>
          </a:xfrm>
          <a:prstGeom prst="roundRect">
            <a:avLst/>
          </a:prstGeom>
          <a:solidFill>
            <a:srgbClr val="1E3A8A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15984" y="4572000"/>
            <a:ext cx="2423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97696" y="5093208"/>
            <a:ext cx="2459736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HTML verdict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6144768"/>
            <a:ext cx="10058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1A1A1A"/>
                </a:solidFill>
                <a:latin typeface="Calibri"/>
              </a:defRPr>
            </a:pPr>
            <a:r>
              <a:t>Pegasus QA Agents Lab · May 2026 · github.com/mgunjal11/pegasus-qa-agents-lab · Developed by Mayur Gunjal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327648"/>
            <a:ext cx="12191695" cy="182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40080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94A3B8"/>
                </a:solidFill>
                <a:latin typeface="Calibri"/>
              </a:defRPr>
            </a:pPr>
            <a:r>
              <a:t>©LTM  |  Privileged and Confidential  |  MSC Dev Code and QA Test Coverage Validator  |  Developed by Mayur Gunjal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40080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94A3B8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5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457200"/>
            <a:ext cx="3657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FF5E4F"/>
                </a:solidFill>
                <a:latin typeface="Calibri"/>
              </a:defRPr>
            </a:pPr>
            <a:r>
              <a:t>Agenda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234440"/>
            <a:ext cx="5669280" cy="713232"/>
          </a:xfrm>
          <a:prstGeom prst="roundRect">
            <a:avLst/>
          </a:prstGeom>
          <a:solidFill>
            <a:srgbClr val="E8F0FE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344168"/>
            <a:ext cx="502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5E4F"/>
                </a:solidFill>
                <a:latin typeface="Calibri"/>
              </a:defRPr>
            </a:pPr>
            <a: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132588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4066C"/>
                </a:solidFill>
                <a:latin typeface="Calibri"/>
              </a:defRPr>
            </a:pPr>
            <a:r>
              <a:t>Executive summary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1618488"/>
            <a:ext cx="4389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Calibri"/>
              </a:defRPr>
            </a:pPr>
            <a:r>
              <a:t>Value at a glance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075688"/>
            <a:ext cx="5669280" cy="713232"/>
          </a:xfrm>
          <a:prstGeom prst="roundRect">
            <a:avLst/>
          </a:prstGeom>
          <a:solidFill>
            <a:srgbClr val="F2F2F2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185416"/>
            <a:ext cx="502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5E4F"/>
                </a:solidFill>
                <a:latin typeface="Calibri"/>
              </a:defRPr>
            </a:pPr>
            <a: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167128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4066C"/>
                </a:solidFill>
                <a:latin typeface="Calibri"/>
              </a:defRPr>
            </a:pPr>
            <a:r>
              <a:t>The challenge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2459736"/>
            <a:ext cx="4389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Calibri"/>
              </a:defRPr>
            </a:pPr>
            <a:r>
              <a:t>Fragmented release signals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2916936"/>
            <a:ext cx="5669280" cy="713232"/>
          </a:xfrm>
          <a:prstGeom prst="roundRect">
            <a:avLst/>
          </a:prstGeom>
          <a:solidFill>
            <a:srgbClr val="E8F0FE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3026664"/>
            <a:ext cx="502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5E4F"/>
                </a:solidFill>
                <a:latin typeface="Calibri"/>
              </a:defRPr>
            </a:pPr>
            <a: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3008376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4066C"/>
                </a:solidFill>
                <a:latin typeface="Calibri"/>
              </a:defRPr>
            </a:pPr>
            <a:r>
              <a:t>The solution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34440" y="3300984"/>
            <a:ext cx="4389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Calibri"/>
              </a:defRPr>
            </a:pPr>
            <a:r>
              <a:t>Cursor subagent + workflow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3758184"/>
            <a:ext cx="5669280" cy="713232"/>
          </a:xfrm>
          <a:prstGeom prst="roundRect">
            <a:avLst/>
          </a:prstGeom>
          <a:solidFill>
            <a:srgbClr val="F2F2F2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3867912"/>
            <a:ext cx="502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5E4F"/>
                </a:solidFill>
                <a:latin typeface="Calibri"/>
              </a:defRPr>
            </a:pPr>
            <a: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34440" y="3849624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4066C"/>
                </a:solidFill>
                <a:latin typeface="Calibri"/>
              </a:defRPr>
            </a:pPr>
            <a:r>
              <a:t>HTML report deep-dive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34440" y="4142232"/>
            <a:ext cx="4389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Calibri"/>
              </a:defRPr>
            </a:pPr>
            <a:r>
              <a:t>8 sections · info icons · traceability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4599432"/>
            <a:ext cx="5669280" cy="713232"/>
          </a:xfrm>
          <a:prstGeom prst="roundRect">
            <a:avLst/>
          </a:prstGeom>
          <a:solidFill>
            <a:srgbClr val="E8F0FE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4709160"/>
            <a:ext cx="502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5E4F"/>
                </a:solidFill>
                <a:latin typeface="Calibri"/>
              </a:defRPr>
            </a:pPr>
            <a: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34440" y="4690872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4066C"/>
                </a:solidFill>
                <a:latin typeface="Calibri"/>
              </a:defRPr>
            </a:pPr>
            <a:r>
              <a:t>Enablement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34440" y="4983480"/>
            <a:ext cx="4389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Calibri"/>
              </a:defRPr>
            </a:pPr>
            <a:r>
              <a:t>Setup · scripts · permissions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5440680"/>
            <a:ext cx="5669280" cy="713232"/>
          </a:xfrm>
          <a:prstGeom prst="roundRect">
            <a:avLst/>
          </a:prstGeom>
          <a:solidFill>
            <a:srgbClr val="F2F2F2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5550408"/>
            <a:ext cx="502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5E4F"/>
                </a:solidFill>
                <a:latin typeface="Calibri"/>
              </a:defRPr>
            </a:pPr>
            <a:r>
              <a:t>06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34440" y="553212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4066C"/>
                </a:solidFill>
                <a:latin typeface="Calibri"/>
              </a:defRPr>
            </a:pPr>
            <a:r>
              <a:t>Proven outcomes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34440" y="5824728"/>
            <a:ext cx="4389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Calibri"/>
              </a:defRPr>
            </a:pPr>
            <a:r>
              <a:t>MSC case studies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92240" y="1097280"/>
            <a:ext cx="5212080" cy="5029200"/>
          </a:xfrm>
          <a:prstGeom prst="roundRect">
            <a:avLst/>
          </a:prstGeom>
          <a:solidFill>
            <a:srgbClr val="04066C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720840" y="1280160"/>
            <a:ext cx="47548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C000"/>
                </a:solidFill>
                <a:latin typeface="Calibri"/>
              </a:defRPr>
            </a:pPr>
            <a:r>
              <a:t>What you get in one run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858000" y="1691640"/>
            <a:ext cx="4480560" cy="530352"/>
          </a:xfrm>
          <a:prstGeom prst="roundRect">
            <a:avLst/>
          </a:prstGeom>
          <a:solidFill>
            <a:srgbClr val="1E3A8A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Jira story + AC + LADR links</a:t>
            </a:r>
          </a:p>
        </p:txBody>
      </p:sp>
      <p:sp>
        <p:nvSpPr>
          <p:cNvPr id="34" name="Down Arrow 33"/>
          <p:cNvSpPr/>
          <p:nvPr/>
        </p:nvSpPr>
        <p:spPr>
          <a:xfrm>
            <a:off x="8778240" y="2350008"/>
            <a:ext cx="320040" cy="201168"/>
          </a:xfrm>
          <a:prstGeom prst="downArrow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6858000" y="2404872"/>
            <a:ext cx="4480560" cy="530352"/>
          </a:xfrm>
          <a:prstGeom prst="roundRect">
            <a:avLst/>
          </a:prstGeom>
          <a:solidFill>
            <a:srgbClr val="1E3A8A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Confluence LADR requirements (when linked)</a:t>
            </a:r>
          </a:p>
        </p:txBody>
      </p:sp>
      <p:sp>
        <p:nvSpPr>
          <p:cNvPr id="36" name="Down Arrow 35"/>
          <p:cNvSpPr/>
          <p:nvPr/>
        </p:nvSpPr>
        <p:spPr>
          <a:xfrm>
            <a:off x="8778240" y="3063240"/>
            <a:ext cx="320040" cy="201168"/>
          </a:xfrm>
          <a:prstGeom prst="downArrow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858000" y="3118104"/>
            <a:ext cx="4480560" cy="530352"/>
          </a:xfrm>
          <a:prstGeom prst="roundRect">
            <a:avLst/>
          </a:prstGeom>
          <a:solidFill>
            <a:srgbClr val="1E3A8A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Linked PR + CI</a:t>
            </a:r>
          </a:p>
        </p:txBody>
      </p:sp>
      <p:sp>
        <p:nvSpPr>
          <p:cNvPr id="38" name="Down Arrow 37"/>
          <p:cNvSpPr/>
          <p:nvPr/>
        </p:nvSpPr>
        <p:spPr>
          <a:xfrm>
            <a:off x="8778240" y="3776472"/>
            <a:ext cx="320040" cy="201168"/>
          </a:xfrm>
          <a:prstGeom prst="downArrow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6858000" y="3831336"/>
            <a:ext cx="4480560" cy="530352"/>
          </a:xfrm>
          <a:prstGeom prst="roundRect">
            <a:avLst/>
          </a:prstGeom>
          <a:solidFill>
            <a:srgbClr val="1E3A8A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Excel test plan (Jira attachment)</a:t>
            </a:r>
          </a:p>
        </p:txBody>
      </p:sp>
      <p:sp>
        <p:nvSpPr>
          <p:cNvPr id="40" name="Down Arrow 39"/>
          <p:cNvSpPr/>
          <p:nvPr/>
        </p:nvSpPr>
        <p:spPr>
          <a:xfrm>
            <a:off x="8778240" y="4489704"/>
            <a:ext cx="320040" cy="201168"/>
          </a:xfrm>
          <a:prstGeom prst="downArrow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6858000" y="4544568"/>
            <a:ext cx="4480560" cy="530352"/>
          </a:xfrm>
          <a:prstGeom prst="roundRect">
            <a:avLst/>
          </a:prstGeom>
          <a:solidFill>
            <a:srgbClr val="1E3A8A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HTML readiness report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327648"/>
            <a:ext cx="12191695" cy="182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40080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94A3B8"/>
                </a:solidFill>
                <a:latin typeface="Calibri"/>
              </a:defRPr>
            </a:pPr>
            <a:r>
              <a:t>©LTM  |  Privileged and Confidential  |  MSC Dev Code and QA Test Coverage Validator  |  Developed by Mayur Gunjal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40080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94A3B8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5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92608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4066C"/>
                </a:solidFill>
                <a:latin typeface="Calibri"/>
              </a:defRPr>
            </a:pPr>
            <a:r>
              <a:t>Executive summary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804672"/>
            <a:ext cx="10972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94A3B8"/>
                </a:solidFill>
                <a:latin typeface="Calibri"/>
              </a:defRPr>
            </a:pPr>
            <a:r>
              <a:t>One automated readiness view before every MSC release sign-off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234440"/>
            <a:ext cx="3611880" cy="457200"/>
          </a:xfrm>
          <a:prstGeom prst="roundRect">
            <a:avLst/>
          </a:prstGeom>
          <a:solidFill>
            <a:srgbClr val="FF5E4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Problem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" y="1783080"/>
            <a:ext cx="33832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334155"/>
                </a:solidFill>
                <a:latin typeface="Calibri"/>
              </a:defRPr>
            </a:pPr>
            <a:r>
              <a:t>Jira, GitHub, and attached Excel test plans live in silos — release reviews lack a single evidence trail.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1234440"/>
            <a:ext cx="3611880" cy="457200"/>
          </a:xfrm>
          <a:prstGeom prst="round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Solution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07408" y="1783080"/>
            <a:ext cx="33832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334155"/>
                </a:solidFill>
                <a:latin typeface="Calibri"/>
              </a:defRPr>
            </a:pPr>
            <a:r>
              <a:t>Cursor subagent correlates Jira AC + Confluence LADR requirements → code → dev tests → QA plan → verdict.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92440" y="1234440"/>
            <a:ext cx="3611880" cy="457200"/>
          </a:xfrm>
          <a:prstGeom prst="roundRect">
            <a:avLst/>
          </a:prstGeom>
          <a:solidFill>
            <a:srgbClr val="009688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Outcome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02168" y="1783080"/>
            <a:ext cx="33832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334155"/>
                </a:solidFill>
                <a:latin typeface="Calibri"/>
              </a:defRPr>
            </a:pPr>
            <a:r>
              <a:t>Leadership opens a timestamped HTML report with 8 quantified metrics and clear QA handoff.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520440"/>
            <a:ext cx="2697480" cy="1417320"/>
          </a:xfrm>
          <a:prstGeom prst="roundRect">
            <a:avLst/>
          </a:prstGeom>
          <a:solidFill>
            <a:srgbClr val="FFEDEA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657600"/>
            <a:ext cx="2514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FF5E4F"/>
                </a:solidFill>
                <a:latin typeface="Calibri"/>
              </a:defRPr>
            </a:pPr>
            <a:r>
              <a:t>~35–40%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6072" y="4178808"/>
            <a:ext cx="2551176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FF5E4F"/>
                </a:solidFill>
                <a:latin typeface="Calibri"/>
              </a:defRPr>
            </a:pPr>
            <a:r>
              <a:t>Faster triage vs manual traceability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6072" y="4553712"/>
            <a:ext cx="255117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FF5E4F"/>
                </a:solidFill>
                <a:latin typeface="Calibri"/>
              </a:defRPr>
            </a:pPr>
            <a:r>
              <a:t>Per validator run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355848" y="3520440"/>
            <a:ext cx="2697480" cy="1417320"/>
          </a:xfrm>
          <a:prstGeom prst="roundRect">
            <a:avLst/>
          </a:prstGeom>
          <a:solidFill>
            <a:srgbClr val="E8F0FE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447288" y="3657600"/>
            <a:ext cx="2514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04066C"/>
                </a:solidFill>
                <a:latin typeface="Calibri"/>
              </a:defRPr>
            </a:pPr>
            <a:r>
              <a:t>100%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29000" y="4178808"/>
            <a:ext cx="2551176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04066C"/>
                </a:solidFill>
                <a:latin typeface="Calibri"/>
              </a:defRPr>
            </a:pPr>
            <a:r>
              <a:t>AC-to-evidence mapping per run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29000" y="4553712"/>
            <a:ext cx="255117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04066C"/>
                </a:solidFill>
                <a:latin typeface="Calibri"/>
              </a:defRPr>
            </a:pPr>
            <a:r>
              <a:t>Per validator run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08776" y="3520440"/>
            <a:ext cx="2697480" cy="1417320"/>
          </a:xfrm>
          <a:prstGeom prst="roundRect">
            <a:avLst/>
          </a:prstGeom>
          <a:solidFill>
            <a:srgbClr val="FFF8E1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0216" y="3657600"/>
            <a:ext cx="2514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D49A00"/>
                </a:solidFill>
                <a:latin typeface="Calibri"/>
              </a:defRPr>
            </a:pPr>
            <a:r>
              <a:t>Pass / Gaps / Fail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81928" y="4178808"/>
            <a:ext cx="2551176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D49A00"/>
                </a:solidFill>
                <a:latin typeface="Calibri"/>
              </a:defRPr>
            </a:pPr>
            <a:r>
              <a:t>Explicit release verdict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81928" y="4553712"/>
            <a:ext cx="255117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D49A00"/>
                </a:solidFill>
                <a:latin typeface="Calibri"/>
              </a:defRPr>
            </a:pPr>
            <a:r>
              <a:t>Per validator run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61704" y="3520440"/>
            <a:ext cx="2697480" cy="1417320"/>
          </a:xfrm>
          <a:prstGeom prst="roundRect">
            <a:avLst/>
          </a:prstGeom>
          <a:solidFill>
            <a:srgbClr val="DCFCE7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53144" y="3657600"/>
            <a:ext cx="2514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16A34A"/>
                </a:solidFill>
                <a:latin typeface="Calibri"/>
              </a:defRPr>
            </a:pPr>
            <a:r>
              <a:t>Audit-ready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34856" y="4178808"/>
            <a:ext cx="2551176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16A34A"/>
                </a:solidFill>
                <a:latin typeface="Calibri"/>
              </a:defRPr>
            </a:pPr>
            <a:r>
              <a:t>Shareable HTML artifact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34856" y="4553712"/>
            <a:ext cx="255117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16A34A"/>
                </a:solidFill>
                <a:latin typeface="Calibri"/>
              </a:defRPr>
            </a:pPr>
            <a:r>
              <a:t>Per validator run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02920" y="5166360"/>
            <a:ext cx="11155680" cy="777240"/>
          </a:xfrm>
          <a:prstGeom prst="roundRect">
            <a:avLst/>
          </a:prstGeom>
          <a:solidFill>
            <a:srgbClr val="F2F2F2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5285232"/>
            <a:ext cx="10789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>
                <a:solidFill>
                  <a:srgbClr val="04066C"/>
                </a:solidFill>
                <a:latin typeface="Calibri"/>
              </a:defRPr>
            </a:pPr>
            <a:r>
              <a:t>"We no longer ask five people whether the PR, unit tests, and Jira test plan align — the validator answers that in one report." — MSC QA lead workflow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406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686800" y="1097280"/>
            <a:ext cx="4114800" cy="4114800"/>
          </a:xfrm>
          <a:prstGeom prst="ellipse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828800"/>
            <a:ext cx="1828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200" b="1">
                <a:solidFill>
                  <a:srgbClr val="FFC000"/>
                </a:solidFill>
                <a:latin typeface="Calibri"/>
              </a:defRPr>
            </a:pPr>
            <a: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926080"/>
            <a:ext cx="91440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Calibri"/>
              </a:defRPr>
            </a:pPr>
            <a:r>
              <a:t>The challenge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977639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BFDBFE"/>
                </a:solidFill>
                <a:latin typeface="Calibri"/>
              </a:defRPr>
            </a:pPr>
            <a:r>
              <a:t>Why fragmented Jira · GitHub · Excel test plans blocks confident releases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327648"/>
            <a:ext cx="12191695" cy="182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94A3B8"/>
                </a:solidFill>
                <a:latin typeface="Calibri"/>
              </a:defRPr>
            </a:pPr>
            <a:r>
              <a:t>©LTM  |  Privileged and Confidential  |  MSC Dev Code and QA Test Coverage Validator  |  Developed by Mayur Gunjal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0080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94A3B8"/>
                </a:solidFill>
                <a:latin typeface="Calibri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327648"/>
            <a:ext cx="12191695" cy="182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40080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94A3B8"/>
                </a:solidFill>
                <a:latin typeface="Calibri"/>
              </a:defRPr>
            </a:pPr>
            <a:r>
              <a:t>©LTM  |  Privileged and Confidential  |  MSC Dev Code and QA Test Coverage Validator  |  Developed by Mayur Gunjal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40080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94A3B8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5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92608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4066C"/>
                </a:solidFill>
                <a:latin typeface="Calibri"/>
              </a:defRPr>
            </a:pPr>
            <a:r>
              <a:t>The challenge — three silos, zero single 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804672"/>
            <a:ext cx="10972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94A3B8"/>
                </a:solidFill>
                <a:latin typeface="Calibri"/>
              </a:defRPr>
            </a:pPr>
            <a:r>
              <a:t>Manual traceability before release is slow, inconsistent, and error-prone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25880"/>
            <a:ext cx="3520440" cy="2926080"/>
          </a:xfrm>
          <a:prstGeom prst="roundRect">
            <a:avLst/>
          </a:prstGeom>
          <a:solidFill>
            <a:srgbClr val="E8F0FE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920240" y="1600200"/>
            <a:ext cx="868680" cy="868680"/>
          </a:xfrm>
          <a:prstGeom prst="ellipse">
            <a:avLst/>
          </a:prstGeom>
          <a:solidFill>
            <a:srgbClr val="0406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J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606040"/>
            <a:ext cx="35204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1A1A1A"/>
                </a:solidFill>
                <a:latin typeface="Calibri"/>
              </a:defRPr>
            </a:pPr>
            <a:r>
              <a:t>Jira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063240"/>
            <a:ext cx="31546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334155"/>
                </a:solidFill>
                <a:latin typeface="Calibri"/>
              </a:defRPr>
            </a:pPr>
            <a:r>
              <a:t>Acceptance criteria,</a:t>
            </a:r>
          </a:p>
          <a:p>
            <a:r>
              <a:t>story status, attachments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9120" y="1325880"/>
            <a:ext cx="3520440" cy="2926080"/>
          </a:xfrm>
          <a:prstGeom prst="roundRect">
            <a:avLst/>
          </a:prstGeom>
          <a:solidFill>
            <a:srgbClr val="FFF8E1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715000" y="1600200"/>
            <a:ext cx="868680" cy="868680"/>
          </a:xfrm>
          <a:prstGeom prst="ellipse">
            <a:avLst/>
          </a:prstGeom>
          <a:solidFill>
            <a:srgbClr val="D4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GH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9120" y="2606040"/>
            <a:ext cx="35204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1A1A1A"/>
                </a:solidFill>
                <a:latin typeface="Calibri"/>
              </a:defRPr>
            </a:pPr>
            <a:r>
              <a:t>GitHub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3063240"/>
            <a:ext cx="31546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334155"/>
                </a:solidFill>
                <a:latin typeface="Calibri"/>
              </a:defRPr>
            </a:pPr>
            <a:r>
              <a:t>PR diffs, checks,</a:t>
            </a:r>
          </a:p>
          <a:p>
            <a:r>
              <a:t>unit/integration tests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83880" y="1325880"/>
            <a:ext cx="3520440" cy="2926080"/>
          </a:xfrm>
          <a:prstGeom prst="roundRect">
            <a:avLst/>
          </a:prstGeom>
          <a:solidFill>
            <a:srgbClr val="FFEDEA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509760" y="1600200"/>
            <a:ext cx="868680" cy="868680"/>
          </a:xfrm>
          <a:prstGeom prst="ellipse">
            <a:avLst/>
          </a:prstGeom>
          <a:solidFill>
            <a:srgbClr val="FF5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XL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83880" y="2606040"/>
            <a:ext cx="35204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1A1A1A"/>
                </a:solidFill>
                <a:latin typeface="Calibri"/>
              </a:defRPr>
            </a:pPr>
            <a:r>
              <a:t>Excel test plan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3063240"/>
            <a:ext cx="31546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334155"/>
                </a:solidFill>
                <a:latin typeface="Calibri"/>
              </a:defRPr>
            </a:pPr>
            <a:r>
              <a:t>Jira attachment ·</a:t>
            </a:r>
          </a:p>
          <a:p>
            <a:r>
              <a:t>Given/When/Then · Mascot links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94360" y="4572000"/>
            <a:ext cx="2697480" cy="502920"/>
          </a:xfrm>
          <a:prstGeom prst="roundRect">
            <a:avLst/>
          </a:prstGeom>
          <a:solidFill>
            <a:srgbClr val="FEE2E2"/>
          </a:solidFill>
          <a:ln w="63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DC2626"/>
                </a:solidFill>
                <a:latin typeface="Calibri"/>
              </a:defRPr>
            </a:pPr>
            <a:r>
              <a:t>Duplicate QA/dev effort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447288" y="4572000"/>
            <a:ext cx="2697480" cy="502920"/>
          </a:xfrm>
          <a:prstGeom prst="roundRect">
            <a:avLst/>
          </a:prstGeom>
          <a:solidFill>
            <a:srgbClr val="FEE2E2"/>
          </a:solidFill>
          <a:ln w="63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DC2626"/>
                </a:solidFill>
                <a:latin typeface="Calibri"/>
              </a:defRPr>
            </a:pPr>
            <a:r>
              <a:t>Missed E2E handoffs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300216" y="4572000"/>
            <a:ext cx="2697480" cy="502920"/>
          </a:xfrm>
          <a:prstGeom prst="roundRect">
            <a:avLst/>
          </a:prstGeom>
          <a:solidFill>
            <a:srgbClr val="FEE2E2"/>
          </a:solidFill>
          <a:ln w="63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DC2626"/>
                </a:solidFill>
                <a:latin typeface="Calibri"/>
              </a:defRPr>
            </a:pPr>
            <a:r>
              <a:t>Tribal release knowledge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153144" y="4572000"/>
            <a:ext cx="2697480" cy="502920"/>
          </a:xfrm>
          <a:prstGeom prst="roundRect">
            <a:avLst/>
          </a:prstGeom>
          <a:solidFill>
            <a:srgbClr val="FEE2E2"/>
          </a:solidFill>
          <a:ln w="63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DC2626"/>
                </a:solidFill>
                <a:latin typeface="Calibri"/>
              </a:defRPr>
            </a:pPr>
            <a:r>
              <a:t>Weak test-plan ↔ AC mapping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5257800"/>
            <a:ext cx="11155680" cy="685800"/>
          </a:xfrm>
          <a:prstGeom prst="roundRect">
            <a:avLst/>
          </a:prstGeom>
          <a:solidFill>
            <a:srgbClr val="04066C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5394960"/>
            <a:ext cx="10789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Calibri"/>
              </a:defRPr>
            </a:pPr>
            <a:r>
              <a:t>→  MSC Dev Code and QA Test Coverage Validator unifies all three into one HTML readiness report with numbered recommended actions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327648"/>
            <a:ext cx="12191695" cy="182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40080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94A3B8"/>
                </a:solidFill>
                <a:latin typeface="Calibri"/>
              </a:defRPr>
            </a:pPr>
            <a:r>
              <a:t>©LTM  |  Privileged and Confidential  |  MSC Dev Code and QA Test Coverage Validator  |  Developed by Mayur Gunjal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40080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94A3B8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5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92608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4066C"/>
                </a:solidFill>
                <a:latin typeface="Calibri"/>
              </a:defRPr>
            </a:pPr>
            <a:r>
              <a:t>Idea Generation — Cursor AI subagent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804672"/>
            <a:ext cx="10972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94A3B8"/>
                </a:solidFill>
                <a:latin typeface="Calibri"/>
              </a:defRPr>
            </a:pPr>
            <a:r>
              <a:t>Completed · Pegasus QA Agents Lab · Gen AI transformation journey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234440"/>
            <a:ext cx="3611880" cy="438912"/>
          </a:xfrm>
          <a:prstGeom prst="round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Fragmented readiness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673352"/>
            <a:ext cx="3611880" cy="3977639"/>
          </a:xfrm>
          <a:prstGeom prst="roundRect">
            <a:avLst/>
          </a:prstGeom>
          <a:solidFill>
            <a:srgbClr val="F2F2F2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2648" y="1783080"/>
            <a:ext cx="3392424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04066C"/>
                </a:solidFill>
                <a:latin typeface="Calibri"/>
              </a:defRPr>
            </a:pPr>
            <a:r>
              <a:t>Problem Statement:</a:t>
            </a:r>
          </a:p>
          <a:p>
            <a:pPr>
              <a:spcAft>
                <a:spcPts val="400"/>
              </a:spcAft>
              <a:defRPr sz="1000">
                <a:solidFill>
                  <a:srgbClr val="334155"/>
                </a:solidFill>
                <a:latin typeface="Calibri"/>
              </a:defRPr>
            </a:pPr>
            <a:r>
              <a:t>• AC in Jira, code in GitHub, test plans in Jira Excel attachments — no single view</a:t>
            </a:r>
          </a:p>
          <a:p>
            <a:pPr>
              <a:spcAft>
                <a:spcPts val="400"/>
              </a:spcAft>
              <a:defRPr sz="1000">
                <a:solidFill>
                  <a:srgbClr val="334155"/>
                </a:solidFill>
                <a:latin typeface="Calibri"/>
              </a:defRPr>
            </a:pPr>
            <a:r>
              <a:t>• Release reviews depend on tribal knowledge</a:t>
            </a:r>
          </a:p>
          <a:p>
            <a:pPr>
              <a:spcAft>
                <a:spcPts val="400"/>
              </a:spcAft>
              <a:defRPr sz="1000">
                <a:solidFill>
                  <a:srgbClr val="334155"/>
                </a:solidFill>
                <a:latin typeface="Calibri"/>
              </a:defRPr>
            </a:pPr>
            <a:r>
              <a:t>• Manual traceability is slow before sign-off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5440680"/>
            <a:ext cx="834390" cy="201168"/>
          </a:xfrm>
          <a:prstGeom prst="roundRect">
            <a:avLst/>
          </a:prstGeom>
          <a:solidFill>
            <a:srgbClr val="7474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Ideation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428750" y="5440680"/>
            <a:ext cx="834390" cy="201168"/>
          </a:xfrm>
          <a:prstGeom prst="roundRect">
            <a:avLst/>
          </a:prstGeom>
          <a:solidFill>
            <a:srgbClr val="7474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Pilot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308860" y="5440680"/>
            <a:ext cx="834390" cy="201168"/>
          </a:xfrm>
          <a:prstGeom prst="roundRect">
            <a:avLst/>
          </a:prstGeom>
          <a:solidFill>
            <a:srgbClr val="7474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Implementation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188970" y="5440680"/>
            <a:ext cx="834390" cy="201168"/>
          </a:xfrm>
          <a:prstGeom prst="round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Completed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15968" y="1234440"/>
            <a:ext cx="3611880" cy="438912"/>
          </a:xfrm>
          <a:prstGeom prst="roundRect">
            <a:avLst/>
          </a:prstGeom>
          <a:solidFill>
            <a:srgbClr val="FFC000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Unified validator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15968" y="1673352"/>
            <a:ext cx="3611880" cy="3977639"/>
          </a:xfrm>
          <a:prstGeom prst="roundRect">
            <a:avLst/>
          </a:prstGeom>
          <a:solidFill>
            <a:srgbClr val="F2F2F2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25696" y="1783080"/>
            <a:ext cx="3392424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04066C"/>
                </a:solidFill>
                <a:latin typeface="Calibri"/>
              </a:defRPr>
            </a:pPr>
            <a:r>
              <a:t>Solution:</a:t>
            </a:r>
          </a:p>
          <a:p>
            <a:pPr>
              <a:spcAft>
                <a:spcPts val="400"/>
              </a:spcAft>
              <a:defRPr sz="1000">
                <a:solidFill>
                  <a:srgbClr val="334155"/>
                </a:solidFill>
                <a:latin typeface="Calibri"/>
              </a:defRPr>
            </a:pPr>
            <a:r>
              <a:t>• /msc-dev-code-and-qa-test-coverage-validator {KEY}</a:t>
            </a:r>
          </a:p>
          <a:p>
            <a:pPr>
              <a:spcAft>
                <a:spcPts val="400"/>
              </a:spcAft>
              <a:defRPr sz="1000">
                <a:solidFill>
                  <a:srgbClr val="334155"/>
                </a:solidFill>
                <a:latin typeface="Calibri"/>
              </a:defRPr>
            </a:pPr>
            <a:r>
              <a:t>• One batch: Jira + Confluence LADR (if linked) + PR(s) + Excel test plan</a:t>
            </a:r>
          </a:p>
          <a:p>
            <a:pPr>
              <a:spcAft>
                <a:spcPts val="400"/>
              </a:spcAft>
              <a:defRPr sz="1000">
                <a:solidFill>
                  <a:srgbClr val="334155"/>
                </a:solidFill>
                <a:latin typeface="Calibri"/>
              </a:defRPr>
            </a:pPr>
            <a:r>
              <a:t>• Maps Jira AC + Confluence LADR requirements → code → dev tests → QA scope</a:t>
            </a:r>
          </a:p>
          <a:p>
            <a:pPr>
              <a:spcAft>
                <a:spcPts val="400"/>
              </a:spcAft>
              <a:defRPr sz="1000">
                <a:solidFill>
                  <a:srgbClr val="334155"/>
                </a:solidFill>
                <a:latin typeface="Calibri"/>
              </a:defRPr>
            </a:pPr>
            <a:r>
              <a:t>• HTML report + Pass / Pass with gaps / Fail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61688" y="5440680"/>
            <a:ext cx="834390" cy="201168"/>
          </a:xfrm>
          <a:prstGeom prst="roundRect">
            <a:avLst/>
          </a:prstGeom>
          <a:solidFill>
            <a:srgbClr val="7474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Ideation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241798" y="5440680"/>
            <a:ext cx="834390" cy="201168"/>
          </a:xfrm>
          <a:prstGeom prst="roundRect">
            <a:avLst/>
          </a:prstGeom>
          <a:solidFill>
            <a:srgbClr val="7474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Pilot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21908" y="5440680"/>
            <a:ext cx="834390" cy="201168"/>
          </a:xfrm>
          <a:prstGeom prst="roundRect">
            <a:avLst/>
          </a:prstGeom>
          <a:solidFill>
            <a:srgbClr val="7474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Implementation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002018" y="5440680"/>
            <a:ext cx="834390" cy="201168"/>
          </a:xfrm>
          <a:prstGeom prst="round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Completed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29016" y="1234440"/>
            <a:ext cx="3611880" cy="438912"/>
          </a:xfrm>
          <a:prstGeom prst="round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Leadership evidence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29016" y="1673352"/>
            <a:ext cx="3611880" cy="3977639"/>
          </a:xfrm>
          <a:prstGeom prst="roundRect">
            <a:avLst/>
          </a:prstGeom>
          <a:solidFill>
            <a:srgbClr val="F2F2F2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38744" y="1783080"/>
            <a:ext cx="3392424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04066C"/>
                </a:solidFill>
                <a:latin typeface="Calibri"/>
              </a:defRPr>
            </a:pPr>
            <a:r>
              <a:t>Benefits:</a:t>
            </a:r>
          </a:p>
          <a:p>
            <a:pPr>
              <a:spcAft>
                <a:spcPts val="400"/>
              </a:spcAft>
              <a:defRPr sz="1000">
                <a:solidFill>
                  <a:srgbClr val="334155"/>
                </a:solidFill>
                <a:latin typeface="Calibri"/>
              </a:defRPr>
            </a:pPr>
            <a:r>
              <a:t>• 8 quantified metric cards</a:t>
            </a:r>
          </a:p>
          <a:p>
            <a:pPr>
              <a:spcAft>
                <a:spcPts val="400"/>
              </a:spcAft>
              <a:defRPr sz="1000">
                <a:solidFill>
                  <a:srgbClr val="334155"/>
                </a:solidFill>
                <a:latin typeface="Calibri"/>
              </a:defRPr>
            </a:pPr>
            <a:r>
              <a:t>• Dev vs QA ownership made explicit</a:t>
            </a:r>
          </a:p>
          <a:p>
            <a:pPr>
              <a:spcAft>
                <a:spcPts val="400"/>
              </a:spcAft>
              <a:defRPr sz="1000">
                <a:solidFill>
                  <a:srgbClr val="334155"/>
                </a:solidFill>
                <a:latin typeface="Calibri"/>
              </a:defRPr>
            </a:pPr>
            <a:r>
              <a:t>• Mascot + Given/When/Then test-plan validation</a:t>
            </a:r>
          </a:p>
          <a:p>
            <a:pPr>
              <a:spcAft>
                <a:spcPts val="400"/>
              </a:spcAft>
              <a:defRPr sz="1000">
                <a:solidFill>
                  <a:srgbClr val="334155"/>
                </a:solidFill>
                <a:latin typeface="Calibri"/>
              </a:defRPr>
            </a:pPr>
            <a:r>
              <a:t>• Audit-friendly downloadable artifact</a:t>
            </a:r>
          </a:p>
          <a:p>
            <a:pPr>
              <a:spcAft>
                <a:spcPts val="400"/>
              </a:spcAft>
              <a:defRPr sz="1000">
                <a:solidFill>
                  <a:srgbClr val="334155"/>
                </a:solidFill>
                <a:latin typeface="Calibri"/>
              </a:defRPr>
            </a:pPr>
            <a:r>
              <a:t>• Developed by Mayur Gunjal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74736" y="5440680"/>
            <a:ext cx="834390" cy="201168"/>
          </a:xfrm>
          <a:prstGeom prst="roundRect">
            <a:avLst/>
          </a:prstGeom>
          <a:solidFill>
            <a:srgbClr val="7474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Ideation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54846" y="5440680"/>
            <a:ext cx="834390" cy="201168"/>
          </a:xfrm>
          <a:prstGeom prst="roundRect">
            <a:avLst/>
          </a:prstGeom>
          <a:solidFill>
            <a:srgbClr val="7474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Pilot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934956" y="5440680"/>
            <a:ext cx="834390" cy="201168"/>
          </a:xfrm>
          <a:prstGeom prst="roundRect">
            <a:avLst/>
          </a:prstGeom>
          <a:solidFill>
            <a:srgbClr val="7474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Implementation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815066" y="5440680"/>
            <a:ext cx="834390" cy="201168"/>
          </a:xfrm>
          <a:prstGeom prst="round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Completed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406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686800" y="1097280"/>
            <a:ext cx="4114800" cy="4114800"/>
          </a:xfrm>
          <a:prstGeom prst="ellipse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828800"/>
            <a:ext cx="1828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200" b="1">
                <a:solidFill>
                  <a:srgbClr val="FFC000"/>
                </a:solidFill>
                <a:latin typeface="Calibri"/>
              </a:defRPr>
            </a:pPr>
            <a: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926080"/>
            <a:ext cx="91440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Calibri"/>
              </a:defRPr>
            </a:pPr>
            <a:r>
              <a:t>The solution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977639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BFDBFE"/>
                </a:solidFill>
                <a:latin typeface="Calibri"/>
              </a:defRPr>
            </a:pPr>
            <a:r>
              <a:t>Cursor subagent · automated workflow · solution architecture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327648"/>
            <a:ext cx="12191695" cy="182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94A3B8"/>
                </a:solidFill>
                <a:latin typeface="Calibri"/>
              </a:defRPr>
            </a:pPr>
            <a:r>
              <a:t>©LTM  |  Privileged and Confidential  |  MSC Dev Code and QA Test Coverage Validator  |  Developed by Mayur Gunjal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0080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94A3B8"/>
                </a:solidFill>
                <a:latin typeface="Calibri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327648"/>
            <a:ext cx="12191695" cy="182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40080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94A3B8"/>
                </a:solidFill>
                <a:latin typeface="Calibri"/>
              </a:defRPr>
            </a:pPr>
            <a:r>
              <a:t>©LTM  |  Privileged and Confidential  |  MSC Dev Code and QA Test Coverage Validator  |  Developed by Mayur Gunjal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40080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94A3B8"/>
                </a:solidFill>
                <a:latin typeface="Calibri"/>
              </a:defRPr>
            </a:pPr>
            <a:r>
              <a:t>7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5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92608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4066C"/>
                </a:solidFill>
                <a:latin typeface="Calibri"/>
              </a:defRPr>
            </a:pPr>
            <a:r>
              <a:t>Who uses it — four personas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804672"/>
            <a:ext cx="10972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94A3B8"/>
                </a:solidFill>
                <a:latin typeface="Calibri"/>
              </a:defRPr>
            </a:pPr>
            <a:r>
              <a:t>Same command, role-specific value from one HTML report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280160"/>
            <a:ext cx="2697480" cy="4389120"/>
          </a:xfrm>
          <a:prstGeom prst="roundRect">
            <a:avLst/>
          </a:prstGeom>
          <a:solidFill>
            <a:srgbClr val="E8F0FE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17320" y="1508760"/>
            <a:ext cx="868680" cy="868680"/>
          </a:xfrm>
          <a:prstGeom prst="ellipse">
            <a:avLst/>
          </a:prstGeom>
          <a:solidFill>
            <a:srgbClr val="0406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Q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514600"/>
            <a:ext cx="2423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1A1A1A"/>
                </a:solidFill>
                <a:latin typeface="Calibri"/>
              </a:defRPr>
            </a:pPr>
            <a:r>
              <a:t>QA Lead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880360"/>
            <a:ext cx="2423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0">
                <a:solidFill>
                  <a:srgbClr val="334155"/>
                </a:solidFill>
                <a:latin typeface="Calibri"/>
              </a:defRPr>
            </a:pPr>
            <a:r>
              <a:t>Pre-release readiness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246120"/>
            <a:ext cx="2423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0">
                <a:solidFill>
                  <a:srgbClr val="334155"/>
                </a:solidFill>
                <a:latin typeface="Calibri"/>
              </a:defRPr>
            </a:pPr>
            <a:r>
              <a:t>In QA / Ready for Release stories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840480"/>
            <a:ext cx="2423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1A1A1A"/>
                </a:solidFill>
                <a:latin typeface="Calibri"/>
              </a:defRPr>
            </a:pPr>
            <a:r>
              <a:t>QA scope %, test plan gaps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55848" y="1280160"/>
            <a:ext cx="2697480" cy="4389120"/>
          </a:xfrm>
          <a:prstGeom prst="roundRect">
            <a:avLst/>
          </a:prstGeom>
          <a:solidFill>
            <a:srgbClr val="FFF8E1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270248" y="1508760"/>
            <a:ext cx="868680" cy="868680"/>
          </a:xfrm>
          <a:prstGeom prst="ellipse">
            <a:avLst/>
          </a:prstGeom>
          <a:solidFill>
            <a:srgbClr val="D4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93008" y="2514600"/>
            <a:ext cx="2423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1A1A1A"/>
                </a:solidFill>
                <a:latin typeface="Calibri"/>
              </a:defRPr>
            </a:pPr>
            <a:r>
              <a:t>Developer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93008" y="2880360"/>
            <a:ext cx="2423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0">
                <a:solidFill>
                  <a:srgbClr val="334155"/>
                </a:solidFill>
                <a:latin typeface="Calibri"/>
              </a:defRPr>
            </a:pPr>
            <a:r>
              <a:t>Merge confidence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93008" y="3246120"/>
            <a:ext cx="2423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0">
                <a:solidFill>
                  <a:srgbClr val="334155"/>
                </a:solidFill>
                <a:latin typeface="Calibri"/>
              </a:defRPr>
            </a:pPr>
            <a:r>
              <a:t>Dev-owned AC + unit tests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93008" y="3840480"/>
            <a:ext cx="2423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1A1A1A"/>
                </a:solidFill>
                <a:latin typeface="Calibri"/>
              </a:defRPr>
            </a:pPr>
            <a:r>
              <a:t>Code %, dev test evidence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08776" y="1280160"/>
            <a:ext cx="2697480" cy="4389120"/>
          </a:xfrm>
          <a:prstGeom prst="roundRect">
            <a:avLst/>
          </a:prstGeom>
          <a:solidFill>
            <a:srgbClr val="FFEDEA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123176" y="1508760"/>
            <a:ext cx="868680" cy="868680"/>
          </a:xfrm>
          <a:prstGeom prst="ellipse">
            <a:avLst/>
          </a:prstGeom>
          <a:solidFill>
            <a:srgbClr val="FF5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45936" y="2514600"/>
            <a:ext cx="2423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1A1A1A"/>
                </a:solidFill>
                <a:latin typeface="Calibri"/>
              </a:defRPr>
            </a:pPr>
            <a:r>
              <a:t>Release Mgr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45936" y="2880360"/>
            <a:ext cx="2423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0">
                <a:solidFill>
                  <a:srgbClr val="334155"/>
                </a:solidFill>
                <a:latin typeface="Calibri"/>
              </a:defRPr>
            </a:pPr>
            <a:r>
              <a:t>Go/no-go snapshot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45936" y="3246120"/>
            <a:ext cx="2423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0">
                <a:solidFill>
                  <a:srgbClr val="334155"/>
                </a:solidFill>
                <a:latin typeface="Calibri"/>
              </a:defRPr>
            </a:pPr>
            <a:r>
              <a:t>Verdict + open gaps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45936" y="3840480"/>
            <a:ext cx="2423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1A1A1A"/>
                </a:solidFill>
                <a:latin typeface="Calibri"/>
              </a:defRPr>
            </a:pPr>
            <a:r>
              <a:t>8 cards, recommended actions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61704" y="1280160"/>
            <a:ext cx="2697480" cy="4389120"/>
          </a:xfrm>
          <a:prstGeom prst="roundRect">
            <a:avLst/>
          </a:prstGeom>
          <a:solidFill>
            <a:srgbClr val="DCFCE7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976104" y="1508760"/>
            <a:ext cx="868680" cy="868680"/>
          </a:xfrm>
          <a:prstGeom prst="ellipse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98864" y="2514600"/>
            <a:ext cx="2423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1A1A1A"/>
                </a:solidFill>
                <a:latin typeface="Calibri"/>
              </a:defRPr>
            </a:pPr>
            <a:r>
              <a:t>Test Designer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98864" y="2880360"/>
            <a:ext cx="2423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0">
                <a:solidFill>
                  <a:srgbClr val="334155"/>
                </a:solidFill>
                <a:latin typeface="Calibri"/>
              </a:defRPr>
            </a:pPr>
            <a:r>
              <a:t>Plan alignment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98864" y="3246120"/>
            <a:ext cx="2423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0">
                <a:solidFill>
                  <a:srgbClr val="334155"/>
                </a:solidFill>
                <a:latin typeface="Calibri"/>
              </a:defRPr>
            </a:pPr>
            <a:r>
              <a:t>Excel plan vs Jira AC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98864" y="3840480"/>
            <a:ext cx="2423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1A1A1A"/>
                </a:solidFill>
                <a:latin typeface="Calibri"/>
              </a:defRPr>
            </a:pPr>
            <a:r>
              <a:t>Given/When/Then quality, Mascot links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286000" y="5806440"/>
            <a:ext cx="7589520" cy="457200"/>
          </a:xfrm>
          <a:prstGeom prst="roundRect">
            <a:avLst/>
          </a:prstGeom>
          <a:solidFill>
            <a:srgbClr val="1A1A1A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23160" y="5870448"/>
            <a:ext cx="73152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FFC000"/>
                </a:solidFill>
                <a:latin typeface="Consolas"/>
              </a:defRPr>
            </a:pPr>
            <a:r>
              <a:t>/msc-dev-code-and-qa-test-coverage-validator MSC-205625   ·   --from-cache --auto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327648"/>
            <a:ext cx="12191695" cy="182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40080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94A3B8"/>
                </a:solidFill>
                <a:latin typeface="Calibri"/>
              </a:defRPr>
            </a:pPr>
            <a:r>
              <a:t>©LTM  |  Privileged and Confidential  |  MSC Dev Code and QA Test Coverage Validator  |  Developed by Mayur Gunjal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40080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94A3B8"/>
                </a:solidFill>
                <a:latin typeface="Calibri"/>
              </a:defRPr>
            </a:pPr>
            <a:r>
              <a:t>8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5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92608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4066C"/>
                </a:solidFill>
                <a:latin typeface="Calibri"/>
              </a:defRPr>
            </a:pPr>
            <a:r>
              <a:t>Automated workflow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804672"/>
            <a:ext cx="10972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94A3B8"/>
                </a:solidFill>
                <a:latin typeface="Calibri"/>
              </a:defRPr>
            </a:pPr>
            <a:r>
              <a:t>End-to-end in ~2–5 minutes · Jira MCP + Confluence LADR + cached GitHub prefetch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0040" y="1417320"/>
            <a:ext cx="1783080" cy="2148840"/>
          </a:xfrm>
          <a:prstGeom prst="round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554480"/>
            <a:ext cx="457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C000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057400"/>
            <a:ext cx="1783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Jira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2514600"/>
            <a:ext cx="16002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BFDBFE"/>
                </a:solidFill>
                <a:latin typeface="Calibri"/>
              </a:defRPr>
            </a:pPr>
            <a:r>
              <a:t>Story, AC,</a:t>
            </a:r>
          </a:p>
          <a:p>
            <a:r>
              <a:t>attachments, LADR</a:t>
            </a:r>
          </a:p>
          <a:p>
            <a:r>
              <a:t>wiki links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2139696" y="2240280"/>
            <a:ext cx="201168" cy="320040"/>
          </a:xfrm>
          <a:prstGeom prst="rightArrow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267712" y="1417320"/>
            <a:ext cx="1783080" cy="2148840"/>
          </a:xfrm>
          <a:prstGeom prst="roundRect">
            <a:avLst/>
          </a:prstGeom>
          <a:solidFill>
            <a:srgbClr val="1E3A8A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404872" y="1554480"/>
            <a:ext cx="457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C000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67712" y="2057400"/>
            <a:ext cx="1783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Confluence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59152" y="2514600"/>
            <a:ext cx="16002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BFDBFE"/>
                </a:solidFill>
                <a:latin typeface="Calibri"/>
              </a:defRPr>
            </a:pPr>
            <a:r>
              <a:t>getConfluencePage</a:t>
            </a:r>
          </a:p>
          <a:p>
            <a:r>
              <a:t>LADR requirements</a:t>
            </a:r>
          </a:p>
          <a:p>
            <a:r>
              <a:t>L1…Ln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4087368" y="2240280"/>
            <a:ext cx="201168" cy="320040"/>
          </a:xfrm>
          <a:prstGeom prst="rightArrow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215384" y="1417320"/>
            <a:ext cx="1783080" cy="2148840"/>
          </a:xfrm>
          <a:prstGeom prst="round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52544" y="1554480"/>
            <a:ext cx="457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C000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15384" y="2057400"/>
            <a:ext cx="1783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Test plan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06824" y="2514600"/>
            <a:ext cx="16002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BFDBFE"/>
                </a:solidFill>
                <a:latin typeface="Calibri"/>
              </a:defRPr>
            </a:pPr>
            <a:r>
              <a:t>Excel xlsx,</a:t>
            </a:r>
          </a:p>
          <a:p>
            <a:r>
              <a:t>Given/When/Then,</a:t>
            </a:r>
          </a:p>
          <a:p>
            <a:r>
              <a:t>semantic map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6035040" y="2240280"/>
            <a:ext cx="201168" cy="320040"/>
          </a:xfrm>
          <a:prstGeom prst="rightArrow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163056" y="1417320"/>
            <a:ext cx="1783080" cy="2148840"/>
          </a:xfrm>
          <a:prstGeom prst="roundRect">
            <a:avLst/>
          </a:prstGeom>
          <a:solidFill>
            <a:srgbClr val="1E3A8A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0216" y="1554480"/>
            <a:ext cx="457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C000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63056" y="2057400"/>
            <a:ext cx="1783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GitHub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54496" y="2514600"/>
            <a:ext cx="16002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BFDBFE"/>
                </a:solidFill>
                <a:latin typeface="Calibri"/>
              </a:defRPr>
            </a:pPr>
            <a:r>
              <a:t>PR diff,</a:t>
            </a:r>
          </a:p>
          <a:p>
            <a:r>
              <a:t>checks, CI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7982712" y="2240280"/>
            <a:ext cx="201168" cy="320040"/>
          </a:xfrm>
          <a:prstGeom prst="rightArrow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110728" y="1417320"/>
            <a:ext cx="1783080" cy="2148840"/>
          </a:xfrm>
          <a:prstGeom prst="round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47888" y="1554480"/>
            <a:ext cx="457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C000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10728" y="2057400"/>
            <a:ext cx="1783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Map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02168" y="2514600"/>
            <a:ext cx="16002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BFDBFE"/>
                </a:solidFill>
                <a:latin typeface="Calibri"/>
              </a:defRPr>
            </a:pPr>
            <a:r>
              <a:t>R1…Rn +</a:t>
            </a:r>
          </a:p>
          <a:p>
            <a:r>
              <a:t>LADR → TCs</a:t>
            </a:r>
          </a:p>
        </p:txBody>
      </p:sp>
      <p:sp>
        <p:nvSpPr>
          <p:cNvPr id="32" name="Right Arrow 31"/>
          <p:cNvSpPr/>
          <p:nvPr/>
        </p:nvSpPr>
        <p:spPr>
          <a:xfrm>
            <a:off x="9930384" y="2240280"/>
            <a:ext cx="201168" cy="320040"/>
          </a:xfrm>
          <a:prstGeom prst="rightArrow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10058400" y="1417320"/>
            <a:ext cx="1783080" cy="2148840"/>
          </a:xfrm>
          <a:prstGeom prst="roundRect">
            <a:avLst/>
          </a:prstGeom>
          <a:solidFill>
            <a:srgbClr val="1E3A8A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195560" y="1554480"/>
            <a:ext cx="457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C000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58400" y="2057400"/>
            <a:ext cx="1783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Report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149840" y="2514600"/>
            <a:ext cx="16002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BFDBFE"/>
                </a:solidFill>
                <a:latin typeface="Calibri"/>
              </a:defRPr>
            </a:pPr>
            <a:r>
              <a:t>HTML + tooltips</a:t>
            </a:r>
          </a:p>
          <a:p>
            <a:r>
              <a:t>+ footer credit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02920" y="3886200"/>
            <a:ext cx="11155680" cy="1051560"/>
          </a:xfrm>
          <a:prstGeom prst="roundRect">
            <a:avLst/>
          </a:prstGeom>
          <a:solidFill>
            <a:srgbClr val="FFF8E1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85800" y="4023360"/>
            <a:ext cx="107899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334155"/>
                </a:solidFill>
                <a:latin typeface="Calibri"/>
              </a:defRPr>
            </a:pPr>
            <a:r>
              <a:t>Performance: reports/.cache/ stores Jira, Confluence LADR, test plan, and GitHub prefetch — reuse with --from-cache --auto. When Jira comments reference LADR or wiki URLs, fetch_confluence_requirements.py (or getConfluencePage MCP) merges Confluence LADR requirements with Jira AC before test plan scoring.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02920" y="5166360"/>
            <a:ext cx="3611880" cy="640080"/>
          </a:xfrm>
          <a:prstGeom prst="roundRect">
            <a:avLst/>
          </a:prstGeom>
          <a:solidFill>
            <a:srgbClr val="DCFCE7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16A34A"/>
                </a:solidFill>
                <a:latin typeface="Calibri"/>
              </a:defRPr>
            </a:pPr>
            <a:r>
              <a:t>Pass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297680" y="5166360"/>
            <a:ext cx="3611880" cy="640080"/>
          </a:xfrm>
          <a:prstGeom prst="roundRect">
            <a:avLst/>
          </a:prstGeom>
          <a:solidFill>
            <a:srgbClr val="FFEDD5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D97706"/>
                </a:solidFill>
                <a:latin typeface="Calibri"/>
              </a:defRPr>
            </a:pPr>
            <a:r>
              <a:t>Pass with gaps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092440" y="5166360"/>
            <a:ext cx="3611880" cy="640080"/>
          </a:xfrm>
          <a:prstGeom prst="roundRect">
            <a:avLst/>
          </a:prstGeom>
          <a:solidFill>
            <a:srgbClr val="FEE2E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DC2626"/>
                </a:solidFill>
                <a:latin typeface="Calibri"/>
              </a:defRPr>
            </a:pPr>
            <a:r>
              <a:t>Fail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327648"/>
            <a:ext cx="12191695" cy="182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40080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94A3B8"/>
                </a:solidFill>
                <a:latin typeface="Calibri"/>
              </a:defRPr>
            </a:pPr>
            <a:r>
              <a:t>©LTM  |  Privileged and Confidential  |  MSC Dev Code and QA Test Coverage Validator  |  Developed by Mayur Gunjal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40080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94A3B8"/>
                </a:solidFill>
                <a:latin typeface="Calibri"/>
              </a:defRPr>
            </a:pPr>
            <a:r>
              <a:t>9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5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92608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4066C"/>
                </a:solidFill>
                <a:latin typeface="Calibri"/>
              </a:defRPr>
            </a:pPr>
            <a:r>
              <a:t>Solution architecture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804672"/>
            <a:ext cx="10972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94A3B8"/>
                </a:solidFill>
                <a:latin typeface="Calibri"/>
              </a:defRPr>
            </a:pPr>
            <a:r>
              <a:t>Cursor IDE · Atlassian MCP · GitHub CLI · Python scripts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0" y="2606040"/>
            <a:ext cx="3017520" cy="1371600"/>
          </a:xfrm>
          <a:prstGeom prst="roundRect">
            <a:avLst/>
          </a:prstGeom>
          <a:solidFill>
            <a:srgbClr val="FF5E4F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Coverage</a:t>
            </a:r>
          </a:p>
          <a:p>
            <a:r>
              <a:t>Validator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286000"/>
            <a:ext cx="2286000" cy="1234440"/>
          </a:xfrm>
          <a:prstGeom prst="round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04066C"/>
                </a:solidFill>
                <a:latin typeface="Calibri"/>
              </a:defRPr>
            </a:pPr>
            <a:r>
              <a:t>Jira MCP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2103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334155"/>
                </a:solidFill>
                <a:latin typeface="Calibri"/>
              </a:defRPr>
            </a:pPr>
            <a:r>
              <a:t>getJiraIssue</a:t>
            </a:r>
          </a:p>
          <a:p>
            <a:r>
              <a:t>remote links</a:t>
            </a:r>
          </a:p>
          <a:p>
            <a:r>
              <a:t>LADR detection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783080" y="2907792"/>
            <a:ext cx="4297680" cy="338328"/>
          </a:xfrm>
          <a:prstGeom prst="line">
            <a:avLst/>
          </a:prstGeom>
          <a:ln w="31750">
            <a:solidFill>
              <a:srgbClr val="FFC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9326880" y="2286000"/>
            <a:ext cx="2286000" cy="1234440"/>
          </a:xfrm>
          <a:prstGeom prst="round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04066C"/>
                </a:solidFill>
                <a:latin typeface="Calibri"/>
              </a:defRPr>
            </a:pPr>
            <a:r>
              <a:t>GitHub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18320" y="2788920"/>
            <a:ext cx="2103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334155"/>
                </a:solidFill>
                <a:latin typeface="Calibri"/>
              </a:defRPr>
            </a:pPr>
            <a:r>
              <a:t>prefetch PR</a:t>
            </a:r>
          </a:p>
          <a:p>
            <a:r>
              <a:t>checks · diff</a:t>
            </a:r>
          </a:p>
        </p:txBody>
      </p:sp>
      <p:cxnSp>
        <p:nvCxnSpPr>
          <p:cNvPr id="14" name="Connector 13"/>
          <p:cNvCxnSpPr/>
          <p:nvPr/>
        </p:nvCxnSpPr>
        <p:spPr>
          <a:xfrm flipH="1">
            <a:off x="6080760" y="2907792"/>
            <a:ext cx="4389120" cy="338328"/>
          </a:xfrm>
          <a:prstGeom prst="line">
            <a:avLst/>
          </a:prstGeom>
          <a:ln w="31750">
            <a:solidFill>
              <a:srgbClr val="FFC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640080" y="4572000"/>
            <a:ext cx="2286000" cy="1234440"/>
          </a:xfrm>
          <a:prstGeom prst="round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04066C"/>
                </a:solidFill>
                <a:latin typeface="Calibri"/>
              </a:defRPr>
            </a:pPr>
            <a:r>
              <a:t>Confluence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5074920"/>
            <a:ext cx="2103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334155"/>
                </a:solidFill>
                <a:latin typeface="Calibri"/>
              </a:defRPr>
            </a:pPr>
            <a:r>
              <a:t>getConfluencePage</a:t>
            </a:r>
          </a:p>
          <a:p>
            <a:r>
              <a:t>fetch_confluence_</a:t>
            </a:r>
          </a:p>
          <a:p>
            <a:r>
              <a:t>requirements.py</a:t>
            </a:r>
          </a:p>
        </p:txBody>
      </p:sp>
      <p:cxnSp>
        <p:nvCxnSpPr>
          <p:cNvPr id="17" name="Connector 16"/>
          <p:cNvCxnSpPr/>
          <p:nvPr/>
        </p:nvCxnSpPr>
        <p:spPr>
          <a:xfrm flipV="1">
            <a:off x="1783080" y="3246120"/>
            <a:ext cx="4297680" cy="1947672"/>
          </a:xfrm>
          <a:prstGeom prst="line">
            <a:avLst/>
          </a:prstGeom>
          <a:ln w="31750">
            <a:solidFill>
              <a:srgbClr val="FFC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9326880" y="4572000"/>
            <a:ext cx="2286000" cy="1234440"/>
          </a:xfrm>
          <a:prstGeom prst="round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04066C"/>
                </a:solidFill>
                <a:latin typeface="Calibri"/>
              </a:defRPr>
            </a:pPr>
            <a:r>
              <a:t>HTML report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18320" y="5074920"/>
            <a:ext cx="2103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334155"/>
                </a:solidFill>
                <a:latin typeface="Calibri"/>
              </a:defRPr>
            </a:pPr>
            <a:r>
              <a:t>reports/</a:t>
            </a:r>
          </a:p>
          <a:p>
            <a:r>
              <a:t>{KEY}-…-IST.html</a:t>
            </a:r>
          </a:p>
        </p:txBody>
      </p:sp>
      <p:cxnSp>
        <p:nvCxnSpPr>
          <p:cNvPr id="20" name="Connector 19"/>
          <p:cNvCxnSpPr/>
          <p:nvPr/>
        </p:nvCxnSpPr>
        <p:spPr>
          <a:xfrm flipH="1" flipV="1">
            <a:off x="6080760" y="3246120"/>
            <a:ext cx="4389120" cy="1947672"/>
          </a:xfrm>
          <a:prstGeom prst="line">
            <a:avLst/>
          </a:prstGeom>
          <a:ln w="31750">
            <a:solidFill>
              <a:srgbClr val="FFC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502920" y="5897880"/>
            <a:ext cx="10972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Calibri"/>
              </a:defRPr>
            </a:pPr>
            <a:r>
              <a:t>Skill: .cursor/skills/msc-dev-code-and-qa-test-coverage-validator/  ·  fetch_jira_testplan.py merges Confluence LADR + Excel attachment  ·  Command: /msc-dev-code-and-qa-test-coverage-validator  ·  Developed by Mayur Gunjal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406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686800" y="1097280"/>
            <a:ext cx="4114800" cy="4114800"/>
          </a:xfrm>
          <a:prstGeom prst="ellipse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828800"/>
            <a:ext cx="1828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200" b="1">
                <a:solidFill>
                  <a:srgbClr val="FFC000"/>
                </a:solidFill>
                <a:latin typeface="Calibri"/>
              </a:defRPr>
            </a:pPr>
            <a: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926080"/>
            <a:ext cx="91440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Calibri"/>
              </a:defRPr>
            </a:pPr>
            <a:r>
              <a:t>HTML report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977639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BFDBFE"/>
                </a:solidFill>
                <a:latin typeface="Calibri"/>
              </a:defRPr>
            </a:pPr>
            <a:r>
              <a:t>Eight sections · info icons · metrics · traceability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327648"/>
            <a:ext cx="12191695" cy="182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94A3B8"/>
                </a:solidFill>
                <a:latin typeface="Calibri"/>
              </a:defRPr>
            </a:pPr>
            <a:r>
              <a:t>©LTM  |  Privileged and Confidential  |  MSC Dev Code and QA Test Coverage Validator  |  Developed by Mayur Gunjal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0080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94A3B8"/>
                </a:solidFill>
                <a:latin typeface="Calibri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327648"/>
            <a:ext cx="12191695" cy="182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40080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94A3B8"/>
                </a:solidFill>
                <a:latin typeface="Calibri"/>
              </a:defRPr>
            </a:pPr>
            <a:r>
              <a:t>©LTM  |  Privileged and Confidential  |  MSC Dev Code and QA Test Coverage Validator  |  Developed by Mayur Gunjal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40080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94A3B8"/>
                </a:solidFill>
                <a:latin typeface="Calibri"/>
              </a:defRPr>
            </a:pPr>
            <a: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5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92608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4066C"/>
                </a:solidFill>
                <a:latin typeface="Calibri"/>
              </a:defRPr>
            </a:pPr>
            <a:r>
              <a:t>HTML report — 8 sections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804672"/>
            <a:ext cx="10972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94A3B8"/>
                </a:solidFill>
                <a:latin typeface="Calibri"/>
              </a:defRPr>
            </a:pPr>
            <a:r>
              <a:t>reports/{KEY}-{date}-{time}-{TZ}.html  ·  hover i icons for context  ·  browser-ready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280160"/>
            <a:ext cx="2697480" cy="1234440"/>
          </a:xfrm>
          <a:prstGeom prst="roundRect">
            <a:avLst/>
          </a:prstGeom>
          <a:solidFill>
            <a:srgbClr val="E8F0FE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" y="1371600"/>
            <a:ext cx="411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5E4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1389888"/>
            <a:ext cx="2011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4066C"/>
                </a:solidFill>
                <a:latin typeface="Calibri"/>
              </a:defRPr>
            </a:pPr>
            <a:r>
              <a:t>Coverage summary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648" y="1965960"/>
            <a:ext cx="24688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Calibri"/>
              </a:defRPr>
            </a:pPr>
            <a:r>
              <a:t>8 metric cards + i tooltips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55848" y="1280160"/>
            <a:ext cx="2697480" cy="1234440"/>
          </a:xfrm>
          <a:prstGeom prst="roundRect">
            <a:avLst/>
          </a:prstGeom>
          <a:solidFill>
            <a:srgbClr val="E8F0FE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65576" y="1371600"/>
            <a:ext cx="411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5E4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58768" y="1389888"/>
            <a:ext cx="2011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4066C"/>
                </a:solidFill>
                <a:latin typeface="Calibri"/>
              </a:defRPr>
            </a:pPr>
            <a:r>
              <a:t>Linked PR(s)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65576" y="1965960"/>
            <a:ext cx="24688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Calibri"/>
              </a:defRPr>
            </a:pPr>
            <a:r>
              <a:t>PR · Repo · State · Title · Dev tests · CI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08776" y="1280160"/>
            <a:ext cx="2697480" cy="1234440"/>
          </a:xfrm>
          <a:prstGeom prst="roundRect">
            <a:avLst/>
          </a:prstGeom>
          <a:solidFill>
            <a:srgbClr val="E8F0FE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18504" y="1371600"/>
            <a:ext cx="411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5E4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11696" y="1389888"/>
            <a:ext cx="2011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4066C"/>
                </a:solidFill>
                <a:latin typeface="Calibri"/>
              </a:defRPr>
            </a:pPr>
            <a:r>
              <a:t>Test plan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18504" y="1965960"/>
            <a:ext cx="24688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Calibri"/>
              </a:defRPr>
            </a:pPr>
            <a:r>
              <a:t>Excel attachment · GWT · Mascot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61704" y="1280160"/>
            <a:ext cx="2697480" cy="1234440"/>
          </a:xfrm>
          <a:prstGeom prst="roundRect">
            <a:avLst/>
          </a:prstGeom>
          <a:solidFill>
            <a:srgbClr val="E8F0FE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71432" y="1371600"/>
            <a:ext cx="411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5E4F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64624" y="1389888"/>
            <a:ext cx="2011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4066C"/>
                </a:solidFill>
                <a:latin typeface="Calibri"/>
              </a:defRPr>
            </a:pPr>
            <a:r>
              <a:t>Dev vs QA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1432" y="1965960"/>
            <a:ext cx="24688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Calibri"/>
              </a:defRPr>
            </a:pPr>
            <a:r>
              <a:t>Ownership split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2697480"/>
            <a:ext cx="2697480" cy="1234440"/>
          </a:xfrm>
          <a:prstGeom prst="roundRect">
            <a:avLst/>
          </a:prstGeom>
          <a:solidFill>
            <a:srgbClr val="FFF8E1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12648" y="2788920"/>
            <a:ext cx="411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5E4F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2807208"/>
            <a:ext cx="2011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4066C"/>
                </a:solidFill>
                <a:latin typeface="Calibri"/>
              </a:defRPr>
            </a:pPr>
            <a:r>
              <a:t>Traceability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2648" y="3383280"/>
            <a:ext cx="24688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Calibri"/>
              </a:defRPr>
            </a:pPr>
            <a:r>
              <a:t>Row-per-AC matrix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355848" y="2697480"/>
            <a:ext cx="2697480" cy="1234440"/>
          </a:xfrm>
          <a:prstGeom prst="roundRect">
            <a:avLst/>
          </a:prstGeom>
          <a:solidFill>
            <a:srgbClr val="FFF8E1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465576" y="2788920"/>
            <a:ext cx="411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5E4F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58768" y="2807208"/>
            <a:ext cx="2011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4066C"/>
                </a:solidFill>
                <a:latin typeface="Calibri"/>
              </a:defRPr>
            </a:pPr>
            <a:r>
              <a:t>Impl. review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65576" y="3383280"/>
            <a:ext cx="24688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Calibri"/>
              </a:defRPr>
            </a:pPr>
            <a:r>
              <a:t>Gaps · strengths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08776" y="2697480"/>
            <a:ext cx="2697480" cy="1234440"/>
          </a:xfrm>
          <a:prstGeom prst="roundRect">
            <a:avLst/>
          </a:prstGeom>
          <a:solidFill>
            <a:srgbClr val="FFF8E1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18504" y="2788920"/>
            <a:ext cx="411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5E4F"/>
                </a:solidFill>
                <a:latin typeface="Calibri"/>
              </a:defRPr>
            </a:pPr>
            <a:r>
              <a:t>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11696" y="2807208"/>
            <a:ext cx="2011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4066C"/>
                </a:solidFill>
                <a:latin typeface="Calibri"/>
              </a:defRPr>
            </a:pPr>
            <a:r>
              <a:t>Assumptions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18504" y="3383280"/>
            <a:ext cx="24688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Calibri"/>
              </a:defRPr>
            </a:pPr>
            <a:r>
              <a:t>Scope notes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061704" y="2697480"/>
            <a:ext cx="2697480" cy="1234440"/>
          </a:xfrm>
          <a:prstGeom prst="roundRect">
            <a:avLst/>
          </a:prstGeom>
          <a:solidFill>
            <a:srgbClr val="FFF8E1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171432" y="2788920"/>
            <a:ext cx="411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5E4F"/>
                </a:solidFill>
                <a:latin typeface="Calibri"/>
              </a:defRPr>
            </a:pPr>
            <a:r>
              <a:t>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564624" y="2807208"/>
            <a:ext cx="2011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4066C"/>
                </a:solidFill>
                <a:latin typeface="Calibri"/>
              </a:defRPr>
            </a:pPr>
            <a:r>
              <a:t>Actions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71432" y="3383280"/>
            <a:ext cx="24688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Calibri"/>
              </a:defRPr>
            </a:pPr>
            <a:r>
              <a:t>Numbered to-dos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02920" y="4160520"/>
            <a:ext cx="11155680" cy="502920"/>
          </a:xfrm>
          <a:prstGeom prst="roundRect">
            <a:avLst/>
          </a:prstGeom>
          <a:solidFill>
            <a:srgbClr val="04066C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85800" y="4251960"/>
            <a:ext cx="105156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FFFFFF"/>
                </a:solidFill>
                <a:latin typeface="Calibri"/>
              </a:defRPr>
            </a:pPr>
            <a:r>
              <a:t>MSC-205625  ·  Verdict: Pass with gaps  ·  Generated 05-29-2026 12:43 IST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327648"/>
            <a:ext cx="12191695" cy="182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40080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94A3B8"/>
                </a:solidFill>
                <a:latin typeface="Calibri"/>
              </a:defRPr>
            </a:pPr>
            <a:r>
              <a:t>©LTM  |  Privileged and Confidential  |  MSC Dev Code and QA Test Coverage Validator  |  Developed by Mayur Gunjal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40080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94A3B8"/>
                </a:solidFill>
                <a:latin typeface="Calibri"/>
              </a:defRPr>
            </a:pPr>
            <a: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5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92608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4066C"/>
                </a:solidFill>
                <a:latin typeface="Calibri"/>
              </a:defRPr>
            </a:pPr>
            <a:r>
              <a:t>Report UX — info icons &amp; tooltips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804672"/>
            <a:ext cx="10972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94A3B8"/>
                </a:solidFill>
                <a:latin typeface="Calibri"/>
              </a:defRPr>
            </a:pPr>
            <a:r>
              <a:t>apply_report_ui_enhancements() runs automatically before every HTML write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234440"/>
            <a:ext cx="5486400" cy="384048"/>
          </a:xfrm>
          <a:prstGeom prst="round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Where the i icon appears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737360"/>
            <a:ext cx="51206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334155"/>
                </a:solidFill>
                <a:latin typeface="Calibri"/>
              </a:defRPr>
            </a:pPr>
            <a:r>
              <a:t>i  Header verdict (Pass / Pass with gaps / Fail)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176272"/>
            <a:ext cx="51206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334155"/>
                </a:solidFill>
                <a:latin typeface="Calibri"/>
              </a:defRPr>
            </a:pPr>
            <a:r>
              <a:t>i  All 8 section titles + 3 summary group titles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615184"/>
            <a:ext cx="51206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334155"/>
                </a:solidFill>
                <a:latin typeface="Calibri"/>
              </a:defRPr>
            </a:pPr>
            <a:r>
              <a:t>i  All 8 Coverage summary metric cards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3054096"/>
            <a:ext cx="51206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334155"/>
                </a:solidFill>
                <a:latin typeface="Calibri"/>
              </a:defRPr>
            </a:pPr>
            <a:r>
              <a:t>i  Linked PR(s) — 6 column headers (PR, Repo, State, Title, Dev tests, CI status)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493008"/>
            <a:ext cx="51206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334155"/>
                </a:solidFill>
                <a:latin typeface="Calibri"/>
              </a:defRPr>
            </a:pPr>
            <a:r>
              <a:t>i  Test plan + traceability table headers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3931920"/>
            <a:ext cx="51206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334155"/>
                </a:solidFill>
                <a:latin typeface="Calibri"/>
              </a:defRPr>
            </a:pPr>
            <a:r>
              <a:t>i  Dev vs QA cards · Implementation review panels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1234440"/>
            <a:ext cx="5394960" cy="384048"/>
          </a:xfrm>
          <a:prstGeom prst="roundRect">
            <a:avLst/>
          </a:prstGeom>
          <a:solidFill>
            <a:srgbClr val="FF5E4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Tooltip layout v5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1737360"/>
            <a:ext cx="50292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334155"/>
                </a:solidFill>
                <a:latin typeface="Calibri"/>
              </a:defRPr>
            </a:pPr>
            <a:r>
              <a:t>• overflow: visible on sections, tables, and headers — no clipped text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2176272"/>
            <a:ext cx="50292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334155"/>
                </a:solidFill>
                <a:latin typeface="Calibri"/>
              </a:defRPr>
            </a:pPr>
            <a:r>
              <a:t>• Default columns: tooltip opens left from the icon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2615184"/>
            <a:ext cx="50292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334155"/>
                </a:solidFill>
                <a:latin typeface="Calibri"/>
              </a:defRPr>
            </a:pPr>
            <a:r>
              <a:t>• Last two table columns (Dev tests, CI status): anchor to &lt;th&gt; right edge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3054096"/>
            <a:ext cx="50292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334155"/>
                </a:solidFill>
                <a:latin typeface="Calibri"/>
              </a:defRPr>
            </a:pPr>
            <a:r>
              <a:t>• Section headings: tooltip aligns right of the icon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6520" y="3493008"/>
            <a:ext cx="50292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334155"/>
                </a:solidFill>
                <a:latin typeface="Calibri"/>
              </a:defRPr>
            </a:pPr>
            <a:r>
              <a:t>• Pointer cursor (not ? help cursor) on hover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4434840"/>
            <a:ext cx="11155680" cy="347472"/>
          </a:xfrm>
          <a:prstGeom prst="rect">
            <a:avLst/>
          </a:prstGeom>
          <a:solidFill>
            <a:srgbClr val="1E3A8A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§2 Linked PR(s) — six columns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4782312"/>
            <a:ext cx="1822704" cy="320040"/>
          </a:xfrm>
          <a:prstGeom prst="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04066C"/>
                </a:solidFill>
                <a:latin typeface="Calibri"/>
              </a:defRPr>
            </a:pPr>
            <a:r>
              <a:t>PR i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362200" y="4782312"/>
            <a:ext cx="1822704" cy="320040"/>
          </a:xfrm>
          <a:prstGeom prst="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04066C"/>
                </a:solidFill>
                <a:latin typeface="Calibri"/>
              </a:defRPr>
            </a:pPr>
            <a:r>
              <a:t>Repo i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221480" y="4782312"/>
            <a:ext cx="1822704" cy="320040"/>
          </a:xfrm>
          <a:prstGeom prst="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04066C"/>
                </a:solidFill>
                <a:latin typeface="Calibri"/>
              </a:defRPr>
            </a:pPr>
            <a:r>
              <a:t>State i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080760" y="4782312"/>
            <a:ext cx="1822704" cy="320040"/>
          </a:xfrm>
          <a:prstGeom prst="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04066C"/>
                </a:solidFill>
                <a:latin typeface="Calibri"/>
              </a:defRPr>
            </a:pPr>
            <a:r>
              <a:t>Title i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940040" y="4782312"/>
            <a:ext cx="1822704" cy="320040"/>
          </a:xfrm>
          <a:prstGeom prst="rect">
            <a:avLst/>
          </a:prstGeom>
          <a:solidFill>
            <a:srgbClr val="FFF8E1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04066C"/>
                </a:solidFill>
                <a:latin typeface="Calibri"/>
              </a:defRPr>
            </a:pPr>
            <a:r>
              <a:t>Dev tests i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799320" y="4782312"/>
            <a:ext cx="1822704" cy="320040"/>
          </a:xfrm>
          <a:prstGeom prst="rect">
            <a:avLst/>
          </a:prstGeom>
          <a:solidFill>
            <a:srgbClr val="FFF8E1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04066C"/>
                </a:solidFill>
                <a:latin typeface="Calibri"/>
              </a:defRPr>
            </a:pPr>
            <a:r>
              <a:t>CI status i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5102352"/>
            <a:ext cx="11155680" cy="3200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0">
                <a:solidFill>
                  <a:srgbClr val="334155"/>
                </a:solidFill>
                <a:latin typeface="Calibri"/>
              </a:defRPr>
            </a:pPr>
            <a:r>
              <a:t>#161  ·  wbd-msc/pegasus-pick-genie  ·  MERGED  ·  passport fix  ·  TestDominoPassportRouting  ·  Passed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2920" y="5623560"/>
            <a:ext cx="11155680" cy="411480"/>
          </a:xfrm>
          <a:prstGeom prst="roundRect">
            <a:avLst/>
          </a:prstGeom>
          <a:solidFill>
            <a:srgbClr val="F2F2F2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5800" y="5687568"/>
            <a:ext cx="10789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94A3B8"/>
                </a:solidFill>
                <a:latin typeface="Calibri"/>
              </a:defRPr>
            </a:pPr>
            <a:r>
              <a:t>Generated by msc-dev-code-and-qa-test-coverage-validator · Developed by Mayur Gunjal  (MSC-205625-05-29-2026-12-43-49-IST.html)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327648"/>
            <a:ext cx="12191695" cy="182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40080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94A3B8"/>
                </a:solidFill>
                <a:latin typeface="Calibri"/>
              </a:defRPr>
            </a:pPr>
            <a:r>
              <a:t>©LTM  |  Privileged and Confidential  |  MSC Dev Code and QA Test Coverage Validator  |  Developed by Mayur Gunjal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40080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94A3B8"/>
                </a:solidFill>
                <a:latin typeface="Calibri"/>
              </a:defRPr>
            </a:pPr>
            <a:r>
              <a:t>13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5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92608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4066C"/>
                </a:solidFill>
                <a:latin typeface="Calibri"/>
              </a:defRPr>
            </a:pPr>
            <a:r>
              <a:t>§1 Coverage summary — 8 metric cards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804672"/>
            <a:ext cx="10972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94A3B8"/>
                </a:solidFill>
                <a:latin typeface="Calibri"/>
              </a:defRPr>
            </a:pPr>
            <a:r>
              <a:t>Color thresholds: Green ≥85%  ·  Amber 70–84.9%  ·  Red &lt;70%  ·  Gray NA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234440"/>
            <a:ext cx="3566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4066C"/>
                </a:solidFill>
                <a:latin typeface="Calibri"/>
              </a:defRPr>
            </a:pPr>
            <a:r>
              <a:t>Implementation &amp; tests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645920"/>
            <a:ext cx="3429000" cy="868680"/>
          </a:xfrm>
          <a:prstGeom prst="roundRect">
            <a:avLst/>
          </a:prstGeom>
          <a:solidFill>
            <a:srgbClr val="DCFCE7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783080"/>
            <a:ext cx="3246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16A34A"/>
                </a:solidFill>
                <a:latin typeface="Calibri"/>
              </a:defRPr>
            </a:pPr>
            <a:r>
              <a:t>100%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6072" y="2304288"/>
            <a:ext cx="3282696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16A34A"/>
                </a:solidFill>
                <a:latin typeface="Calibri"/>
              </a:defRPr>
            </a:pPr>
            <a:r>
              <a:t>Dev code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606040"/>
            <a:ext cx="3429000" cy="868680"/>
          </a:xfrm>
          <a:prstGeom prst="roundRect">
            <a:avLst/>
          </a:prstGeom>
          <a:solidFill>
            <a:srgbClr val="FFEDD5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743200"/>
            <a:ext cx="3246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D97706"/>
                </a:solidFill>
                <a:latin typeface="Calibri"/>
              </a:defRPr>
            </a:pPr>
            <a:r>
              <a:t>75%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6072" y="3264408"/>
            <a:ext cx="3282696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D97706"/>
                </a:solidFill>
                <a:latin typeface="Calibri"/>
              </a:defRPr>
            </a:pPr>
            <a:r>
              <a:t>Dev tests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3566160"/>
            <a:ext cx="3429000" cy="868680"/>
          </a:xfrm>
          <a:prstGeom prst="roundRect">
            <a:avLst/>
          </a:prstGeom>
          <a:solidFill>
            <a:srgbClr val="DCFCE7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703320"/>
            <a:ext cx="3246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16A34A"/>
                </a:solidFill>
                <a:latin typeface="Calibri"/>
              </a:defRPr>
            </a:pPr>
            <a:r>
              <a:t>4/4 AC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6072" y="4224528"/>
            <a:ext cx="3282696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16A34A"/>
                </a:solidFill>
                <a:latin typeface="Calibri"/>
              </a:defRPr>
            </a:pPr>
            <a:r>
              <a:t>Req mapped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43400" y="1234440"/>
            <a:ext cx="3566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4066C"/>
                </a:solidFill>
                <a:latin typeface="Calibri"/>
              </a:defRPr>
            </a:pPr>
            <a:r>
              <a:t>QA &amp; release risk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43400" y="1645920"/>
            <a:ext cx="3429000" cy="868680"/>
          </a:xfrm>
          <a:prstGeom prst="roundRect">
            <a:avLst/>
          </a:prstGeom>
          <a:solidFill>
            <a:srgbClr val="FFEDD5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34840" y="1783080"/>
            <a:ext cx="3246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D97706"/>
                </a:solidFill>
                <a:latin typeface="Calibri"/>
              </a:defRPr>
            </a:pPr>
            <a:r>
              <a:t>75%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16552" y="2304288"/>
            <a:ext cx="3282696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D97706"/>
                </a:solidFill>
                <a:latin typeface="Calibri"/>
              </a:defRPr>
            </a:pPr>
            <a:r>
              <a:t>Test plan AC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43400" y="2606040"/>
            <a:ext cx="3429000" cy="868680"/>
          </a:xfrm>
          <a:prstGeom prst="round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34840" y="2743200"/>
            <a:ext cx="3246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1A1A1A"/>
                </a:solidFill>
                <a:latin typeface="Calibri"/>
              </a:defRPr>
            </a:pPr>
            <a:r>
              <a:t>1 item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16552" y="3264408"/>
            <a:ext cx="3282696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1A1A1A"/>
                </a:solidFill>
                <a:latin typeface="Calibri"/>
              </a:defRPr>
            </a:pPr>
            <a:r>
              <a:t>QA remaining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43400" y="3566160"/>
            <a:ext cx="3429000" cy="868680"/>
          </a:xfrm>
          <a:prstGeom prst="roundRect">
            <a:avLst/>
          </a:prstGeom>
          <a:solidFill>
            <a:srgbClr val="FFEDD5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434840" y="3703320"/>
            <a:ext cx="3246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D97706"/>
                </a:solidFill>
                <a:latin typeface="Calibri"/>
              </a:defRPr>
            </a:pPr>
            <a:r>
              <a:t>2 Med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16552" y="4224528"/>
            <a:ext cx="3282696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D97706"/>
                </a:solidFill>
                <a:latin typeface="Calibri"/>
              </a:defRPr>
            </a:pPr>
            <a:r>
              <a:t>Open gaps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83880" y="1234440"/>
            <a:ext cx="3566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4066C"/>
                </a:solidFill>
                <a:latin typeface="Calibri"/>
              </a:defRPr>
            </a:pPr>
            <a:r>
              <a:t>CI pipeline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183880" y="1645920"/>
            <a:ext cx="3429000" cy="868680"/>
          </a:xfrm>
          <a:prstGeom prst="roundRect">
            <a:avLst/>
          </a:prstGeom>
          <a:solidFill>
            <a:srgbClr val="DCFCE7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75320" y="1783080"/>
            <a:ext cx="3246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16A34A"/>
                </a:solidFill>
                <a:latin typeface="Calibri"/>
              </a:defRPr>
            </a:pPr>
            <a:r>
              <a:t>95.3%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57032" y="2304288"/>
            <a:ext cx="3282696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16A34A"/>
                </a:solidFill>
                <a:latin typeface="Calibri"/>
              </a:defRPr>
            </a:pPr>
            <a:r>
              <a:t>Line cov.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183880" y="2606040"/>
            <a:ext cx="3429000" cy="868680"/>
          </a:xfrm>
          <a:prstGeom prst="roundRect">
            <a:avLst/>
          </a:prstGeom>
          <a:solidFill>
            <a:srgbClr val="DCFCE7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75320" y="2743200"/>
            <a:ext cx="3246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16A34A"/>
                </a:solidFill>
                <a:latin typeface="Calibri"/>
              </a:defRPr>
            </a:pPr>
            <a:r>
              <a:t>94.5%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57032" y="3264408"/>
            <a:ext cx="3282696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16A34A"/>
                </a:solidFill>
                <a:latin typeface="Calibri"/>
              </a:defRPr>
            </a:pPr>
            <a:r>
              <a:t>Branch cov.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02920" y="5349240"/>
            <a:ext cx="1234440" cy="365760"/>
          </a:xfrm>
          <a:prstGeom prst="roundRect">
            <a:avLst/>
          </a:prstGeom>
          <a:solidFill>
            <a:srgbClr val="DCFCE7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16A34A"/>
                </a:solidFill>
                <a:latin typeface="Calibri"/>
              </a:defRPr>
            </a:pPr>
            <a:r>
              <a:t>≥85%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920240" y="5349240"/>
            <a:ext cx="1234440" cy="365760"/>
          </a:xfrm>
          <a:prstGeom prst="roundRect">
            <a:avLst/>
          </a:prstGeom>
          <a:solidFill>
            <a:srgbClr val="FFEDD5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D97706"/>
                </a:solidFill>
                <a:latin typeface="Calibri"/>
              </a:defRPr>
            </a:pPr>
            <a:r>
              <a:t>70–84%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337560" y="5349240"/>
            <a:ext cx="1234440" cy="365760"/>
          </a:xfrm>
          <a:prstGeom prst="roundRect">
            <a:avLst/>
          </a:prstGeom>
          <a:solidFill>
            <a:srgbClr val="FEE2E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DC2626"/>
                </a:solidFill>
                <a:latin typeface="Calibri"/>
              </a:defRPr>
            </a:pPr>
            <a:r>
              <a:t>&lt;70%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754880" y="5349240"/>
            <a:ext cx="1234440" cy="365760"/>
          </a:xfrm>
          <a:prstGeom prst="round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94A3B8"/>
                </a:solidFill>
                <a:latin typeface="Calibri"/>
              </a:defRPr>
            </a:pPr>
            <a:r>
              <a:t>NA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327648"/>
            <a:ext cx="12191695" cy="182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40080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94A3B8"/>
                </a:solidFill>
                <a:latin typeface="Calibri"/>
              </a:defRPr>
            </a:pPr>
            <a:r>
              <a:t>©LTM  |  Privileged and Confidential  |  MSC Dev Code and QA Test Coverage Validator  |  Developed by Mayur Gunjal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40080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94A3B8"/>
                </a:solidFill>
                <a:latin typeface="Calibri"/>
              </a:defRPr>
            </a:pPr>
            <a:r>
              <a:t>14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5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92608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4066C"/>
                </a:solidFill>
                <a:latin typeface="Calibri"/>
              </a:defRPr>
            </a:pPr>
            <a:r>
              <a:t>Requirement traceability chart — Jira · Code · Test plan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804672"/>
            <a:ext cx="10972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94A3B8"/>
                </a:solidFill>
                <a:latin typeface="Calibri"/>
              </a:defRPr>
            </a:pPr>
            <a:r>
              <a:t>MSC-205625 · Domino · Inc as Fulll · 5/5 GWT · 3/4 AC · PR #161 pick-genie · MERGED · CI Passed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234440"/>
            <a:ext cx="3977639" cy="384048"/>
          </a:xfrm>
          <a:prstGeom prst="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Requirement (Jira story)</a:t>
            </a:r>
          </a:p>
        </p:txBody>
      </p:sp>
      <p:sp>
        <p:nvSpPr>
          <p:cNvPr id="9" name="Rectangle 8"/>
          <p:cNvSpPr/>
          <p:nvPr/>
        </p:nvSpPr>
        <p:spPr>
          <a:xfrm>
            <a:off x="4553711" y="1234440"/>
            <a:ext cx="3703320" cy="384048"/>
          </a:xfrm>
          <a:prstGeom prst="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Code coverage (linked PR)</a:t>
            </a:r>
          </a:p>
        </p:txBody>
      </p:sp>
      <p:sp>
        <p:nvSpPr>
          <p:cNvPr id="10" name="Rectangle 9"/>
          <p:cNvSpPr/>
          <p:nvPr/>
        </p:nvSpPr>
        <p:spPr>
          <a:xfrm>
            <a:off x="8330183" y="1234440"/>
            <a:ext cx="3611880" cy="384048"/>
          </a:xfrm>
          <a:prstGeom prst="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Test plan (Jira Excel attachment)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673352"/>
            <a:ext cx="3977639" cy="960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76072" y="1728216"/>
            <a:ext cx="383133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4066C"/>
                </a:solidFill>
                <a:latin typeface="Calibri"/>
              </a:defRPr>
            </a:pPr>
            <a:r>
              <a:t>R1</a:t>
            </a:r>
          </a:p>
          <a:p>
            <a:pPr>
              <a:spcAft>
                <a:spcPts val="200"/>
              </a:spcAft>
              <a:defRPr sz="900">
                <a:solidFill>
                  <a:srgbClr val="334155"/>
                </a:solidFill>
                <a:latin typeface="Calibri"/>
              </a:defRPr>
            </a:pPr>
            <a:r>
              <a:t>Content passport retained in cumulative output manifestation for PFT Clear incremental-as-full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53711" y="1673352"/>
            <a:ext cx="3703320" cy="960120"/>
          </a:xfrm>
          <a:prstGeom prst="rect">
            <a:avLst/>
          </a:prstGeom>
          <a:solidFill>
            <a:srgbClr val="DCFCE7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26863" y="1728216"/>
            <a:ext cx="3557016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900">
                <a:solidFill>
                  <a:srgbClr val="16A34A"/>
                </a:solidFill>
                <a:latin typeface="Calibri"/>
              </a:defRPr>
            </a:pPr>
            <a:r>
              <a:t>Implemented</a:t>
            </a:r>
          </a:p>
          <a:p>
            <a:pPr>
              <a:spcAft>
                <a:spcPts val="200"/>
              </a:spcAft>
              <a:defRPr sz="900">
                <a:solidFill>
                  <a:srgbClr val="16A34A"/>
                </a:solidFill>
                <a:latin typeface="Calibri"/>
              </a:defRPr>
            </a:pPr>
            <a:r>
              <a:t>Dev tests: Covered</a:t>
            </a:r>
          </a:p>
          <a:p>
            <a:pPr>
              <a:spcAft>
                <a:spcPts val="200"/>
              </a:spcAft>
              <a:defRPr sz="900">
                <a:solidFill>
                  <a:srgbClr val="334155"/>
                </a:solidFill>
                <a:latin typeface="Calibri"/>
              </a:defRPr>
            </a:pPr>
            <a:r>
              <a:t>PR #161 · passport_manager.py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30183" y="1673352"/>
            <a:ext cx="3611880" cy="960120"/>
          </a:xfrm>
          <a:prstGeom prst="rect">
            <a:avLst/>
          </a:prstGeom>
          <a:solidFill>
            <a:srgbClr val="DCFCE7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03335" y="1728216"/>
            <a:ext cx="3465576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900">
                <a:solidFill>
                  <a:srgbClr val="16A34A"/>
                </a:solidFill>
                <a:latin typeface="Calibri"/>
              </a:defRPr>
            </a:pPr>
            <a:r>
              <a:t>TC1–TC5 mapped</a:t>
            </a:r>
          </a:p>
          <a:p>
            <a:pPr>
              <a:spcAft>
                <a:spcPts val="200"/>
              </a:spcAft>
              <a:defRPr sz="900">
                <a:solidFill>
                  <a:srgbClr val="16A34A"/>
                </a:solidFill>
                <a:latin typeface="Calibri"/>
              </a:defRPr>
            </a:pPr>
            <a:r>
              <a:t>Given/When/Then: full</a:t>
            </a:r>
          </a:p>
          <a:p>
            <a:pPr>
              <a:spcAft>
                <a:spcPts val="200"/>
              </a:spcAft>
              <a:defRPr sz="900">
                <a:solidFill>
                  <a:srgbClr val="16A34A"/>
                </a:solidFill>
                <a:latin typeface="Calibri"/>
              </a:defRPr>
            </a:pPr>
            <a:r>
              <a:t>Mascot evidence linked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2633472"/>
            <a:ext cx="3977639" cy="960120"/>
          </a:xfrm>
          <a:prstGeom prst="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6072" y="2688336"/>
            <a:ext cx="383133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4066C"/>
                </a:solidFill>
                <a:latin typeface="Calibri"/>
              </a:defRPr>
            </a:pPr>
            <a:r>
              <a:t>R2</a:t>
            </a:r>
          </a:p>
          <a:p>
            <a:pPr>
              <a:spcAft>
                <a:spcPts val="200"/>
              </a:spcAft>
              <a:defRPr sz="900">
                <a:solidFill>
                  <a:srgbClr val="334155"/>
                </a:solidFill>
                <a:latin typeface="Calibri"/>
              </a:defRPr>
            </a:pPr>
            <a:r>
              <a:t>When metadata-update becomes full fulfillment, pack passport must be delivered for increment…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53711" y="2633472"/>
            <a:ext cx="3703320" cy="960120"/>
          </a:xfrm>
          <a:prstGeom prst="rect">
            <a:avLst/>
          </a:prstGeom>
          <a:solidFill>
            <a:srgbClr val="FFEDD5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26863" y="2688336"/>
            <a:ext cx="3557016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900">
                <a:solidFill>
                  <a:srgbClr val="16A34A"/>
                </a:solidFill>
                <a:latin typeface="Calibri"/>
              </a:defRPr>
            </a:pPr>
            <a:r>
              <a:t>Implemented</a:t>
            </a:r>
          </a:p>
          <a:p>
            <a:pPr>
              <a:spcAft>
                <a:spcPts val="200"/>
              </a:spcAft>
              <a:defRPr sz="900">
                <a:solidFill>
                  <a:srgbClr val="D97706"/>
                </a:solidFill>
                <a:latin typeface="Calibri"/>
              </a:defRPr>
            </a:pPr>
            <a:r>
              <a:t>Dev tests: Partial</a:t>
            </a:r>
          </a:p>
          <a:p>
            <a:pPr>
              <a:spcAft>
                <a:spcPts val="200"/>
              </a:spcAft>
              <a:defRPr sz="900">
                <a:solidFill>
                  <a:srgbClr val="334155"/>
                </a:solidFill>
                <a:latin typeface="Calibri"/>
              </a:defRPr>
            </a:pPr>
            <a:r>
              <a:t>PriorFulfilledManifestRecord model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330183" y="2633472"/>
            <a:ext cx="3611880" cy="960120"/>
          </a:xfrm>
          <a:prstGeom prst="rect">
            <a:avLst/>
          </a:prstGeom>
          <a:solidFill>
            <a:srgbClr val="E8F0FE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03335" y="2688336"/>
            <a:ext cx="3465576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900">
                <a:solidFill>
                  <a:srgbClr val="16A34A"/>
                </a:solidFill>
                <a:latin typeface="Calibri"/>
              </a:defRPr>
            </a:pPr>
            <a:r>
              <a:t>TC1, TC4 mapped</a:t>
            </a:r>
          </a:p>
          <a:p>
            <a:pPr>
              <a:spcAft>
                <a:spcPts val="200"/>
              </a:spcAft>
              <a:defRPr sz="900">
                <a:solidFill>
                  <a:srgbClr val="16A34A"/>
                </a:solidFill>
                <a:latin typeface="Calibri"/>
              </a:defRPr>
            </a:pPr>
            <a:r>
              <a:t>Given/When/Then: full</a:t>
            </a:r>
          </a:p>
          <a:p>
            <a:pPr>
              <a:spcAft>
                <a:spcPts val="200"/>
              </a:spcAft>
              <a:defRPr sz="900">
                <a:solidFill>
                  <a:srgbClr val="16A34A"/>
                </a:solidFill>
                <a:latin typeface="Calibri"/>
              </a:defRPr>
            </a:pPr>
            <a:r>
              <a:t>Aligns with PR behavior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3593592"/>
            <a:ext cx="3977639" cy="960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76072" y="3648456"/>
            <a:ext cx="383133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4066C"/>
                </a:solidFill>
                <a:latin typeface="Calibri"/>
              </a:defRPr>
            </a:pPr>
            <a:r>
              <a:t>R3</a:t>
            </a:r>
          </a:p>
          <a:p>
            <a:pPr>
              <a:spcAft>
                <a:spcPts val="200"/>
              </a:spcAft>
              <a:defRPr sz="900">
                <a:solidFill>
                  <a:srgbClr val="334155"/>
                </a:solidFill>
                <a:latin typeface="Calibri"/>
              </a:defRPr>
            </a:pPr>
            <a:r>
              <a:t>Pick-genie must not drop passport re-fetch when workflow resolves fulfillmentType full (PFT …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53711" y="3593592"/>
            <a:ext cx="3703320" cy="960120"/>
          </a:xfrm>
          <a:prstGeom prst="rect">
            <a:avLst/>
          </a:prstGeom>
          <a:solidFill>
            <a:srgbClr val="DCFCE7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26863" y="3648456"/>
            <a:ext cx="3557016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900">
                <a:solidFill>
                  <a:srgbClr val="16A34A"/>
                </a:solidFill>
                <a:latin typeface="Calibri"/>
              </a:defRPr>
            </a:pPr>
            <a:r>
              <a:t>Implemented</a:t>
            </a:r>
          </a:p>
          <a:p>
            <a:pPr>
              <a:spcAft>
                <a:spcPts val="200"/>
              </a:spcAft>
              <a:defRPr sz="900">
                <a:solidFill>
                  <a:srgbClr val="16A34A"/>
                </a:solidFill>
                <a:latin typeface="Calibri"/>
              </a:defRPr>
            </a:pPr>
            <a:r>
              <a:t>Dev tests: Covered</a:t>
            </a:r>
          </a:p>
          <a:p>
            <a:pPr>
              <a:spcAft>
                <a:spcPts val="200"/>
              </a:spcAft>
              <a:defRPr sz="900">
                <a:solidFill>
                  <a:srgbClr val="334155"/>
                </a:solidFill>
                <a:latin typeface="Calibri"/>
              </a:defRPr>
            </a:pPr>
            <a:r>
              <a:t>TestDominoPassportRouting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330183" y="3593592"/>
            <a:ext cx="3611880" cy="960120"/>
          </a:xfrm>
          <a:prstGeom prst="rect">
            <a:avLst/>
          </a:prstGeom>
          <a:solidFill>
            <a:srgbClr val="DCFCE7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03335" y="3648456"/>
            <a:ext cx="3465576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900">
                <a:solidFill>
                  <a:srgbClr val="16A34A"/>
                </a:solidFill>
                <a:latin typeface="Calibri"/>
              </a:defRPr>
            </a:pPr>
            <a:r>
              <a:t>TC1–TC5 mapped</a:t>
            </a:r>
          </a:p>
          <a:p>
            <a:pPr>
              <a:spcAft>
                <a:spcPts val="200"/>
              </a:spcAft>
              <a:defRPr sz="900">
                <a:solidFill>
                  <a:srgbClr val="16A34A"/>
                </a:solidFill>
                <a:latin typeface="Calibri"/>
              </a:defRPr>
            </a:pPr>
            <a:r>
              <a:t>Given/When/Then: full</a:t>
            </a:r>
          </a:p>
          <a:p>
            <a:pPr>
              <a:spcAft>
                <a:spcPts val="200"/>
              </a:spcAft>
              <a:defRPr sz="900">
                <a:solidFill>
                  <a:srgbClr val="16A34A"/>
                </a:solidFill>
                <a:latin typeface="Calibri"/>
              </a:defRPr>
            </a:pPr>
            <a:r>
              <a:t>Incremental-as-full scenarios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4553712"/>
            <a:ext cx="3977639" cy="960120"/>
          </a:xfrm>
          <a:prstGeom prst="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76072" y="4608576"/>
            <a:ext cx="383133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4066C"/>
                </a:solidFill>
                <a:latin typeface="Calibri"/>
              </a:defRPr>
            </a:pPr>
            <a:r>
              <a:t>R4</a:t>
            </a:r>
          </a:p>
          <a:p>
            <a:pPr>
              <a:spcAft>
                <a:spcPts val="200"/>
              </a:spcAft>
              <a:defRPr sz="900">
                <a:solidFill>
                  <a:srgbClr val="334155"/>
                </a:solidFill>
                <a:latin typeface="Calibri"/>
              </a:defRPr>
            </a:pPr>
            <a:r>
              <a:t>Fix validated in SIT with Edit ID 37ea180e-77cc-413f-95cf-9dfcebf08cd2 and provided Mascot e…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53711" y="4553712"/>
            <a:ext cx="3703320" cy="960120"/>
          </a:xfrm>
          <a:prstGeom prst="rect">
            <a:avLst/>
          </a:prstGeom>
          <a:solidFill>
            <a:srgbClr val="FFEDD5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626863" y="4608576"/>
            <a:ext cx="3557016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900">
                <a:solidFill>
                  <a:srgbClr val="D97706"/>
                </a:solidFill>
                <a:latin typeface="Calibri"/>
              </a:defRPr>
            </a:pPr>
            <a:r>
              <a:t>Partial</a:t>
            </a:r>
          </a:p>
          <a:p>
            <a:pPr>
              <a:spcAft>
                <a:spcPts val="200"/>
              </a:spcAft>
              <a:defRPr sz="900">
                <a:solidFill>
                  <a:srgbClr val="DC2626"/>
                </a:solidFill>
                <a:latin typeface="Calibri"/>
              </a:defRPr>
            </a:pPr>
            <a:r>
              <a:t>Dev tests: Missing</a:t>
            </a:r>
          </a:p>
          <a:p>
            <a:pPr>
              <a:spcAft>
                <a:spcPts val="200"/>
              </a:spcAft>
              <a:defRPr sz="900">
                <a:solidFill>
                  <a:srgbClr val="334155"/>
                </a:solidFill>
                <a:latin typeface="Calibri"/>
              </a:defRPr>
            </a:pPr>
            <a:r>
              <a:t>QA Manual — SIT validation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330183" y="4553712"/>
            <a:ext cx="3611880" cy="960120"/>
          </a:xfrm>
          <a:prstGeom prst="rect">
            <a:avLst/>
          </a:prstGeom>
          <a:solidFill>
            <a:srgbClr val="FEE2E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403335" y="4608576"/>
            <a:ext cx="3465576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900">
                <a:solidFill>
                  <a:srgbClr val="DC2626"/>
                </a:solidFill>
                <a:latin typeface="Calibri"/>
              </a:defRPr>
            </a:pPr>
            <a:r>
              <a:t>No mapped test case</a:t>
            </a:r>
          </a:p>
          <a:p>
            <a:pPr>
              <a:spcAft>
                <a:spcPts val="200"/>
              </a:spcAft>
              <a:defRPr sz="900">
                <a:solidFill>
                  <a:srgbClr val="DC2626"/>
                </a:solidFill>
                <a:latin typeface="Calibri"/>
              </a:defRPr>
            </a:pPr>
            <a:r>
              <a:t>Gap: missing Edit ID scenario</a:t>
            </a:r>
          </a:p>
          <a:p>
            <a:pPr>
              <a:spcAft>
                <a:spcPts val="200"/>
              </a:spcAft>
              <a:defRPr sz="900">
                <a:solidFill>
                  <a:srgbClr val="D97706"/>
                </a:solidFill>
                <a:latin typeface="Calibri"/>
              </a:defRPr>
            </a:pPr>
            <a:r>
              <a:t>Then steps lack passport assertion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920" y="5623560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Calibri"/>
              </a:defRPr>
            </a:pPr>
            <a:r>
              <a:t>Left: acceptance criteria extracted from Jira description · Middle: production code + dev unit/integration tests from PR diff · Right: scenarios parsed from the Excel test plan file attached to the Jira ticket (not a separate tool — the workbook in Jira attachments).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327648"/>
            <a:ext cx="12191695" cy="182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40080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94A3B8"/>
                </a:solidFill>
                <a:latin typeface="Calibri"/>
              </a:defRPr>
            </a:pPr>
            <a:r>
              <a:t>©LTM  |  Privileged and Confidential  |  MSC Dev Code and QA Test Coverage Validator  |  Developed by Mayur Gunjal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40080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94A3B8"/>
                </a:solidFill>
                <a:latin typeface="Calibri"/>
              </a:defRPr>
            </a:pPr>
            <a:r>
              <a:t>15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5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92608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4066C"/>
                </a:solidFill>
                <a:latin typeface="Calibri"/>
              </a:defRPr>
            </a:pPr>
            <a:r>
              <a:t>Confluence LADR requirements from Jira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804672"/>
            <a:ext cx="10972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94A3B8"/>
                </a:solidFill>
                <a:latin typeface="Calibri"/>
              </a:defRPr>
            </a:pPr>
            <a:r>
              <a:t>When a LADR doc is linked on the story, the agent fetches Confluence and merges LADR requirements with Jira acceptance criteria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234440"/>
            <a:ext cx="3520440" cy="384048"/>
          </a:xfrm>
          <a:prstGeom prst="round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Detected from Jira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737360"/>
            <a:ext cx="32004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334155"/>
                </a:solidFill>
                <a:latin typeface="Calibri"/>
              </a:defRPr>
            </a:pPr>
            <a:r>
              <a:t>• Comment or description mentions LADR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212848"/>
            <a:ext cx="32004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334155"/>
                </a:solidFill>
                <a:latin typeface="Calibri"/>
              </a:defRPr>
            </a:pPr>
            <a:r>
              <a:t>• Confluence wiki URL (atlassian.net/wiki/…/pages/{id})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688336"/>
            <a:ext cx="32004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334155"/>
                </a:solidFill>
                <a:latin typeface="Calibri"/>
              </a:defRPr>
            </a:pPr>
            <a:r>
              <a:t>• Linked design doc referenced in dev/QA comments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3163824"/>
            <a:ext cx="32004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334155"/>
                </a:solidFill>
                <a:latin typeface="Calibri"/>
              </a:defRPr>
            </a:pPr>
            <a:r>
              <a:t>• Test plan scenarios trace to LADR scope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51960" y="1234440"/>
            <a:ext cx="3520440" cy="384048"/>
          </a:xfrm>
          <a:prstGeom prst="roundRect">
            <a:avLst/>
          </a:prstGeom>
          <a:solidFill>
            <a:srgbClr val="FF5E4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Agent fetch (one batch)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34840" y="1737360"/>
            <a:ext cx="32004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334155"/>
                </a:solidFill>
                <a:latin typeface="Calibri"/>
              </a:defRPr>
            </a:pPr>
            <a:r>
              <a:t>1. getConfluencePage (Atlassian MCP)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34840" y="2212848"/>
            <a:ext cx="32004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334155"/>
                </a:solidFill>
                <a:latin typeface="Calibri"/>
              </a:defRPr>
            </a:pPr>
            <a:r>
              <a:t>2. python scripts/fetch_confluence_requirements.py {KEY}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34840" y="2688336"/>
            <a:ext cx="32004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334155"/>
                </a:solidFill>
                <a:latin typeface="Calibri"/>
              </a:defRPr>
            </a:pPr>
            <a:r>
              <a:t>3. Parse LADR requirement items from page body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34840" y="3163824"/>
            <a:ext cx="32004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334155"/>
                </a:solidFill>
                <a:latin typeface="Calibri"/>
              </a:defRPr>
            </a:pPr>
            <a:r>
              <a:t>4. Write reports/.cache/{KEY}-confluence.json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01000" y="1234440"/>
            <a:ext cx="3657600" cy="384048"/>
          </a:xfrm>
          <a:prstGeom prst="roundRect">
            <a:avLst/>
          </a:prstGeom>
          <a:solidFill>
            <a:srgbClr val="009688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Merged requirement model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83879" y="1737360"/>
            <a:ext cx="32918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334155"/>
                </a:solidFill>
                <a:latin typeface="Calibri"/>
              </a:defRPr>
            </a:pPr>
            <a:r>
              <a:t>→ Jira AC → R1, R2, R3…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83879" y="2212848"/>
            <a:ext cx="32918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334155"/>
                </a:solidFill>
                <a:latin typeface="Calibri"/>
              </a:defRPr>
            </a:pPr>
            <a:r>
              <a:t>→ Confluence LADR → L1…Ln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83879" y="2688336"/>
            <a:ext cx="32918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334155"/>
                </a:solidFill>
                <a:latin typeface="Calibri"/>
              </a:defRPr>
            </a:pPr>
            <a:r>
              <a:t>→ Test cases map to both (semantic match)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83879" y="3163824"/>
            <a:ext cx="32918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334155"/>
                </a:solidFill>
                <a:latin typeface="Calibri"/>
              </a:defRPr>
            </a:pPr>
            <a:r>
              <a:t>→ Test plan AC coverage % uses combined set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3794760"/>
            <a:ext cx="11155680" cy="1417320"/>
          </a:xfrm>
          <a:prstGeom prst="roundRect">
            <a:avLst/>
          </a:prstGeom>
          <a:solidFill>
            <a:srgbClr val="FFF8E1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5800" y="3931920"/>
            <a:ext cx="1078992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334155"/>
                </a:solidFill>
                <a:latin typeface="Calibri"/>
              </a:defRPr>
            </a:pPr>
            <a:r>
              <a:t>Example — MSC-204417: Jira references a LADR doc; agent fetches Confluence LADR requirements and merges with Promo Caption Monitoring test plan (12 scenarios, Caption Monitoring · 12/12 GWT). Report MSC-204417-05-31-2026-10-19-28-IST.html: 100% dev code · 94.1% test plan AC · 16/17 AC mapped · Pass with gaps. Generic LADR parsing — not limited to one domain.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5349240"/>
            <a:ext cx="11155680" cy="347472"/>
          </a:xfrm>
          <a:prstGeom prst="rect">
            <a:avLst/>
          </a:prstGeom>
          <a:solidFill>
            <a:srgbClr val="1E3A8A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Any LADR-linked story — design requirements become testable L* items for coverage scoring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5742432"/>
            <a:ext cx="2743200" cy="502920"/>
          </a:xfrm>
          <a:prstGeom prst="round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04066C"/>
                </a:solidFill>
                <a:latin typeface="Calibri"/>
              </a:defRPr>
            </a:pPr>
            <a:r>
              <a:t>Wiki URL or LADR comment on Jira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291840" y="5742432"/>
            <a:ext cx="2743200" cy="502920"/>
          </a:xfrm>
          <a:prstGeom prst="round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04066C"/>
                </a:solidFill>
                <a:latin typeface="Calibri"/>
              </a:defRPr>
            </a:pPr>
            <a:r>
              <a:t>Confluence page body → requirement list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080760" y="5742432"/>
            <a:ext cx="2743200" cy="502920"/>
          </a:xfrm>
          <a:prstGeom prst="round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04066C"/>
                </a:solidFill>
                <a:latin typeface="Calibri"/>
              </a:defRPr>
            </a:pPr>
            <a:r>
              <a:t>Merged with Jira AC + Excel test plan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869680" y="5742432"/>
            <a:ext cx="2743200" cy="502920"/>
          </a:xfrm>
          <a:prstGeom prst="round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04066C"/>
                </a:solidFill>
                <a:latin typeface="Calibri"/>
              </a:defRPr>
            </a:pPr>
            <a:r>
              <a:t>Gap list for unmapped L* / R* items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327648"/>
            <a:ext cx="12191695" cy="182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40080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94A3B8"/>
                </a:solidFill>
                <a:latin typeface="Calibri"/>
              </a:defRPr>
            </a:pPr>
            <a:r>
              <a:t>©LTM  |  Privileged and Confidential  |  MSC Dev Code and QA Test Coverage Validator  |  Developed by Mayur Gunjal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40080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94A3B8"/>
                </a:solidFill>
                <a:latin typeface="Calibri"/>
              </a:defRPr>
            </a:pPr>
            <a:r>
              <a:t>16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5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92608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4066C"/>
                </a:solidFill>
                <a:latin typeface="Calibri"/>
              </a:defRPr>
            </a:pPr>
            <a:r>
              <a:t>§3 Test plan validation — Jira Excel + LADR alignment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804672"/>
            <a:ext cx="10972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94A3B8"/>
                </a:solidFill>
                <a:latin typeface="Calibri"/>
              </a:defRPr>
            </a:pPr>
            <a:r>
              <a:t>Confluence LADR requirements when linked · Excel attachment · Given/When/Then · Mascot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143000"/>
            <a:ext cx="73152" cy="868680"/>
          </a:xfrm>
          <a:prstGeom prst="rect">
            <a:avLst/>
          </a:prstGeom>
          <a:solidFill>
            <a:srgbClr val="FF5E4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143000"/>
            <a:ext cx="5029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4066C"/>
                </a:solidFill>
                <a:latin typeface="Calibri"/>
              </a:defRPr>
            </a:pPr>
            <a:r>
              <a:t>Confluence LADR (from Jira)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1490472"/>
            <a:ext cx="5303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334155"/>
                </a:solidFill>
                <a:latin typeface="Calibri"/>
              </a:defRPr>
            </a:pPr>
            <a:r>
              <a:t>If story comments or description reference LADR or wiki URLs, agent fetches Confluence via MCP or fetch_confluence_requirements.py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280160"/>
            <a:ext cx="5440680" cy="685800"/>
          </a:xfrm>
          <a:prstGeom prst="roundRect">
            <a:avLst/>
          </a:prstGeom>
          <a:solidFill>
            <a:srgbClr val="E8F0FE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4066C"/>
                </a:solidFill>
                <a:latin typeface="Calibri"/>
              </a:defRPr>
            </a:pPr>
            <a:r>
              <a:t>LADR requirements L1…Ln · cache {KEY}-confluence.json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947672"/>
            <a:ext cx="73152" cy="868680"/>
          </a:xfrm>
          <a:prstGeom prst="rect">
            <a:avLst/>
          </a:prstGeom>
          <a:solidFill>
            <a:srgbClr val="FF5E4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1947672"/>
            <a:ext cx="5029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4066C"/>
                </a:solidFill>
                <a:latin typeface="Calibri"/>
              </a:defRPr>
            </a:pPr>
            <a:r>
              <a:t>Domino Excel test plan (Jira attachment)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2295144"/>
            <a:ext cx="5303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334155"/>
                </a:solidFill>
                <a:latin typeface="Calibri"/>
              </a:defRPr>
            </a:pPr>
            <a:r>
              <a:t>Jira attachment or local testplans/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2084832"/>
            <a:ext cx="5440680" cy="685800"/>
          </a:xfrm>
          <a:prstGeom prst="roundRect">
            <a:avLst/>
          </a:prstGeom>
          <a:solidFill>
            <a:srgbClr val="E8F0FE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4066C"/>
                </a:solidFill>
                <a:latin typeface="Calibri"/>
              </a:defRPr>
            </a:pPr>
            <a:r>
              <a:t>fetch_jira_testplan.py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752344"/>
            <a:ext cx="73152" cy="868680"/>
          </a:xfrm>
          <a:prstGeom prst="rect">
            <a:avLst/>
          </a:prstGeom>
          <a:solidFill>
            <a:srgbClr val="FF5E4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2752344"/>
            <a:ext cx="5029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4066C"/>
                </a:solidFill>
                <a:latin typeface="Calibri"/>
              </a:defRPr>
            </a:pPr>
            <a:r>
              <a:t>Given / When / Then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3099816"/>
            <a:ext cx="5303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334155"/>
                </a:solidFill>
                <a:latin typeface="Calibri"/>
              </a:defRPr>
            </a:pPr>
            <a:r>
              <a:t>Content-based Given/When/Then scoring (not column-name only)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7920" y="2889504"/>
            <a:ext cx="5440680" cy="685800"/>
          </a:xfrm>
          <a:prstGeom prst="roundRect">
            <a:avLst/>
          </a:prstGeom>
          <a:solidFill>
            <a:srgbClr val="E8F0FE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4066C"/>
                </a:solidFill>
                <a:latin typeface="Calibri"/>
              </a:defRPr>
            </a:pPr>
            <a:r>
              <a:t>12/12 GWT · MSC-204417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3557016"/>
            <a:ext cx="73152" cy="868680"/>
          </a:xfrm>
          <a:prstGeom prst="rect">
            <a:avLst/>
          </a:prstGeom>
          <a:solidFill>
            <a:srgbClr val="FF5E4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3557016"/>
            <a:ext cx="5029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4066C"/>
                </a:solidFill>
                <a:latin typeface="Calibri"/>
              </a:defRPr>
            </a:pPr>
            <a:r>
              <a:t>LADR + Jira AC mapping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3904488"/>
            <a:ext cx="5303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334155"/>
                </a:solidFill>
                <a:latin typeface="Calibri"/>
              </a:defRPr>
            </a:pPr>
            <a:r>
              <a:t>Semantic match of test cases to Jira AC and Confluence LADR requirements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7920" y="3694176"/>
            <a:ext cx="5440680" cy="685800"/>
          </a:xfrm>
          <a:prstGeom prst="roundRect">
            <a:avLst/>
          </a:prstGeom>
          <a:solidFill>
            <a:srgbClr val="E8F0FE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4066C"/>
                </a:solidFill>
                <a:latin typeface="Calibri"/>
              </a:defRPr>
            </a:pPr>
            <a:r>
              <a:t>94.1% · MSC-204417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4361688"/>
            <a:ext cx="73152" cy="868680"/>
          </a:xfrm>
          <a:prstGeom prst="rect">
            <a:avLst/>
          </a:prstGeom>
          <a:solidFill>
            <a:srgbClr val="FF5E4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4361688"/>
            <a:ext cx="5029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4066C"/>
                </a:solidFill>
                <a:latin typeface="Calibri"/>
              </a:defRPr>
            </a:pPr>
            <a:r>
              <a:t>Mascot hyperlinks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" y="4709160"/>
            <a:ext cx="5303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334155"/>
                </a:solidFill>
                <a:latin typeface="Calibri"/>
              </a:defRPr>
            </a:pPr>
            <a:r>
              <a:t>Evidence column URLs rendered in report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17920" y="4498848"/>
            <a:ext cx="5440680" cy="685800"/>
          </a:xfrm>
          <a:prstGeom prst="roundRect">
            <a:avLst/>
          </a:prstGeom>
          <a:solidFill>
            <a:srgbClr val="E8F0FE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4066C"/>
                </a:solidFill>
                <a:latin typeface="Calibri"/>
              </a:defRPr>
            </a:pPr>
            <a:r>
              <a:t>Monitor E2E traceability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17920" y="5349240"/>
            <a:ext cx="5440680" cy="365760"/>
          </a:xfrm>
          <a:prstGeom prst="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Scenario examples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17920" y="5742432"/>
            <a:ext cx="5440680" cy="320040"/>
          </a:xfrm>
          <a:prstGeom prst="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0">
                <a:solidFill>
                  <a:srgbClr val="334155"/>
                </a:solidFill>
                <a:latin typeface="Calibri"/>
              </a:defRPr>
            </a:pPr>
            <a:r>
              <a:t>MSC-204417 · LADR requirements · 94.1% test plan AC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17920" y="6089904"/>
            <a:ext cx="5440680" cy="320040"/>
          </a:xfrm>
          <a:prstGeom prst="rect">
            <a:avLst/>
          </a:prstGeom>
          <a:solidFill>
            <a:srgbClr val="E8F0FE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0">
                <a:solidFill>
                  <a:srgbClr val="334155"/>
                </a:solidFill>
                <a:latin typeface="Calibri"/>
              </a:defRPr>
            </a:pPr>
            <a:r>
              <a:t>MSC-205625 · Inc as Fulll · 75% test plan AC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217920" y="6437376"/>
            <a:ext cx="5440680" cy="320040"/>
          </a:xfrm>
          <a:prstGeom prst="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0">
                <a:solidFill>
                  <a:srgbClr val="334155"/>
                </a:solidFill>
                <a:latin typeface="Calibri"/>
              </a:defRPr>
            </a:pPr>
            <a:r>
              <a:t>MSC-195138 · FF Race · 66.7% test plan AC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327648"/>
            <a:ext cx="12191695" cy="182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40080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94A3B8"/>
                </a:solidFill>
                <a:latin typeface="Calibri"/>
              </a:defRPr>
            </a:pPr>
            <a:r>
              <a:t>©LTM  |  Privileged and Confidential  |  MSC Dev Code and QA Test Coverage Validator  |  Developed by Mayur Gunjal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40080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94A3B8"/>
                </a:solidFill>
                <a:latin typeface="Calibri"/>
              </a:defRPr>
            </a:pPr>
            <a:r>
              <a:t>17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5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92608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4066C"/>
                </a:solidFill>
                <a:latin typeface="Calibri"/>
              </a:defRPr>
            </a:pPr>
            <a:r>
              <a:t>§4–§5 Dev vs QA ownership &amp; traceability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804672"/>
            <a:ext cx="10972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94A3B8"/>
                </a:solidFill>
                <a:latin typeface="Calibri"/>
              </a:defRPr>
            </a:pPr>
            <a:r>
              <a:t>No ambiguity on what QA must still run in SIT/UAT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280160"/>
            <a:ext cx="5394960" cy="4480560"/>
          </a:xfrm>
          <a:prstGeom prst="roundRect">
            <a:avLst/>
          </a:prstGeom>
          <a:solidFill>
            <a:srgbClr val="E8F0FE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417320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4066C"/>
                </a:solidFill>
                <a:latin typeface="Calibri"/>
              </a:defRPr>
            </a:pPr>
            <a:r>
              <a:t>Development proof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920240"/>
            <a:ext cx="48463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16A34A"/>
                </a:solidFill>
                <a:latin typeface="Calibri"/>
              </a:defRPr>
            </a:pPr>
            <a:r>
              <a:t>✓  Unit / integration tests in PR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423160"/>
            <a:ext cx="48463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16A34A"/>
                </a:solidFill>
                <a:latin typeface="Calibri"/>
              </a:defRPr>
            </a:pPr>
            <a:r>
              <a:t>✓  File + test name evidence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926080"/>
            <a:ext cx="48463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16A34A"/>
                </a:solidFill>
                <a:latin typeface="Calibri"/>
              </a:defRPr>
            </a:pPr>
            <a:r>
              <a:t>✓  Dev-owned AC marked Covered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429000"/>
            <a:ext cx="48463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16A34A"/>
                </a:solidFill>
                <a:latin typeface="Calibri"/>
              </a:defRPr>
            </a:pPr>
            <a:r>
              <a:t>✓  SonarQube CI — 95.3% line (PR #161)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1280160"/>
            <a:ext cx="5394960" cy="4480560"/>
          </a:xfrm>
          <a:prstGeom prst="roundRect">
            <a:avLst/>
          </a:prstGeom>
          <a:solidFill>
            <a:srgbClr val="FFEDEA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1417320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5E4F"/>
                </a:solidFill>
                <a:latin typeface="Calibri"/>
              </a:defRPr>
            </a:pPr>
            <a:r>
              <a:t>QA handoff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37960" y="1920240"/>
            <a:ext cx="48463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FF5E4F"/>
                </a:solidFill>
                <a:latin typeface="Calibri"/>
              </a:defRPr>
            </a:pPr>
            <a:r>
              <a:t>→  Monitor E2E scenarios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7960" y="2423160"/>
            <a:ext cx="48463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FF5E4F"/>
                </a:solidFill>
                <a:latin typeface="Calibri"/>
              </a:defRPr>
            </a:pPr>
            <a:r>
              <a:t>→  Manual SIT / UAT evidence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7960" y="2926080"/>
            <a:ext cx="48463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FF5E4F"/>
                </a:solidFill>
                <a:latin typeface="Calibri"/>
              </a:defRPr>
            </a:pPr>
            <a:r>
              <a:t>→  Regression for related bugs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37960" y="3429000"/>
            <a:ext cx="48463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FF5E4F"/>
                </a:solidFill>
                <a:latin typeface="Calibri"/>
              </a:defRPr>
            </a:pPr>
            <a:r>
              <a:t>→  Mascot-linked validation runs</a:t>
            </a:r>
          </a:p>
        </p:txBody>
      </p:sp>
      <p:sp>
        <p:nvSpPr>
          <p:cNvPr id="20" name="Oval 19"/>
          <p:cNvSpPr/>
          <p:nvPr/>
        </p:nvSpPr>
        <p:spPr>
          <a:xfrm>
            <a:off x="5623560" y="3200400"/>
            <a:ext cx="914400" cy="914400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04066C"/>
                </a:solidFill>
              </a:defRPr>
            </a:pPr>
            <a:r>
              <a:t>AC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406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686800" y="1097280"/>
            <a:ext cx="4114800" cy="4114800"/>
          </a:xfrm>
          <a:prstGeom prst="ellipse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828800"/>
            <a:ext cx="1828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200" b="1">
                <a:solidFill>
                  <a:srgbClr val="FFC000"/>
                </a:solidFill>
                <a:latin typeface="Calibri"/>
              </a:defRPr>
            </a:pPr>
            <a: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926080"/>
            <a:ext cx="91440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Calibri"/>
              </a:defRPr>
            </a:pPr>
            <a:r>
              <a:t>Enablement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977639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BFDBFE"/>
                </a:solidFill>
                <a:latin typeface="Calibri"/>
              </a:defRPr>
            </a:pPr>
            <a:r>
              <a:t>One-time setup · scripts · cache · permissions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327648"/>
            <a:ext cx="12191695" cy="182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94A3B8"/>
                </a:solidFill>
                <a:latin typeface="Calibri"/>
              </a:defRPr>
            </a:pPr>
            <a:r>
              <a:t>©LTM  |  Privileged and Confidential  |  MSC Dev Code and QA Test Coverage Validator  |  Developed by Mayur Gunjal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0080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94A3B8"/>
                </a:solidFill>
                <a:latin typeface="Calibri"/>
              </a:defRPr>
            </a:pPr>
            <a:r>
              <a:t>18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327648"/>
            <a:ext cx="12191695" cy="182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40080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94A3B8"/>
                </a:solidFill>
                <a:latin typeface="Calibri"/>
              </a:defRPr>
            </a:pPr>
            <a:r>
              <a:t>©LTM  |  Privileged and Confidential  |  MSC Dev Code and QA Test Coverage Validator  |  Developed by Mayur Gunjal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40080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94A3B8"/>
                </a:solidFill>
                <a:latin typeface="Calibri"/>
              </a:defRPr>
            </a:pPr>
            <a:r>
              <a:t>19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5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92608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4066C"/>
                </a:solidFill>
                <a:latin typeface="Calibri"/>
              </a:defRPr>
            </a:pPr>
            <a:r>
              <a:t>Enablement — one-time setup (~10 min)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804672"/>
            <a:ext cx="10972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94A3B8"/>
                </a:solidFill>
                <a:latin typeface="Calibri"/>
              </a:defRPr>
            </a:pPr>
            <a:r>
              <a:t>Clone lab → MCP → gh → permissions → optional .env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234440"/>
            <a:ext cx="5440680" cy="804672"/>
          </a:xfrm>
          <a:prstGeom prst="roundRect">
            <a:avLst/>
          </a:prstGeom>
          <a:solidFill>
            <a:srgbClr val="FFF8E1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40080" y="1435608"/>
            <a:ext cx="411480" cy="411480"/>
          </a:xfrm>
          <a:prstGeom prst="ellipse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1344168"/>
            <a:ext cx="4572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4066C"/>
                </a:solidFill>
                <a:latin typeface="Calibri"/>
              </a:defRPr>
            </a:pPr>
            <a:r>
              <a:t>Clone pegasus-qa-agents-lab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1673352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Calibri"/>
              </a:defRPr>
            </a:pPr>
            <a:r>
              <a:t>cursor 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234440"/>
            <a:ext cx="5440680" cy="804672"/>
          </a:xfrm>
          <a:prstGeom prst="round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309360" y="1435608"/>
            <a:ext cx="411480" cy="411480"/>
          </a:xfrm>
          <a:prstGeom prst="ellipse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0" y="1344168"/>
            <a:ext cx="4572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4066C"/>
                </a:solidFill>
                <a:latin typeface="Calibri"/>
              </a:defRPr>
            </a:pPr>
            <a:r>
              <a:t>pip install -r requirements.txt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0" y="1673352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Calibri"/>
              </a:defRPr>
            </a:pPr>
            <a:r>
              <a:t>Python 3.10+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2194560"/>
            <a:ext cx="5440680" cy="804672"/>
          </a:xfrm>
          <a:prstGeom prst="roundRect">
            <a:avLst/>
          </a:prstGeom>
          <a:solidFill>
            <a:srgbClr val="FFF8E1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0080" y="2395728"/>
            <a:ext cx="411480" cy="411480"/>
          </a:xfrm>
          <a:prstGeom prst="ellipse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88720" y="2304288"/>
            <a:ext cx="4572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4066C"/>
                </a:solidFill>
                <a:latin typeface="Calibri"/>
              </a:defRPr>
            </a:pPr>
            <a:r>
              <a:t>Atlassian MCP auth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20" y="2633472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Calibri"/>
              </a:defRPr>
            </a:pPr>
            <a:r>
              <a:t>wbdstreaming.atlassian.net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2194560"/>
            <a:ext cx="5440680" cy="804672"/>
          </a:xfrm>
          <a:prstGeom prst="round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309360" y="2395728"/>
            <a:ext cx="411480" cy="411480"/>
          </a:xfrm>
          <a:prstGeom prst="ellipse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0" y="2304288"/>
            <a:ext cx="4572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4066C"/>
                </a:solidFill>
                <a:latin typeface="Calibri"/>
              </a:defRPr>
            </a:pPr>
            <a:r>
              <a:t>gh auth login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0" y="2633472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Calibri"/>
              </a:defRPr>
            </a:pPr>
            <a:r>
              <a:t>GitHub PR access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3154680"/>
            <a:ext cx="5440680" cy="804672"/>
          </a:xfrm>
          <a:prstGeom prst="roundRect">
            <a:avLst/>
          </a:prstGeom>
          <a:solidFill>
            <a:srgbClr val="FFF8E1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40080" y="3355848"/>
            <a:ext cx="411480" cy="411480"/>
          </a:xfrm>
          <a:prstGeom prst="ellipse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✓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88720" y="3264408"/>
            <a:ext cx="4572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4066C"/>
                </a:solidFill>
                <a:latin typeface="Calibri"/>
              </a:defRPr>
            </a:pPr>
            <a:r>
              <a:t>install_coverage_validator_permissions.py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88720" y="3593592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Calibri"/>
              </a:defRPr>
            </a:pPr>
            <a:r>
              <a:t>Auto-run allowlist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72200" y="3154680"/>
            <a:ext cx="5440680" cy="804672"/>
          </a:xfrm>
          <a:prstGeom prst="round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309360" y="3355848"/>
            <a:ext cx="411480" cy="411480"/>
          </a:xfrm>
          <a:prstGeom prst="ellipse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✓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58000" y="3264408"/>
            <a:ext cx="4572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4066C"/>
                </a:solidFill>
                <a:latin typeface="Calibri"/>
              </a:defRPr>
            </a:pPr>
            <a:r>
              <a:t>.env + validator.defaults.json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58000" y="3593592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Calibri"/>
              </a:defRPr>
            </a:pPr>
            <a:r>
              <a:t>Test plan download + repo defaults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4160520"/>
            <a:ext cx="111556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4066C"/>
                </a:solidFill>
                <a:latin typeface="Calibri"/>
              </a:defRPr>
            </a:pPr>
            <a:r>
              <a:t>Scripts (batched — no manual gh per run):</a:t>
            </a:r>
          </a:p>
          <a:p>
            <a:pPr>
              <a:defRPr sz="1100" b="0">
                <a:solidFill>
                  <a:srgbClr val="334155"/>
                </a:solidFill>
                <a:latin typeface="Calibri"/>
              </a:defRPr>
            </a:pPr>
            <a:r>
              <a:t>fetch_confluence_requirements.py  ·  fetch_jira_testplan.py  ·  prefetch_coverage_inputs.py</a:t>
            </a:r>
          </a:p>
          <a:p>
            <a:pPr>
              <a:defRPr sz="1100" b="0">
                <a:solidFill>
                  <a:srgbClr val="334155"/>
                </a:solidFill>
                <a:latin typeface="Calibri"/>
              </a:defRPr>
            </a:pPr>
            <a:r>
              <a:t>apply_report_ui_enhancements()  ·  Cache: reports/.cache/{KEY}-*.json</a:t>
            </a:r>
          </a:p>
          <a:p>
            <a:pPr>
              <a:defRPr sz="1100" b="0">
                <a:solidFill>
                  <a:srgbClr val="334155"/>
                </a:solidFill>
                <a:latin typeface="Calibri"/>
              </a:defRPr>
            </a:pPr>
            <a:r>
              <a:t>sync_pegasus_qa_agents_lab.py → push to github.com/mgunjal11/pegasus-qa-agents-lab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406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686800" y="1097280"/>
            <a:ext cx="4114800" cy="4114800"/>
          </a:xfrm>
          <a:prstGeom prst="ellipse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828800"/>
            <a:ext cx="1828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200" b="1">
                <a:solidFill>
                  <a:srgbClr val="FFC000"/>
                </a:solidFill>
                <a:latin typeface="Calibri"/>
              </a:defRPr>
            </a:pPr>
            <a: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926080"/>
            <a:ext cx="91440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Calibri"/>
              </a:defRPr>
            </a:pPr>
            <a:r>
              <a:t>Outcomes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977639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BFDBFE"/>
                </a:solidFill>
                <a:latin typeface="Calibri"/>
              </a:defRPr>
            </a:pPr>
            <a:r>
              <a:t>MSC case studies · latest report matrix · real coverage metrics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327648"/>
            <a:ext cx="12191695" cy="182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94A3B8"/>
                </a:solidFill>
                <a:latin typeface="Calibri"/>
              </a:defRPr>
            </a:pPr>
            <a:r>
              <a:t>©LTM  |  Privileged and Confidential  |  MSC Dev Code and QA Test Coverage Validator  |  Developed by Mayur Gunjal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0080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94A3B8"/>
                </a:solidFill>
                <a:latin typeface="Calibri"/>
              </a:defRPr>
            </a:pPr>
            <a:r>
              <a:t>20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327648"/>
            <a:ext cx="12191695" cy="182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40080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94A3B8"/>
                </a:solidFill>
                <a:latin typeface="Calibri"/>
              </a:defRPr>
            </a:pPr>
            <a:r>
              <a:t>©LTM  |  Privileged and Confidential  |  MSC Dev Code and QA Test Coverage Validator  |  Developed by Mayur Gunjal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40080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94A3B8"/>
                </a:solidFill>
                <a:latin typeface="Calibri"/>
              </a:defRPr>
            </a:pPr>
            <a:r>
              <a:t>21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5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92608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4066C"/>
                </a:solidFill>
                <a:latin typeface="Calibri"/>
              </a:defRPr>
            </a:pPr>
            <a:r>
              <a:t>Latest report matrix — 8-card coverage summary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804672"/>
            <a:ext cx="10972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94A3B8"/>
                </a:solidFill>
                <a:latin typeface="Calibri"/>
              </a:defRPr>
            </a:pPr>
            <a:r>
              <a:t>From generated HTML reports · MSC-205625 · MSC-204417 · MSC-195138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207008"/>
            <a:ext cx="1212088" cy="365760"/>
          </a:xfrm>
          <a:prstGeom prst="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Ticket</a:t>
            </a:r>
          </a:p>
        </p:txBody>
      </p:sp>
      <p:sp>
        <p:nvSpPr>
          <p:cNvPr id="9" name="Rectangle 8"/>
          <p:cNvSpPr/>
          <p:nvPr/>
        </p:nvSpPr>
        <p:spPr>
          <a:xfrm>
            <a:off x="1742440" y="1207008"/>
            <a:ext cx="1212088" cy="365760"/>
          </a:xfrm>
          <a:prstGeom prst="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Dev code</a:t>
            </a:r>
          </a:p>
        </p:txBody>
      </p:sp>
      <p:sp>
        <p:nvSpPr>
          <p:cNvPr id="10" name="Rectangle 9"/>
          <p:cNvSpPr/>
          <p:nvPr/>
        </p:nvSpPr>
        <p:spPr>
          <a:xfrm>
            <a:off x="2981960" y="1207008"/>
            <a:ext cx="1212088" cy="365760"/>
          </a:xfrm>
          <a:prstGeom prst="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Dev tests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21480" y="1207008"/>
            <a:ext cx="1212088" cy="365760"/>
          </a:xfrm>
          <a:prstGeom prst="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Req mapped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61000" y="1207008"/>
            <a:ext cx="1212088" cy="365760"/>
          </a:xfrm>
          <a:prstGeom prst="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Test plan AC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700520" y="1207008"/>
            <a:ext cx="1212088" cy="365760"/>
          </a:xfrm>
          <a:prstGeom prst="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QA scope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40040" y="1207008"/>
            <a:ext cx="1212088" cy="365760"/>
          </a:xfrm>
          <a:prstGeom prst="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Open gaps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79560" y="1207008"/>
            <a:ext cx="1212088" cy="365760"/>
          </a:xfrm>
          <a:prstGeom prst="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CI line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419080" y="1207008"/>
            <a:ext cx="1212088" cy="365760"/>
          </a:xfrm>
          <a:prstGeom prst="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Verdict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1627632"/>
            <a:ext cx="1212088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700" b="1">
                <a:solidFill>
                  <a:srgbClr val="1A1A1A"/>
                </a:solidFill>
                <a:latin typeface="Calibri"/>
              </a:defRPr>
            </a:pPr>
            <a:r>
              <a:t>MSC-205625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742440" y="1627632"/>
            <a:ext cx="1212088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700" b="0">
                <a:solidFill>
                  <a:srgbClr val="16A34A"/>
                </a:solidFill>
                <a:latin typeface="Calibri"/>
              </a:defRPr>
            </a:pPr>
            <a:r>
              <a:t>100%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981960" y="1627632"/>
            <a:ext cx="1212088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700" b="0">
                <a:solidFill>
                  <a:srgbClr val="D97706"/>
                </a:solidFill>
                <a:latin typeface="Calibri"/>
              </a:defRPr>
            </a:pPr>
            <a:r>
              <a:t>75%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221480" y="1627632"/>
            <a:ext cx="1212088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700" b="0">
                <a:solidFill>
                  <a:srgbClr val="334155"/>
                </a:solidFill>
                <a:latin typeface="Calibri"/>
              </a:defRPr>
            </a:pPr>
            <a:r>
              <a:t>4/4 AC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61000" y="1627632"/>
            <a:ext cx="1212088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700" b="0">
                <a:solidFill>
                  <a:srgbClr val="D97706"/>
                </a:solidFill>
                <a:latin typeface="Calibri"/>
              </a:defRPr>
            </a:pPr>
            <a:r>
              <a:t>75%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700520" y="1627632"/>
            <a:ext cx="1212088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700" b="0">
                <a:solidFill>
                  <a:srgbClr val="334155"/>
                </a:solidFill>
                <a:latin typeface="Calibri"/>
              </a:defRPr>
            </a:pPr>
            <a:r>
              <a:t>1 item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940040" y="1627632"/>
            <a:ext cx="1212088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700" b="0">
                <a:solidFill>
                  <a:srgbClr val="334155"/>
                </a:solidFill>
                <a:latin typeface="Calibri"/>
              </a:defRPr>
            </a:pPr>
            <a:r>
              <a:t>2 Med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179560" y="1627632"/>
            <a:ext cx="1212088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700" b="0">
                <a:solidFill>
                  <a:srgbClr val="334155"/>
                </a:solidFill>
                <a:latin typeface="Calibri"/>
              </a:defRPr>
            </a:pPr>
            <a:r>
              <a:t>95.3%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419080" y="1627632"/>
            <a:ext cx="1212088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700" b="0">
                <a:solidFill>
                  <a:srgbClr val="D97706"/>
                </a:solidFill>
                <a:latin typeface="Calibri"/>
              </a:defRPr>
            </a:pPr>
            <a:r>
              <a:t>Pass w/ gaps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2029968"/>
            <a:ext cx="1212088" cy="365760"/>
          </a:xfrm>
          <a:prstGeom prst="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700" b="1">
                <a:solidFill>
                  <a:srgbClr val="1A1A1A"/>
                </a:solidFill>
                <a:latin typeface="Calibri"/>
              </a:defRPr>
            </a:pPr>
            <a:r>
              <a:t>MSC-204417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742440" y="2029968"/>
            <a:ext cx="1212088" cy="365760"/>
          </a:xfrm>
          <a:prstGeom prst="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700" b="0">
                <a:solidFill>
                  <a:srgbClr val="16A34A"/>
                </a:solidFill>
                <a:latin typeface="Calibri"/>
              </a:defRPr>
            </a:pPr>
            <a:r>
              <a:t>100%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981960" y="2029968"/>
            <a:ext cx="1212088" cy="365760"/>
          </a:xfrm>
          <a:prstGeom prst="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700" b="0">
                <a:solidFill>
                  <a:srgbClr val="D97706"/>
                </a:solidFill>
                <a:latin typeface="Calibri"/>
              </a:defRPr>
            </a:pPr>
            <a:r>
              <a:t>83.3%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221480" y="2029968"/>
            <a:ext cx="1212088" cy="365760"/>
          </a:xfrm>
          <a:prstGeom prst="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700" b="0">
                <a:solidFill>
                  <a:srgbClr val="334155"/>
                </a:solidFill>
                <a:latin typeface="Calibri"/>
              </a:defRPr>
            </a:pPr>
            <a:r>
              <a:t>16/17 AC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61000" y="2029968"/>
            <a:ext cx="1212088" cy="365760"/>
          </a:xfrm>
          <a:prstGeom prst="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700" b="0">
                <a:solidFill>
                  <a:srgbClr val="D97706"/>
                </a:solidFill>
                <a:latin typeface="Calibri"/>
              </a:defRPr>
            </a:pPr>
            <a:r>
              <a:t>94.1%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700520" y="2029968"/>
            <a:ext cx="1212088" cy="365760"/>
          </a:xfrm>
          <a:prstGeom prst="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700" b="0">
                <a:solidFill>
                  <a:srgbClr val="334155"/>
                </a:solidFill>
                <a:latin typeface="Calibri"/>
              </a:defRPr>
            </a:pPr>
            <a:r>
              <a:t>2 items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940040" y="2029968"/>
            <a:ext cx="1212088" cy="365760"/>
          </a:xfrm>
          <a:prstGeom prst="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700" b="0">
                <a:solidFill>
                  <a:srgbClr val="334155"/>
                </a:solidFill>
                <a:latin typeface="Calibri"/>
              </a:defRPr>
            </a:pPr>
            <a:r>
              <a:t>2 High · 2 Med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179560" y="2029968"/>
            <a:ext cx="1212088" cy="365760"/>
          </a:xfrm>
          <a:prstGeom prst="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700" b="0">
                <a:solidFill>
                  <a:srgbClr val="94A3B8"/>
                </a:solidFill>
                <a:latin typeface="Calibri"/>
              </a:defRPr>
            </a:pPr>
            <a:r>
              <a:t>NA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419080" y="2029968"/>
            <a:ext cx="1212088" cy="365760"/>
          </a:xfrm>
          <a:prstGeom prst="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700" b="0">
                <a:solidFill>
                  <a:srgbClr val="D97706"/>
                </a:solidFill>
                <a:latin typeface="Calibri"/>
              </a:defRPr>
            </a:pPr>
            <a:r>
              <a:t>Pass w/ gaps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02920" y="2432304"/>
            <a:ext cx="1212088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700" b="1">
                <a:solidFill>
                  <a:srgbClr val="1A1A1A"/>
                </a:solidFill>
                <a:latin typeface="Calibri"/>
              </a:defRPr>
            </a:pPr>
            <a:r>
              <a:t>MSC-195138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742440" y="2432304"/>
            <a:ext cx="1212088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700" b="0">
                <a:solidFill>
                  <a:srgbClr val="D97706"/>
                </a:solidFill>
                <a:latin typeface="Calibri"/>
              </a:defRPr>
            </a:pPr>
            <a:r>
              <a:t>83.3%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981960" y="2432304"/>
            <a:ext cx="1212088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700" b="0">
                <a:solidFill>
                  <a:srgbClr val="D97706"/>
                </a:solidFill>
                <a:latin typeface="Calibri"/>
              </a:defRPr>
            </a:pPr>
            <a:r>
              <a:t>83.3%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221480" y="2432304"/>
            <a:ext cx="1212088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700" b="0">
                <a:solidFill>
                  <a:srgbClr val="334155"/>
                </a:solidFill>
                <a:latin typeface="Calibri"/>
              </a:defRPr>
            </a:pPr>
            <a:r>
              <a:t>2/3 AC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461000" y="2432304"/>
            <a:ext cx="1212088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700" b="0">
                <a:solidFill>
                  <a:srgbClr val="D97706"/>
                </a:solidFill>
                <a:latin typeface="Calibri"/>
              </a:defRPr>
            </a:pPr>
            <a:r>
              <a:t>66.7%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700520" y="2432304"/>
            <a:ext cx="1212088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700" b="0">
                <a:solidFill>
                  <a:srgbClr val="334155"/>
                </a:solidFill>
                <a:latin typeface="Calibri"/>
              </a:defRPr>
            </a:pPr>
            <a:r>
              <a:t>3 items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940040" y="2432304"/>
            <a:ext cx="1212088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700" b="0">
                <a:solidFill>
                  <a:srgbClr val="334155"/>
                </a:solidFill>
                <a:latin typeface="Calibri"/>
              </a:defRPr>
            </a:pPr>
            <a:r>
              <a:t>1 High · 3 Med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179560" y="2432304"/>
            <a:ext cx="1212088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700" b="0">
                <a:solidFill>
                  <a:srgbClr val="94A3B8"/>
                </a:solidFill>
                <a:latin typeface="Calibri"/>
              </a:defRPr>
            </a:pPr>
            <a:r>
              <a:t>NA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0419080" y="2432304"/>
            <a:ext cx="1212088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700" b="0">
                <a:solidFill>
                  <a:srgbClr val="D97706"/>
                </a:solidFill>
                <a:latin typeface="Calibri"/>
              </a:defRPr>
            </a:pPr>
            <a:r>
              <a:t>Pass w/ gaps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02920" y="2788920"/>
            <a:ext cx="11155680" cy="320040"/>
          </a:xfrm>
          <a:prstGeom prst="roundRect">
            <a:avLst/>
          </a:prstGeom>
          <a:solidFill>
            <a:srgbClr val="FF5E4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Report artifacts (latest)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02920" y="3182112"/>
            <a:ext cx="11155680" cy="310896"/>
          </a:xfrm>
          <a:prstGeom prst="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334155"/>
                </a:solidFill>
                <a:latin typeface="Calibri"/>
              </a:defRPr>
            </a:pPr>
            <a:r>
              <a:t>MSC-205625 · MSC-205625-05-29-2026-12-43-49-IST.html · 05-29-2026 12:43 IST · PR #161 pick-genie · MERGED · CI Passed · Domino · Inc as Fulll · 5/5 GWT · 3/4 AC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3529584"/>
            <a:ext cx="11155680" cy="310896"/>
          </a:xfrm>
          <a:prstGeom prst="rect">
            <a:avLst/>
          </a:prstGeom>
          <a:solidFill>
            <a:srgbClr val="E8F0FE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04066C"/>
                </a:solidFill>
                <a:latin typeface="Calibri"/>
              </a:defRPr>
            </a:pPr>
            <a:r>
              <a:t>MSC-204417 · MSC-204417-05-31-2026-10-19-28-IST.html · 05-31-2026 10:19 IST · No PR · develop branch · Caption Monitoring · 12/12 GWT · Confluence LADR requirements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02920" y="3877056"/>
            <a:ext cx="11155680" cy="310896"/>
          </a:xfrm>
          <a:prstGeom prst="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334155"/>
                </a:solidFill>
                <a:latin typeface="Calibri"/>
              </a:defRPr>
            </a:pPr>
            <a:r>
              <a:t>MSC-195138 · MSC-195138-05-27-2026-17-57-12-IST.html · 05-27-2026 17:57 IST · PRs #22 + #75 · MERGED · FF Race · 11/11 GWT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2920" y="4343400"/>
            <a:ext cx="5394960" cy="320040"/>
          </a:xfrm>
          <a:prstGeom prst="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MSC-204417 — sample §1 cards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502920" y="4709160"/>
            <a:ext cx="1261872" cy="777240"/>
          </a:xfrm>
          <a:prstGeom prst="roundRect">
            <a:avLst/>
          </a:prstGeom>
          <a:solidFill>
            <a:srgbClr val="E8F0FE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94360" y="4846320"/>
            <a:ext cx="107899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04066C"/>
                </a:solidFill>
                <a:latin typeface="Calibri"/>
              </a:defRPr>
            </a:pPr>
            <a:r>
              <a:t>100%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76072" y="5367528"/>
            <a:ext cx="1115568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04066C"/>
                </a:solidFill>
                <a:latin typeface="Calibri"/>
              </a:defRPr>
            </a:pPr>
            <a:r>
              <a:t>Dev code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1856232" y="4709160"/>
            <a:ext cx="1261872" cy="777240"/>
          </a:xfrm>
          <a:prstGeom prst="roundRect">
            <a:avLst/>
          </a:prstGeom>
          <a:solidFill>
            <a:srgbClr val="E8F0FE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947672" y="4846320"/>
            <a:ext cx="107899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04066C"/>
                </a:solidFill>
                <a:latin typeface="Calibri"/>
              </a:defRPr>
            </a:pPr>
            <a:r>
              <a:t>83.3%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929384" y="5367528"/>
            <a:ext cx="1115568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04066C"/>
                </a:solidFill>
                <a:latin typeface="Calibri"/>
              </a:defRPr>
            </a:pPr>
            <a:r>
              <a:t>Dev tests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3209544" y="4709160"/>
            <a:ext cx="1261872" cy="777240"/>
          </a:xfrm>
          <a:prstGeom prst="roundRect">
            <a:avLst/>
          </a:prstGeom>
          <a:solidFill>
            <a:srgbClr val="E8F0FE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300984" y="4846320"/>
            <a:ext cx="107899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04066C"/>
                </a:solidFill>
                <a:latin typeface="Calibri"/>
              </a:defRPr>
            </a:pPr>
            <a:r>
              <a:t>94.1%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282696" y="5367528"/>
            <a:ext cx="1115568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04066C"/>
                </a:solidFill>
                <a:latin typeface="Calibri"/>
              </a:defRPr>
            </a:pPr>
            <a:r>
              <a:t>Test plan AC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4562856" y="4709160"/>
            <a:ext cx="1261872" cy="777240"/>
          </a:xfrm>
          <a:prstGeom prst="roundRect">
            <a:avLst/>
          </a:prstGeom>
          <a:solidFill>
            <a:srgbClr val="FFF8E1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654296" y="4846320"/>
            <a:ext cx="107899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04066C"/>
                </a:solidFill>
                <a:latin typeface="Calibri"/>
              </a:defRPr>
            </a:pPr>
            <a:r>
              <a:t>NA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636008" y="5367528"/>
            <a:ext cx="1115568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04066C"/>
                </a:solidFill>
                <a:latin typeface="Calibri"/>
              </a:defRPr>
            </a:pPr>
            <a:r>
              <a:t>CI line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080760" y="4343400"/>
            <a:ext cx="5577840" cy="320040"/>
          </a:xfrm>
          <a:prstGeom prst="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MSC-205625 — sample §1 cards (PR + CI)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6080760" y="4709160"/>
            <a:ext cx="1261872" cy="777240"/>
          </a:xfrm>
          <a:prstGeom prst="roundRect">
            <a:avLst/>
          </a:prstGeom>
          <a:solidFill>
            <a:srgbClr val="DCFCE7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172200" y="4846320"/>
            <a:ext cx="107899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16A34A"/>
                </a:solidFill>
                <a:latin typeface="Calibri"/>
              </a:defRPr>
            </a:pPr>
            <a:r>
              <a:t>100%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153912" y="5367528"/>
            <a:ext cx="1115568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16A34A"/>
                </a:solidFill>
                <a:latin typeface="Calibri"/>
              </a:defRPr>
            </a:pPr>
            <a:r>
              <a:t>Dev code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7434072" y="4709160"/>
            <a:ext cx="1261872" cy="777240"/>
          </a:xfrm>
          <a:prstGeom prst="roundRect">
            <a:avLst/>
          </a:prstGeom>
          <a:solidFill>
            <a:srgbClr val="DCFCE7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7525512" y="4846320"/>
            <a:ext cx="107899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16A34A"/>
                </a:solidFill>
                <a:latin typeface="Calibri"/>
              </a:defRPr>
            </a:pPr>
            <a:r>
              <a:t>75%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507224" y="5367528"/>
            <a:ext cx="1115568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16A34A"/>
                </a:solidFill>
                <a:latin typeface="Calibri"/>
              </a:defRPr>
            </a:pPr>
            <a:r>
              <a:t>Dev tests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8787384" y="4709160"/>
            <a:ext cx="1261872" cy="777240"/>
          </a:xfrm>
          <a:prstGeom prst="roundRect">
            <a:avLst/>
          </a:prstGeom>
          <a:solidFill>
            <a:srgbClr val="DCFCE7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878824" y="4846320"/>
            <a:ext cx="107899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16A34A"/>
                </a:solidFill>
                <a:latin typeface="Calibri"/>
              </a:defRPr>
            </a:pPr>
            <a:r>
              <a:t>75%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860536" y="5367528"/>
            <a:ext cx="1115568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16A34A"/>
                </a:solidFill>
                <a:latin typeface="Calibri"/>
              </a:defRPr>
            </a:pPr>
            <a:r>
              <a:t>Test plan AC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10140696" y="4709160"/>
            <a:ext cx="1261872" cy="777240"/>
          </a:xfrm>
          <a:prstGeom prst="roundRect">
            <a:avLst/>
          </a:prstGeom>
          <a:solidFill>
            <a:srgbClr val="DCFCE7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0232136" y="4846320"/>
            <a:ext cx="107899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16A34A"/>
                </a:solidFill>
                <a:latin typeface="Calibri"/>
              </a:defRPr>
            </a:pPr>
            <a:r>
              <a:t>95.3%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213848" y="5367528"/>
            <a:ext cx="1115568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16A34A"/>
                </a:solidFill>
                <a:latin typeface="Calibri"/>
              </a:defRPr>
            </a:pPr>
            <a:r>
              <a:t>CI line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327648"/>
            <a:ext cx="12191695" cy="182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40080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94A3B8"/>
                </a:solidFill>
                <a:latin typeface="Calibri"/>
              </a:defRPr>
            </a:pPr>
            <a:r>
              <a:t>©LTM  |  Privileged and Confidential  |  MSC Dev Code and QA Test Coverage Validator  |  Developed by Mayur Gunjal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40080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94A3B8"/>
                </a:solidFill>
                <a:latin typeface="Calibri"/>
              </a:defRPr>
            </a:pPr>
            <a:r>
              <a:t>22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5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92608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4066C"/>
                </a:solidFill>
                <a:latin typeface="Calibri"/>
              </a:defRPr>
            </a:pPr>
            <a:r>
              <a:t>Proven MSC outcomes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804672"/>
            <a:ext cx="10972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94A3B8"/>
                </a:solidFill>
                <a:latin typeface="Calibri"/>
              </a:defRPr>
            </a:pPr>
            <a:r>
              <a:t>Latest HTML reports — see full 8-card matrix on prior slide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234440"/>
            <a:ext cx="1508760" cy="384048"/>
          </a:xfrm>
          <a:prstGeom prst="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Ticket</a:t>
            </a:r>
          </a:p>
        </p:txBody>
      </p:sp>
      <p:sp>
        <p:nvSpPr>
          <p:cNvPr id="9" name="Rectangle 8"/>
          <p:cNvSpPr/>
          <p:nvPr/>
        </p:nvSpPr>
        <p:spPr>
          <a:xfrm>
            <a:off x="2103120" y="1234440"/>
            <a:ext cx="1508760" cy="384048"/>
          </a:xfrm>
          <a:prstGeom prst="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Type</a:t>
            </a:r>
          </a:p>
        </p:txBody>
      </p:sp>
      <p:sp>
        <p:nvSpPr>
          <p:cNvPr id="10" name="Rectangle 9"/>
          <p:cNvSpPr/>
          <p:nvPr/>
        </p:nvSpPr>
        <p:spPr>
          <a:xfrm>
            <a:off x="3703320" y="1234440"/>
            <a:ext cx="1508760" cy="384048"/>
          </a:xfrm>
          <a:prstGeom prst="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Code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0" y="1234440"/>
            <a:ext cx="1508760" cy="384048"/>
          </a:xfrm>
          <a:prstGeom prst="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Dev tests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903720" y="1234440"/>
            <a:ext cx="1508760" cy="384048"/>
          </a:xfrm>
          <a:prstGeom prst="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Plan AC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503920" y="1234440"/>
            <a:ext cx="1508760" cy="384048"/>
          </a:xfrm>
          <a:prstGeom prst="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Verdict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104120" y="1234440"/>
            <a:ext cx="1508760" cy="384048"/>
          </a:xfrm>
          <a:prstGeom prst="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Notes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1691640"/>
            <a:ext cx="150876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1A1A1A"/>
                </a:solidFill>
                <a:latin typeface="Calibri"/>
              </a:defRPr>
            </a:pPr>
            <a:r>
              <a:t>MSC-205625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103120" y="1691640"/>
            <a:ext cx="150876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1A1A1A"/>
                </a:solidFill>
                <a:latin typeface="Calibri"/>
              </a:defRPr>
            </a:pPr>
            <a:r>
              <a:t>Bug · Ready for Release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703320" y="1691640"/>
            <a:ext cx="150876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16A34A"/>
                </a:solidFill>
                <a:latin typeface="Calibri"/>
              </a:defRPr>
            </a:pPr>
            <a:r>
              <a:t>100%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303520" y="1691640"/>
            <a:ext cx="150876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D97706"/>
                </a:solidFill>
                <a:latin typeface="Calibri"/>
              </a:defRPr>
            </a:pPr>
            <a:r>
              <a:t>75%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903720" y="1691640"/>
            <a:ext cx="150876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D97706"/>
                </a:solidFill>
                <a:latin typeface="Calibri"/>
              </a:defRPr>
            </a:pPr>
            <a:r>
              <a:t>75%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503920" y="1691640"/>
            <a:ext cx="150876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D97706"/>
                </a:solidFill>
                <a:latin typeface="Calibri"/>
              </a:defRPr>
            </a:pPr>
            <a:r>
              <a:t>Pass w/ gaps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104120" y="1691640"/>
            <a:ext cx="150876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334155"/>
                </a:solidFill>
                <a:latin typeface="Calibri"/>
              </a:defRPr>
            </a:pPr>
            <a:r>
              <a:t>PR #161 pick-genie · MERGED · CI Passed · …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2167128"/>
            <a:ext cx="1508760" cy="438912"/>
          </a:xfrm>
          <a:prstGeom prst="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1A1A1A"/>
                </a:solidFill>
                <a:latin typeface="Calibri"/>
              </a:defRPr>
            </a:pPr>
            <a:r>
              <a:t>MSC-204417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103120" y="2167128"/>
            <a:ext cx="1508760" cy="438912"/>
          </a:xfrm>
          <a:prstGeom prst="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1A1A1A"/>
                </a:solidFill>
                <a:latin typeface="Calibri"/>
              </a:defRPr>
            </a:pPr>
            <a:r>
              <a:t>Story · In QA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703320" y="2167128"/>
            <a:ext cx="1508760" cy="438912"/>
          </a:xfrm>
          <a:prstGeom prst="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16A34A"/>
                </a:solidFill>
                <a:latin typeface="Calibri"/>
              </a:defRPr>
            </a:pPr>
            <a:r>
              <a:t>100%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303520" y="2167128"/>
            <a:ext cx="1508760" cy="438912"/>
          </a:xfrm>
          <a:prstGeom prst="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D97706"/>
                </a:solidFill>
                <a:latin typeface="Calibri"/>
              </a:defRPr>
            </a:pPr>
            <a:r>
              <a:t>83.3%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903720" y="2167128"/>
            <a:ext cx="1508760" cy="438912"/>
          </a:xfrm>
          <a:prstGeom prst="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D97706"/>
                </a:solidFill>
                <a:latin typeface="Calibri"/>
              </a:defRPr>
            </a:pPr>
            <a:r>
              <a:t>94.1%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503920" y="2167128"/>
            <a:ext cx="1508760" cy="438912"/>
          </a:xfrm>
          <a:prstGeom prst="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D97706"/>
                </a:solidFill>
                <a:latin typeface="Calibri"/>
              </a:defRPr>
            </a:pPr>
            <a:r>
              <a:t>Pass w/ gaps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104120" y="2167128"/>
            <a:ext cx="1508760" cy="438912"/>
          </a:xfrm>
          <a:prstGeom prst="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334155"/>
                </a:solidFill>
                <a:latin typeface="Calibri"/>
              </a:defRPr>
            </a:pPr>
            <a:r>
              <a:t>Confluence LADR requirements · No PR · dev…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2642616"/>
            <a:ext cx="150876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1A1A1A"/>
                </a:solidFill>
                <a:latin typeface="Calibri"/>
              </a:defRPr>
            </a:pPr>
            <a:r>
              <a:t>MSC-195138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103120" y="2642616"/>
            <a:ext cx="150876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1A1A1A"/>
                </a:solidFill>
                <a:latin typeface="Calibri"/>
              </a:defRPr>
            </a:pPr>
            <a:r>
              <a:t>Story · Done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703320" y="2642616"/>
            <a:ext cx="150876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D97706"/>
                </a:solidFill>
                <a:latin typeface="Calibri"/>
              </a:defRPr>
            </a:pPr>
            <a:r>
              <a:t>83.3%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303520" y="2642616"/>
            <a:ext cx="150876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D97706"/>
                </a:solidFill>
                <a:latin typeface="Calibri"/>
              </a:defRPr>
            </a:pPr>
            <a:r>
              <a:t>83.3%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903720" y="2642616"/>
            <a:ext cx="150876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D97706"/>
                </a:solidFill>
                <a:latin typeface="Calibri"/>
              </a:defRPr>
            </a:pPr>
            <a:r>
              <a:t>66.7%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503920" y="2642616"/>
            <a:ext cx="150876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D97706"/>
                </a:solidFill>
                <a:latin typeface="Calibri"/>
              </a:defRPr>
            </a:pPr>
            <a:r>
              <a:t>Pass w/ gaps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0104120" y="2642616"/>
            <a:ext cx="150876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334155"/>
                </a:solidFill>
                <a:latin typeface="Calibri"/>
              </a:defRPr>
            </a:pPr>
            <a:r>
              <a:t>PRs #22 + #75 · MERGED · FF Race · 11/11 G…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406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914400" y="4114800"/>
            <a:ext cx="3657600" cy="3657600"/>
          </a:xfrm>
          <a:prstGeom prst="ellipse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2011680"/>
            <a:ext cx="94183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>
                <a:solidFill>
                  <a:srgbClr val="FFFFFF"/>
                </a:solidFill>
                <a:latin typeface="Calibri"/>
              </a:defRPr>
            </a:pPr>
            <a:r>
              <a:t>It's time 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697480"/>
            <a:ext cx="94183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5200" b="1">
                <a:solidFill>
                  <a:srgbClr val="FFC000"/>
                </a:solidFill>
                <a:latin typeface="Calibri"/>
              </a:defRPr>
            </a:pPr>
            <a:r>
              <a:t>Outcreate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3840480"/>
            <a:ext cx="8503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BFDBFE"/>
                </a:solidFill>
                <a:latin typeface="Consolas"/>
              </a:defRPr>
            </a:pPr>
            <a:r>
              <a:t>/msc-dev-code-and-qa-test-coverage-validator {YOUR-MSC-KEY}  ·  Developed by Mayur Gunjal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989320"/>
            <a:ext cx="12191695" cy="86868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