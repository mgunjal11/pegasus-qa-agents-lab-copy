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15"/>
    <p:sldId id="276" r:id="rId14"/>
    <p:sldId id="277" r:id="rId13"/>
    <p:sldId id="27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0" d="100"/>
          <a:sy n="70" d="100"/>
        </p:scale>
        <p:origin x="512" y="-1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89920" y="5029200"/>
            <a:ext cx="1828800" cy="1828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C000"/>
                </a:solidFill>
                <a:latin typeface="Calibri"/>
              </a:defRPr>
            </a:pPr>
            <a:r>
              <a:t>Business Assurance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MSC Dev Code and QA Test Coverage Validator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AI-driven release readiness · Jira + Confluence LADR (when linked) + GitHub + Excel test plan in one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54456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965192"/>
            <a:ext cx="245973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Systems unified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84448" y="454456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965192"/>
            <a:ext cx="245973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Coverage metrics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0216" y="454456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2–5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4965192"/>
            <a:ext cx="245973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Minutes per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4544" y="4434840"/>
            <a:ext cx="2606040" cy="105156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15984" y="454456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4965192"/>
            <a:ext cx="245973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HTML verdict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144768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Pegasus QA Agents Lab · github.com/mgunjal11/pegasus-qa-agents-lab · Developed by Mayur Gunjal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5E4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6692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43560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4173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0992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Value at a glance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86000"/>
            <a:ext cx="5669280" cy="8686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39572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3774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67004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Fragmented release signals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46120"/>
            <a:ext cx="56692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35584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33756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3016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Cursor subagent +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206240"/>
            <a:ext cx="5669280" cy="8686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31596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297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HTML report deep-dive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59028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8 sections · metrics · traceability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166360"/>
            <a:ext cx="56692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27608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257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555040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Setup · scripts · permissions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6126480"/>
            <a:ext cx="5669280" cy="8686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" y="623620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6217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Proven outcomes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651052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MSC case studies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1097280"/>
            <a:ext cx="5212080" cy="50292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720840" y="12801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000"/>
                </a:solidFill>
                <a:latin typeface="Calibri"/>
              </a:defRPr>
            </a:pPr>
            <a:r>
              <a:t>What you get in one run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1691640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Jira story + AC + LADR links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8778240" y="235000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858000" y="2404872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Confluence LADR requirements (when linked)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8778240" y="3063240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858000" y="3118104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Linked PR + CI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8778240" y="3776472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858000" y="3831336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Excel test plan (Jira attachment)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8778240" y="4489704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858000" y="4544568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readiness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One automated readiness view before every MSC release sign-off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5720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783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Jira, GitHub, Excel test plans, and Confluence LADR (when linked) live in silos — release reviews lack one evidence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34440"/>
            <a:ext cx="3611880" cy="45720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783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Cursor subagent correlates Jira AC + Confluence LADR requirements → code → dev tests → QA plan → verdict.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611880" cy="457200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1783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Leadership opens a timestamped HTML report with 8 quantified metrics and clear QA handoff.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20440"/>
            <a:ext cx="2697480" cy="14173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3630168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5E4F"/>
                </a:solidFill>
                <a:latin typeface="Calibri"/>
              </a:defRPr>
            </a:pPr>
            <a:r>
              <a:t>~35–40%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4050792"/>
            <a:ext cx="255117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5E4F"/>
                </a:solidFill>
                <a:latin typeface="Calibri"/>
              </a:defRPr>
            </a:pPr>
            <a:r>
              <a:t>Faster triage vs manual 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4590288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5E4F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3520440"/>
            <a:ext cx="2697480" cy="14173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47288" y="3630168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4050792"/>
            <a:ext cx="255117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4066C"/>
                </a:solidFill>
                <a:latin typeface="Calibri"/>
              </a:defRPr>
            </a:pPr>
            <a:r>
              <a:t>AC-to-evidence mapping per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590288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4066C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3520440"/>
            <a:ext cx="2697480" cy="14173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0216" y="3630168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49A00"/>
                </a:solidFill>
                <a:latin typeface="Calibri"/>
              </a:defRPr>
            </a:pPr>
            <a:r>
              <a:t>Pass / Gaps / 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4050792"/>
            <a:ext cx="255117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D49A00"/>
                </a:solidFill>
                <a:latin typeface="Calibri"/>
              </a:defRPr>
            </a:pPr>
            <a:r>
              <a:t>Explicit release verdict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4590288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D49A00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3520440"/>
            <a:ext cx="2697480" cy="14173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53144" y="3630168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Audit-ready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4050792"/>
            <a:ext cx="255117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Calibri"/>
              </a:defRPr>
            </a:pPr>
            <a:r>
              <a:t>Shareable HTML artifact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4590288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16A34A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66360"/>
            <a:ext cx="11155680" cy="77724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5800" y="528523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4066C"/>
                </a:solidFill>
                <a:latin typeface="Calibri"/>
              </a:defRPr>
            </a:pPr>
            <a:r>
              <a:t>"We no longer ask five people whether the PR, unit tests, Jira test plan, and LADR design doc align — the validator answers that in one report." — MSC QA lead workflow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Why fragmented Jira · GitHub · Excel test plans · Confluence LADR blocks confident releases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The challenge — four silos, zero single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Manual traceability before release is slow, inconsistent, and error-prone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2697480" cy="29260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417320" y="160020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Acceptance criteria,</a:t>
            </a:r>
          </a:p>
          <a:p>
            <a:r>
              <a:t>story status, attachments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325880"/>
            <a:ext cx="2697480" cy="292608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251960" y="160020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PR diffs, checks,</a:t>
            </a:r>
          </a:p>
          <a:p>
            <a:r>
              <a:t>unit/integration tests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325880"/>
            <a:ext cx="2697480" cy="292608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086600" y="160020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XL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Excel 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·</a:t>
            </a:r>
          </a:p>
          <a:p>
            <a:r>
              <a:t>Given/When/Then · Mascot or IDs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1325880"/>
            <a:ext cx="2697480" cy="2926080"/>
          </a:xfrm>
          <a:prstGeom prst="roundRect">
            <a:avLst/>
          </a:prstGeom>
          <a:solidFill>
            <a:srgbClr val="CCFBF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921240" y="1600200"/>
            <a:ext cx="868680" cy="86868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Confluence LADR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Design requirements</a:t>
            </a:r>
          </a:p>
          <a:p>
            <a:r>
              <a:t>when linked from Jira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Duplicate QA/dev effort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47288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Missed E2E handoffs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0216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No LADR ↔ test plan traceability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53144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Weak AC ↔ evidence mapping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57800"/>
            <a:ext cx="11155680" cy="6858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53949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→  MSC Dev Code and QA Test Coverage Validator unifies all four silos into one HTML readiness report with numbered recommended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Idea Generation — Cursor AI subagent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Completed · Pegasus QA Agents Lab · Gen AI transformation journey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Fragmented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4066C"/>
                </a:solidFill>
                <a:latin typeface="Calibri"/>
              </a:defRPr>
            </a:pPr>
            <a:r>
              <a:t>Problem Statement: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AC in Jira, code in GitHub, Excel test plans, and Confluence LADR — four silos, no single view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Release reviews depend on tribal knowledge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Manual traceability is slow before sign-off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875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0886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88970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234440"/>
            <a:ext cx="3611880" cy="438912"/>
          </a:xfrm>
          <a:prstGeom prst="roundRect">
            <a:avLst/>
          </a:prstGeom>
          <a:solidFill>
            <a:srgbClr val="FFC00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Unified validator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25696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4066C"/>
                </a:solidFill>
                <a:latin typeface="Calibri"/>
              </a:defRPr>
            </a:pPr>
            <a:r>
              <a:t>Solution: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/msc-dev-code-and-qa-test-coverage-validator {KEY}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One batch: Jira + Confluence LADR (if linked) + PR(s) + Excel test plan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Maps Jira AC + LADR L1…Ln → test cases → code → dev tests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HTML report + LADR traceability table + Pass / Pass with gaps / Fail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4179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190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2018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9016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Leadership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38744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4066C"/>
                </a:solidFill>
                <a:latin typeface="Calibri"/>
              </a:defRPr>
            </a:pPr>
            <a:r>
              <a:t>Benefits: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8 quantified metric cards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 vs QA ownership made explicit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Mascot + Given/When/Then + SIT Jobs ID evidence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Audit-friendly downloadable artifact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Developed by Mayur Gunjal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484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3495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15066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Cursor subagent · automated workflow · solution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Who uses it — four personas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Same command, role-specific value from one HTML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2697480" cy="43891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417320" y="150876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QA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Pre-release readiness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In QA / Ready for Release stories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QA scope %, test plan gaps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280160"/>
            <a:ext cx="2697480" cy="43891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270248" y="150876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Developer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Merge confidence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Dev-owned AC + unit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Code %, dev test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280160"/>
            <a:ext cx="2697480" cy="43891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123176" y="150876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Release Mgr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Go/no-go snapshot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Verdict + open gaps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8 cards, recommended actions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1280160"/>
            <a:ext cx="2697480" cy="43891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976104" y="1508760"/>
            <a:ext cx="868680" cy="8686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Test Designer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Plan alignment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Excel plan vs Jira AC + LADR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GWT quality · Mascot or SIT Jobs IDs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5806440"/>
            <a:ext cx="7589520" cy="457200"/>
          </a:xfrm>
          <a:prstGeom prst="roundRect">
            <a:avLst/>
          </a:prstGeom>
          <a:solidFill>
            <a:srgbClr val="1A1A1A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423160" y="5870448"/>
            <a:ext cx="7315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C000"/>
                </a:solidFill>
                <a:latin typeface="Consolas"/>
              </a:defRPr>
            </a:pPr>
            <a:r>
              <a:t>/msc-dev-code-and-qa-test-coverage-validator MSC-205625   ·   --auto --write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Automated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Slash command --auto --write · ~2–5 min · one MCP turn + batched shells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1783080" cy="233172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39696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267712" y="1417320"/>
            <a:ext cx="1783080" cy="233172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404872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Confluence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87368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215384" y="1417320"/>
            <a:ext cx="1783080" cy="233172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52544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5384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35040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63056" y="1417320"/>
            <a:ext cx="1783080" cy="233172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00216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63056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982712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110728" y="1417320"/>
            <a:ext cx="1783080" cy="233172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47888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10728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Map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930384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0058400" y="1417320"/>
            <a:ext cx="1783080" cy="233172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19556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166360"/>
            <a:ext cx="3611880" cy="6400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6A34A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7680" y="5166360"/>
            <a:ext cx="3611880" cy="6400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5166360"/>
            <a:ext cx="3611880" cy="64008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DC2626"/>
                </a:solidFill>
                <a:latin typeface="Calibri"/>
              </a:defRPr>
            </a:pPr>
            <a:r>
              <a:t>Fail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HTML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Eight sections · info icons · metrics · traceability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874519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MSC-205625 â€” Live coverage validation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4980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FDBFE"/>
                </a:solidFill>
                <a:latin typeface="Calibri"/>
              </a:defRPr>
            </a:pPr>
            <a:r>
              <a:t>[PFT Clear] Content passport dropped from cumulative output manifâ€¦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411480"/>
            <a:ext cx="2331720" cy="1051560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  <a:p>
            <a:r>
              <a:t>81% 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11680"/>
            <a:ext cx="269748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2697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6A34A"/>
                </a:solidFill>
                <a:latin typeface="Calibri"/>
              </a:defRPr>
            </a:pPr>
            <a:r>
              <a:t>87.5%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688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0128" y="2011680"/>
            <a:ext cx="2697480" cy="96012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0128" y="2103120"/>
            <a:ext cx="2697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4066C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24688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17336" y="2011680"/>
            <a:ext cx="2697480" cy="960120"/>
          </a:xfrm>
          <a:prstGeom prst="roundRect">
            <a:avLst/>
          </a:prstGeom>
          <a:solidFill>
            <a:srgbClr val="FFEDD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2103120"/>
            <a:ext cx="2697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D97706"/>
                </a:solidFill>
                <a:latin typeface="Calibri"/>
              </a:defRPr>
            </a:pPr>
            <a:r>
              <a:t>77.8%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17336" y="24688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4544" y="2011680"/>
            <a:ext cx="269748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24544" y="2103120"/>
            <a:ext cx="2697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24688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108960"/>
            <a:ext cx="11155680" cy="329184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Report walkthrough â€” 8 sections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547872"/>
            <a:ext cx="2651760" cy="658368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621024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60273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4066C"/>
                </a:solidFill>
                <a:latin typeface="Calibri"/>
              </a:defRPr>
            </a:pPr>
            <a:r>
              <a:t>Coverage summary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3547872"/>
            <a:ext cx="2651760" cy="658368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01568" y="3621024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360273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D49A00"/>
                </a:solidFill>
                <a:latin typeface="Calibri"/>
              </a:defRPr>
            </a:pPr>
            <a:r>
              <a:t>Linked PR(s)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0760" y="3547872"/>
            <a:ext cx="2651760" cy="658368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0488" y="3621024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5E4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60273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5E4F"/>
                </a:solidFill>
                <a:latin typeface="Calibri"/>
              </a:defRPr>
            </a:pPr>
            <a:r>
              <a:t>Attached test plan validatioâ€¦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69680" y="3547872"/>
            <a:ext cx="2651760" cy="658368"/>
          </a:xfrm>
          <a:prstGeom prst="roundRect">
            <a:avLst/>
          </a:prstGeom>
          <a:solidFill>
            <a:srgbClr val="E0E7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79408" y="3621024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1160" y="360273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vs QA test ownership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315968"/>
            <a:ext cx="2651760" cy="658368"/>
          </a:xfrm>
          <a:prstGeom prst="roundRect">
            <a:avLst/>
          </a:prstGeom>
          <a:solidFill>
            <a:srgbClr val="CCFBF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" y="4389120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9688"/>
                </a:solidFill>
                <a:latin typeface="Calibri"/>
              </a:defRPr>
            </a:pPr>
            <a:r>
              <a:t>Requirements traceability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1840" y="4315968"/>
            <a:ext cx="2651760" cy="658368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389120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0332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6A34A"/>
                </a:solidFill>
                <a:latin typeface="Calibri"/>
              </a:defRPr>
            </a:pPr>
            <a:r>
              <a:t>Implementation review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80760" y="4315968"/>
            <a:ext cx="2651760" cy="658368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0488" y="4389120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334155"/>
                </a:solidFill>
                <a:latin typeface="Calibri"/>
              </a:defRPr>
            </a:pPr>
            <a:r>
              <a:t>Assumptions and open questioâ€¦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869680" y="4315968"/>
            <a:ext cx="2651760" cy="658368"/>
          </a:xfrm>
          <a:prstGeom prst="roundRect">
            <a:avLst/>
          </a:prstGeom>
          <a:solidFill>
            <a:srgbClr val="FEF3C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79408" y="4389120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116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D97706"/>
                </a:solidFill>
                <a:latin typeface="Calibri"/>
              </a:defRPr>
            </a:pPr>
            <a:r>
              <a:t>Recommended actions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07492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02920" y="5074920"/>
            <a:ext cx="5303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âœ“ Jira readiness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  âœ“ ✓Acceptance criteriaiAbout Acceptance criteriaNumbered requirements (R1, R2, …) extracted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  âœ“ ✓GitHub PRiAbout GitHub PRPull requests linked in Jira or discovered during prefetch — sou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  âœ“ ✓Test planiAbout Test planQMetry Excel attachment parsed for scenarios, Given/When/Then st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  âœ“ ✓Confluence / LADRiAbout Confluence / LADROptional Confluence design page for LADR (L1, L2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0" y="5074920"/>
            <a:ext cx="5577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Source: MSC-205625-06-10-2026-13-45-36-IST.html</a:t>
            </a:r>
          </a:p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Generated </a:t>
            </a:r>
          </a:p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Open the HTML report for full tables, tooltips, and evidence links.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4066C"/>
                </a:solidFill>
                <a:latin typeface="Calibri"/>
              </a:defRPr>
            </a:pPr>
            <a:r>
              <a:t>Coverage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Â·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1155680" cy="96012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011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97706"/>
                </a:solidFill>
                <a:latin typeface="Calibri"/>
              </a:defRPr>
            </a:pPr>
            <a:r>
              <a:t>81% — Weighted: dev code, dev tests, test plan, gaps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426464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Release readiness 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50008"/>
            <a:ext cx="5440680" cy="29260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Implementation &amp;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97480"/>
            <a:ext cx="169164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87.5% — 4 scored 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2697480"/>
            <a:ext cx="1691640" cy="960120"/>
          </a:xfrm>
          <a:prstGeom prst="roundRect">
            <a:avLst/>
          </a:prstGeom>
          <a:solidFill>
            <a:srgbClr val="FFEDD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D97706"/>
                </a:solidFill>
                <a:latin typeface="Calibri"/>
              </a:defRPr>
            </a:pPr>
            <a:r>
              <a:t>83.3% — auto-mappe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4086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9080" y="2697480"/>
            <a:ext cx="1691640" cy="960120"/>
          </a:xfrm>
          <a:prstGeom prst="roundRect">
            <a:avLst/>
          </a:prstGeom>
          <a:solidFill>
            <a:srgbClr val="FFFF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A1A1A"/>
                </a:solidFill>
                <a:latin typeface="Calibri"/>
              </a:defRPr>
            </a:pPr>
            <a:r>
              <a:t>7/9 AC in test pla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2394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Requirements mapped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350008"/>
            <a:ext cx="5440680" cy="29260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QA &amp; release risk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697480"/>
            <a:ext cx="169164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77.8% — 5 test cas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2697480"/>
            <a:ext cx="1691640" cy="960120"/>
          </a:xfrm>
          <a:prstGeom prst="roundRect">
            <a:avLst/>
          </a:prstGeom>
          <a:solidFill>
            <a:srgbClr val="FFEDEA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5E4F"/>
                </a:solidFill>
                <a:latin typeface="Calibri"/>
              </a:defRPr>
            </a:pPr>
            <a:r>
              <a:t>2 item(s) — E2E,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5586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QA scope remaining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2697480"/>
            <a:ext cx="1691640" cy="960120"/>
          </a:xfrm>
          <a:prstGeom prst="roundRect">
            <a:avLst/>
          </a:prstGeom>
          <a:solidFill>
            <a:srgbClr val="FFFF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A1A1A"/>
                </a:solidFill>
                <a:latin typeface="Calibri"/>
              </a:defRPr>
            </a:pPr>
            <a:r>
              <a:t>0 High · 1 Med — 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894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813048"/>
            <a:ext cx="11155680" cy="29260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CI pipeline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4160520"/>
            <a:ext cx="169164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43400" y="423367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95.3% — SonarQube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8264" y="458114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4160520"/>
            <a:ext cx="169164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423367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94.5% — SonarQube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1344" y="458114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CI branch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D49A00"/>
                </a:solidFill>
                <a:latin typeface="Calibri"/>
              </a:defRPr>
            </a:pPr>
            <a:r>
              <a:t>Linked PR(s)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Â·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5440680" cy="21488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#161  Â·  wbd-msc/pegasus-pick-genie  Â·  MERGED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6479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MSC-206821 | Handle passport attachment more gracefully and handle flipping scen</a:t>
            </a: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Dev tests: test_incrementals.py, test_qm_evaluate_passport.py, test_passport_mana</a:t>
            </a: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CI: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61872"/>
            <a:ext cx="5440680" cy="21488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39903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#195  Â·  wbd-msc/pegasus-encode-monitor  Â·  MERGED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76479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MSC-205625 | domino - fix for supplementary assets</a:t>
            </a: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Dev tests: test_encode_monitor.py, conftest.py</a:t>
            </a: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CI: Passed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FFED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Attached test plan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Â·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11556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R4 — no mapped test case for Jira acceptance criterion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L5 — no mapped test case for Confluence LADR requirement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TCiAbout TCTest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34056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ScenarioiAbout 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65192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Mapped reqiAbout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96328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GWTiAbout GWTWhe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27464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Given When Theni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596896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TC1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34056" y="2596896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incremental - MDU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65192" y="2596896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R1, R2, R3, L1, L2, L3, L4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96328" y="2596896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27464" y="2596896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44368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TC2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34056" y="2944368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incremental as full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65192" y="2944368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R1, R3, L1, L2, L4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96328" y="2944368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27464" y="2944368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291840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TC3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34056" y="3291840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incremental - Sidecar - audio and 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65192" y="3291840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R1, R3, L1, L2, L4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96328" y="3291840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27464" y="3291840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639312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TC4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34056" y="3639312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incremental - MDU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65192" y="3639312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R1, R2, R3, L1, L2, L3, 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96328" y="3639312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27464" y="3639312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986784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TC5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34056" y="3986784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incremental as full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65192" y="3986784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R1, R3, L1, L2, L4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96328" y="3986784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27464" y="3986784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4066C"/>
                </a:solidFill>
                <a:latin typeface="Calibri"/>
              </a:defRPr>
            </a:pPr>
            <a:r>
              <a:t>Dev vs QA test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Dev-owned items should be proven by unit or integration tests in the PR. QA-owned items require func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5394960" cy="4114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Development proof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16A34A"/>
                </a:solidFill>
                <a:latin typeface="Calibri"/>
              </a:defRPr>
            </a:pPr>
            <a:r>
              <a:t>  • R1 — Content passport retained in cumulative output manifestation for PFT Clear incremental-as-</a:t>
            </a:r>
          </a:p>
          <a:p>
            <a:pPr>
              <a:spcAft>
                <a:spcPts val="300"/>
              </a:spcAft>
              <a:defRPr sz="1000">
                <a:solidFill>
                  <a:srgbClr val="16A34A"/>
                </a:solidFill>
                <a:latin typeface="Calibri"/>
              </a:defRPr>
            </a:pPr>
            <a:r>
              <a:t>  • R2 — When metadata-update becomes full fulfillment, pack passport must be delivered as expected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61872"/>
            <a:ext cx="5394960" cy="411480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3716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5E4F"/>
                </a:solidFill>
                <a:latin typeface="Calibri"/>
              </a:defRPr>
            </a:pPr>
            <a:r>
              <a:t>QA handoff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719072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FF5E4F"/>
                </a:solidFill>
                <a:latin typeface="Calibri"/>
              </a:defRPr>
            </a:pPr>
            <a:r>
              <a:t>  • R3 — Pick-genie must not drop passport re-fetch from FMAM when incremental workflow resolves as</a:t>
            </a:r>
          </a:p>
          <a:p>
            <a:pPr>
              <a:spcAft>
                <a:spcPts val="300"/>
              </a:spcAft>
              <a:defRPr sz="1000">
                <a:solidFill>
                  <a:srgbClr val="FF5E4F"/>
                </a:solidFill>
                <a:latin typeface="Calibri"/>
              </a:defRPr>
            </a:pPr>
            <a:r>
              <a:t>  • R4 — Fix must be validated in SIT using provided test data (Edit ID 37ea180e-77cc-413f-95cf-9df</a:t>
            </a:r>
          </a:p>
          <a:p>
            <a:pPr>
              <a:spcAft>
                <a:spcPts val="300"/>
              </a:spcAft>
              <a:defRPr sz="1000">
                <a:solidFill>
                  <a:srgbClr val="FF5E4F"/>
                </a:solidFill>
                <a:latin typeface="Calibri"/>
              </a:defRPr>
            </a:pPr>
            <a:r>
              <a:t>  • Execute attached test plan case(s) for QA-scoped requirements only: TC1, TC2, TC3, TC4, TC5 — 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9688"/>
                </a:solidFill>
                <a:latin typeface="Calibri"/>
              </a:defRPr>
            </a:pPr>
            <a:r>
              <a:t>Requirements traceability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Â·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6220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Requirement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148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4004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9932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QA scope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1609344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R1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62200" y="1609344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Content passport retained in cumulative 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21480" y="1609344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609344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Covered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0040" y="1609344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Dev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99320" y="1609344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1956816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R2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62200" y="1956816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When metadata-update becomes full fulfil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1480" y="1956816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1956816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40040" y="1956816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Dev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99320" y="1956816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2304288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R3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62200" y="2304288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Pick-genie must not drop passport re-fet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21480" y="2304288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80760" y="2304288"/>
            <a:ext cx="1831848" cy="310896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0040" y="2304288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Shared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99320" y="2304288"/>
            <a:ext cx="1831848" cy="310896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5E4F"/>
                </a:solidFill>
                <a:latin typeface="Calibri"/>
              </a:defRPr>
            </a:pPr>
            <a:r>
              <a:t>E2E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2651760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R4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2200" y="2651760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Fix must be validated in SIT using provi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1480" y="2651760"/>
            <a:ext cx="1831848" cy="310896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80760" y="2651760"/>
            <a:ext cx="1831848" cy="310896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40040" y="2651760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Qa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99320" y="2651760"/>
            <a:ext cx="1831848" cy="310896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5E4F"/>
                </a:solidFill>
                <a:latin typeface="Calibri"/>
              </a:defRPr>
            </a:pPr>
            <a:r>
              <a:t>Manual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6A34A"/>
                </a:solidFill>
                <a:latin typeface="Calibri"/>
              </a:defRPr>
            </a:pPr>
            <a:r>
              <a:t>Implementation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Â·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5440680" cy="182880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6A34A"/>
                </a:solidFill>
                <a:latin typeface="Calibri"/>
              </a:defRPr>
            </a:pPr>
            <a:r>
              <a:t>âœ“ Strengths</a:t>
            </a:r>
          </a:p>
          <a:p>
            <a:pPr>
              <a:spcAft>
                <a:spcPts val="300"/>
              </a:spcAft>
              <a:defRPr sz="1100">
                <a:solidFill>
                  <a:srgbClr val="16A34A"/>
                </a:solidFill>
                <a:latin typeface="Calibri"/>
              </a:defRPr>
            </a:pPr>
            <a:r>
              <a:t>See PR diff and mapping cache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261872"/>
            <a:ext cx="5440680" cy="182880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399032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DC2626"/>
                </a:solidFill>
                <a:latin typeface="Calibri"/>
              </a:defRPr>
            </a:pPr>
            <a:r>
              <a:t>âš  Gaps</a:t>
            </a:r>
          </a:p>
          <a:p>
            <a:pPr>
              <a:spcAft>
                <a:spcPts val="300"/>
              </a:spcAft>
              <a:defRPr sz="1100">
                <a:solidFill>
                  <a:srgbClr val="DC2626"/>
                </a:solidFill>
                <a:latin typeface="Calibri"/>
              </a:defRPr>
            </a:pPr>
            <a:r>
              <a:t>R4 — no mapped test case in test plan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34155"/>
                </a:solidFill>
                <a:latin typeface="Calibri"/>
              </a:defRPr>
            </a:pPr>
            <a:r>
              <a:t>Assumptions and open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Â·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11556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Auto-generated report — review mapping confidence before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9424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Auto-generated report — review mapping confidence before release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D97706"/>
                </a:solidFill>
                <a:latin typeface="Calibri"/>
              </a:defRPr>
            </a:pPr>
            <a:r>
              <a:t>Recommended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Â·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Enablement â€” one-time setup (~10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Clone lab â†’ MCP â†’ gh â†’ permissions â†’ optional .env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âœ“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Clone pegasus-qa-agents-lab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cursor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3444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6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âœ“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pip install -r requirements.txt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Python 3.10+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9456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âœ“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Atlassian MCP 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wbdstreaming.atlassian.net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9456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âœ“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gh auth login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GitHub PR access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15468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âœ“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install_coverage_validator_permissions.py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Auto-run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0936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âœ“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.env + validator.defaults.json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Test plan download + repo defaults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6052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Scripts (batched â€” no manual gh per run):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fetch_confluence_requirements.py  Â·  fetch_jira_testplan.py  Â·  prefetch_coverage_inputs.py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prepare_testcase_writer_context.py  Â·  write_testcase_excel.py (Step 4b / msc-testcase-writer)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map_requirements_to_diff.py  Â·  build_coverage_report.py  Â·  apply_report_ui_enhancements()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Refs: coverage-validator/references/testplan-missing-fallback.md  Â·  generate_coverage_validator_directory_guide.py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sync_pegasus_qa_agents_lab.py â†’ push to github.com/mgunjal11/pegasus-qa-agents-lab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256032"/>
            <a:ext cx="12191695" cy="96012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Proven MSC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FDBFE"/>
                </a:solidFill>
                <a:latin typeface="Calibri"/>
              </a:defRPr>
            </a:pPr>
            <a:r>
              <a:t>Four production runs Â· featured story MSC-205625 (this deck)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384048"/>
            <a:ext cx="1234440" cy="7772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0" y="475488"/>
            <a:ext cx="12344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4066C"/>
                </a:solidFill>
                <a:latin typeface="Calibri"/>
              </a:defRPr>
            </a:pPr>
            <a:r>
              <a:t>87.5%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841248"/>
            <a:ext cx="1234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Featured dev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12680" y="384048"/>
            <a:ext cx="1234440" cy="777240"/>
          </a:xfrm>
          <a:prstGeom prst="roundRect">
            <a:avLst/>
          </a:prstGeom>
          <a:solidFill>
            <a:srgbClr val="FFEDD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12680" y="475488"/>
            <a:ext cx="12344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D97706"/>
                </a:solidFill>
                <a:latin typeface="Calibri"/>
              </a:defRPr>
            </a:pPr>
            <a:r>
              <a:t>77.8%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841248"/>
            <a:ext cx="1234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Featured plan AC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1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5382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71613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7844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Plan AC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84075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Notes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181051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MSC-212571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59151" y="181051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Â· In QA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15382" y="1810512"/>
            <a:ext cx="1819655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71613" y="181051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5.6%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7844" y="181051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75" y="181051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PR #99 pegasus-partner-config-service Â· #148 pe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313432"/>
            <a:ext cx="1819655" cy="45720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â˜… MSC-205625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59151" y="2313432"/>
            <a:ext cx="1819655" cy="45720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Bug Â· Ready for Rel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15382" y="2313432"/>
            <a:ext cx="1819655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87.5%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71613" y="2313432"/>
            <a:ext cx="1819655" cy="45720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7844" y="2313432"/>
            <a:ext cx="1819655" cy="45720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77.8%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84075" y="2313432"/>
            <a:ext cx="1819655" cy="45720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LADR quick link only (no grooming wiki) Â· PR #1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242316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000"/>
                </a:solidFill>
              </a:defRPr>
            </a:pPr>
            <a:r>
              <a:t>â˜…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281635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59151" y="281635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Â· Ready for 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15382" y="2816352"/>
            <a:ext cx="1819655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100.0%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71613" y="281635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33.3%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7844" y="2816352"/>
            <a:ext cx="1819655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84075" y="281635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LADR Confluence in quick links only Â· No PR Â· 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319272"/>
            <a:ext cx="1819655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59151" y="3319272"/>
            <a:ext cx="1819655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Â· Done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15382" y="3319272"/>
            <a:ext cx="1819655" cy="45720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71613" y="331927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0.0%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27844" y="331927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84075" y="3319272"/>
            <a:ext cx="1819655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PR #22 pegasus-reps Â· #75 pegasus-texttransform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  <a:latin typeface="Calibri"/>
              </a:defRPr>
            </a:pPr>
            <a:r>
              <a:t>It's time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9748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C000"/>
                </a:solidFill>
                <a:latin typeface="Calibri"/>
              </a:defRPr>
            </a:pPr>
            <a:r>
              <a:t>Outcreate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FDBFE"/>
                </a:solidFill>
                <a:latin typeface="Consolas"/>
              </a:defRPr>
            </a:pPr>
            <a:r>
              <a:t>/msc-dev-code-and-qa-test-coverage-validator {YOUR-MSC-KEY}  Â·  Developed by Mayur Gunjal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2309</Words>
  <Application>Microsoft Office PowerPoint</Application>
  <PresentationFormat>Widescreen</PresentationFormat>
  <Paragraphs>442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Gunjal, Mayur</cp:lastModifiedBy>
  <cp:revision>5</cp:revision>
  <dcterms:created xsi:type="dcterms:W3CDTF">2013-01-27T09:14:16Z</dcterms:created>
  <dcterms:modified xsi:type="dcterms:W3CDTF">2026-06-02T14:07:38Z</dcterms:modified>
  <cp:category/>
</cp:coreProperties>
</file>