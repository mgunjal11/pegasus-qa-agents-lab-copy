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731520"/>
            <a:ext cx="2926080" cy="292608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5029200"/>
            <a:ext cx="1828800" cy="18288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C000"/>
                </a:solidFill>
                <a:latin typeface="Calibri"/>
              </a:defRPr>
            </a:pPr>
            <a:r>
              <a:t>Business Assurance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MSC Dev Code and QA Test Coverage Validator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FDBFE"/>
                </a:solidFill>
                <a:latin typeface="Calibri"/>
              </a:defRPr>
            </a:pPr>
            <a:r>
              <a:t>AI-driven release readiness · Jira + Confluence LADR (when linked) + GitHub + Excel test plan in one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434840"/>
            <a:ext cx="2606040" cy="1051560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7200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5093208"/>
            <a:ext cx="24597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Systems unified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4434840"/>
            <a:ext cx="2606040" cy="1051560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457200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5093208"/>
            <a:ext cx="24597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Coverage metrics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4434840"/>
            <a:ext cx="2606040" cy="1051560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457200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2–5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5093208"/>
            <a:ext cx="24597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Minutes per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24544" y="4434840"/>
            <a:ext cx="2606040" cy="1051560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15984" y="457200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5093208"/>
            <a:ext cx="24597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HTML verdict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14476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A1A1A"/>
                </a:solidFill>
                <a:latin typeface="Calibri"/>
              </a:defRPr>
            </a:pPr>
            <a:r>
              <a:t>Pegasus QA Agents Lab · May 2026 · github.com/mgunjal11/pegasus-qa-agents-lab · Developed by Mayur Gunjal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3657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5E4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5669280" cy="713232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44168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5E4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258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4066C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18488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Value at a glance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75688"/>
            <a:ext cx="5669280" cy="713232"/>
          </a:xfrm>
          <a:prstGeom prst="roundRect">
            <a:avLst/>
          </a:prstGeom>
          <a:solidFill>
            <a:srgbClr val="F2F2F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85416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5E4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1671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4066C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59736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Fragmented release signals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16936"/>
            <a:ext cx="5669280" cy="713232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026664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5E4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008376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4066C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300984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Cursor subagent + workflow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58184"/>
            <a:ext cx="5669280" cy="713232"/>
          </a:xfrm>
          <a:prstGeom prst="roundRect">
            <a:avLst/>
          </a:prstGeom>
          <a:solidFill>
            <a:srgbClr val="F2F2F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67912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5E4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849624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4066C"/>
                </a:solidFill>
                <a:latin typeface="Calibri"/>
              </a:defRPr>
            </a:pPr>
            <a:r>
              <a:t>HTML report deep-dive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14223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8 sections · info icons · traceability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599432"/>
            <a:ext cx="5669280" cy="713232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0916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5E4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69087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4066C"/>
                </a:solidFill>
                <a:latin typeface="Calibri"/>
              </a:defRPr>
            </a:pPr>
            <a:r>
              <a:t>Enablement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98348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Setup · scripts · permissions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40680"/>
            <a:ext cx="5669280" cy="713232"/>
          </a:xfrm>
          <a:prstGeom prst="roundRect">
            <a:avLst/>
          </a:prstGeom>
          <a:solidFill>
            <a:srgbClr val="F2F2F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550408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5E4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5321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4066C"/>
                </a:solidFill>
                <a:latin typeface="Calibri"/>
              </a:defRPr>
            </a:pPr>
            <a:r>
              <a:t>Proven outcomes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824728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MSC case studies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1097280"/>
            <a:ext cx="5212080" cy="5029200"/>
          </a:xfrm>
          <a:prstGeom prst="roundRect">
            <a:avLst/>
          </a:prstGeom>
          <a:solidFill>
            <a:srgbClr val="04066C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12801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C000"/>
                </a:solidFill>
                <a:latin typeface="Calibri"/>
              </a:defRPr>
            </a:pPr>
            <a:r>
              <a:t>What you get in one run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1691640"/>
            <a:ext cx="4480560" cy="530352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Jira story + AC + LADR links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8778240" y="2350008"/>
            <a:ext cx="320040" cy="201168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858000" y="2404872"/>
            <a:ext cx="4480560" cy="530352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Confluence LADR requirements (when linked)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8778240" y="3063240"/>
            <a:ext cx="320040" cy="201168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858000" y="3118104"/>
            <a:ext cx="4480560" cy="530352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Linked PR + CI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8778240" y="3776472"/>
            <a:ext cx="320040" cy="201168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858000" y="3831336"/>
            <a:ext cx="4480560" cy="530352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Excel test plan (Jira attachment)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8778240" y="4489704"/>
            <a:ext cx="320040" cy="201168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858000" y="4544568"/>
            <a:ext cx="4480560" cy="530352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HTML readiness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One automated readiness view before every MSC release sign-off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3611880" cy="457200"/>
          </a:xfrm>
          <a:prstGeom prst="roundRect">
            <a:avLst/>
          </a:prstGeom>
          <a:solidFill>
            <a:srgbClr val="FF5E4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7830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Jira, GitHub, Excel test plans, and Confluence LADR (when linked) live in silos — release reviews lack one evidence trail.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34440"/>
            <a:ext cx="3611880" cy="457200"/>
          </a:xfrm>
          <a:prstGeom prst="round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17830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Cursor subagent correlates Jira AC + Confluence LADR requirements → code → dev tests → QA plan → verdict.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611880" cy="457200"/>
          </a:xfrm>
          <a:prstGeom prst="roundRect">
            <a:avLst/>
          </a:prstGeom>
          <a:solidFill>
            <a:srgbClr val="00968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17830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Leadership opens a timestamped HTML report with 8 quantified metrics and clear QA handoff.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20440"/>
            <a:ext cx="2697480" cy="1417320"/>
          </a:xfrm>
          <a:prstGeom prst="roundRect">
            <a:avLst/>
          </a:prstGeom>
          <a:solidFill>
            <a:srgbClr val="FFEDE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657600"/>
            <a:ext cx="2514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5E4F"/>
                </a:solidFill>
                <a:latin typeface="Calibri"/>
              </a:defRPr>
            </a:pPr>
            <a:r>
              <a:t>~35–40%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4178808"/>
            <a:ext cx="2551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5E4F"/>
                </a:solidFill>
                <a:latin typeface="Calibri"/>
              </a:defRPr>
            </a:pPr>
            <a:r>
              <a:t>Faster triage vs manual traceability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4553712"/>
            <a:ext cx="25511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5E4F"/>
                </a:solidFill>
                <a:latin typeface="Calibri"/>
              </a:defRPr>
            </a:pPr>
            <a:r>
              <a:t>Per validator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55848" y="3520440"/>
            <a:ext cx="2697480" cy="141732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47288" y="3657600"/>
            <a:ext cx="2514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4066C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178808"/>
            <a:ext cx="2551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4066C"/>
                </a:solidFill>
                <a:latin typeface="Calibri"/>
              </a:defRPr>
            </a:pPr>
            <a:r>
              <a:t>AC-to-evidence mapping per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553712"/>
            <a:ext cx="25511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04066C"/>
                </a:solidFill>
                <a:latin typeface="Calibri"/>
              </a:defRPr>
            </a:pPr>
            <a:r>
              <a:t>Per validator run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3520440"/>
            <a:ext cx="2697480" cy="1417320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216" y="3657600"/>
            <a:ext cx="2514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9A00"/>
                </a:solidFill>
                <a:latin typeface="Calibri"/>
              </a:defRPr>
            </a:pPr>
            <a:r>
              <a:t>Pass / Gaps / Fail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1928" y="4178808"/>
            <a:ext cx="2551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49A00"/>
                </a:solidFill>
                <a:latin typeface="Calibri"/>
              </a:defRPr>
            </a:pPr>
            <a:r>
              <a:t>Explicit release verdict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4553712"/>
            <a:ext cx="25511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D49A00"/>
                </a:solidFill>
                <a:latin typeface="Calibri"/>
              </a:defRPr>
            </a:pPr>
            <a:r>
              <a:t>Per validator 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61704" y="3520440"/>
            <a:ext cx="2697480" cy="141732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53144" y="3657600"/>
            <a:ext cx="2514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Audit-ready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4856" y="4178808"/>
            <a:ext cx="2551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Calibri"/>
              </a:defRPr>
            </a:pPr>
            <a:r>
              <a:t>Shareable HTML artifact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4553712"/>
            <a:ext cx="25511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16A34A"/>
                </a:solidFill>
                <a:latin typeface="Calibri"/>
              </a:defRPr>
            </a:pPr>
            <a:r>
              <a:t>Per validator run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166360"/>
            <a:ext cx="11155680" cy="777240"/>
          </a:xfrm>
          <a:prstGeom prst="roundRect">
            <a:avLst/>
          </a:prstGeom>
          <a:solidFill>
            <a:srgbClr val="F2F2F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28523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4066C"/>
                </a:solidFill>
                <a:latin typeface="Calibri"/>
              </a:defRPr>
            </a:pPr>
            <a:r>
              <a:t>"We no longer ask five people whether the PR, unit tests, Jira test plan, and LADR design doc align — the validator answers that in one report." — MSC QA lead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097280"/>
            <a:ext cx="4114800" cy="41148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C0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260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7763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FDBFE"/>
                </a:solidFill>
                <a:latin typeface="Calibri"/>
              </a:defRPr>
            </a:pPr>
            <a:r>
              <a:t>Why fragmented Jira · GitHub · Excel test plans · Confluence LADR blocks confident releases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The challenge — four silos, zero single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Manual traceability before release is slow, inconsistent, and error-prone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2697480" cy="292608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20" y="1600200"/>
            <a:ext cx="868680" cy="868680"/>
          </a:xfrm>
          <a:prstGeom prst="ellipse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Jira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063240"/>
            <a:ext cx="2478024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4155"/>
                </a:solidFill>
                <a:latin typeface="Calibri"/>
              </a:defRPr>
            </a:pPr>
            <a:r>
              <a:t>Acceptance criteria,</a:t>
            </a:r>
          </a:p>
          <a:p>
            <a:r>
              <a:t>story status, attachments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325880"/>
            <a:ext cx="2697480" cy="2926080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51960" y="1600200"/>
            <a:ext cx="868680" cy="868680"/>
          </a:xfrm>
          <a:prstGeom prst="ellipse">
            <a:avLst/>
          </a:prstGeom>
          <a:solidFill>
            <a:srgbClr val="D4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60604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3063240"/>
            <a:ext cx="2478024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4155"/>
                </a:solidFill>
                <a:latin typeface="Calibri"/>
              </a:defRPr>
            </a:pPr>
            <a:r>
              <a:t>PR diffs, checks,</a:t>
            </a:r>
          </a:p>
          <a:p>
            <a:r>
              <a:t>unit/integration tests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325880"/>
            <a:ext cx="2697480" cy="2926080"/>
          </a:xfrm>
          <a:prstGeom prst="roundRect">
            <a:avLst/>
          </a:prstGeom>
          <a:solidFill>
            <a:srgbClr val="FFEDE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86600" y="1600200"/>
            <a:ext cx="868680" cy="868680"/>
          </a:xfrm>
          <a:prstGeom prst="ellipse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60604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Excel test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3063240"/>
            <a:ext cx="2478024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4155"/>
                </a:solidFill>
                <a:latin typeface="Calibri"/>
              </a:defRPr>
            </a:pPr>
            <a:r>
              <a:t>Jira attachment ·</a:t>
            </a:r>
          </a:p>
          <a:p>
            <a:r>
              <a:t>Given/When/Then · Mascot or IDs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1325880"/>
            <a:ext cx="2697480" cy="2926080"/>
          </a:xfrm>
          <a:prstGeom prst="roundRect">
            <a:avLst/>
          </a:prstGeom>
          <a:solidFill>
            <a:srgbClr val="CCFBF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21240" y="1600200"/>
            <a:ext cx="868680" cy="8686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60604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Confluence LADR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3063240"/>
            <a:ext cx="2478024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4155"/>
                </a:solidFill>
                <a:latin typeface="Calibri"/>
              </a:defRPr>
            </a:pPr>
            <a:r>
              <a:t>Design requirements</a:t>
            </a:r>
          </a:p>
          <a:p>
            <a:r>
              <a:t>when linked from Jira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572000"/>
            <a:ext cx="2697480" cy="502920"/>
          </a:xfrm>
          <a:prstGeom prst="roundRect">
            <a:avLst/>
          </a:prstGeom>
          <a:solidFill>
            <a:srgbClr val="FEE2E2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C2626"/>
                </a:solidFill>
                <a:latin typeface="Calibri"/>
              </a:defRPr>
            </a:pPr>
            <a:r>
              <a:t>Duplicate QA/dev effort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47288" y="4572000"/>
            <a:ext cx="2697480" cy="502920"/>
          </a:xfrm>
          <a:prstGeom prst="roundRect">
            <a:avLst/>
          </a:prstGeom>
          <a:solidFill>
            <a:srgbClr val="FEE2E2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C2626"/>
                </a:solidFill>
                <a:latin typeface="Calibri"/>
              </a:defRPr>
            </a:pPr>
            <a:r>
              <a:t>Missed E2E handoffs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0216" y="4572000"/>
            <a:ext cx="2697480" cy="502920"/>
          </a:xfrm>
          <a:prstGeom prst="roundRect">
            <a:avLst/>
          </a:prstGeom>
          <a:solidFill>
            <a:srgbClr val="FEE2E2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C2626"/>
                </a:solidFill>
                <a:latin typeface="Calibri"/>
              </a:defRPr>
            </a:pPr>
            <a:r>
              <a:t>No LADR ↔ test plan traceability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53144" y="4572000"/>
            <a:ext cx="2697480" cy="502920"/>
          </a:xfrm>
          <a:prstGeom prst="roundRect">
            <a:avLst/>
          </a:prstGeom>
          <a:solidFill>
            <a:srgbClr val="FEE2E2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C2626"/>
                </a:solidFill>
                <a:latin typeface="Calibri"/>
              </a:defRPr>
            </a:pPr>
            <a:r>
              <a:t>Weak AC ↔ evidence mapping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257800"/>
            <a:ext cx="11155680" cy="685800"/>
          </a:xfrm>
          <a:prstGeom prst="roundRect">
            <a:avLst/>
          </a:prstGeom>
          <a:solidFill>
            <a:srgbClr val="04066C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3949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→  MSC Dev Code and QA Test Coverage Validator unifies all four silos into one HTML readiness report with numbered recommended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Idea Generation — Cursor AI subagent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Completed · Pegasus QA Agents Lab · Gen AI transformation journey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3611880" cy="438912"/>
          </a:xfrm>
          <a:prstGeom prst="round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Fragmented readiness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73352"/>
            <a:ext cx="3611880" cy="3977639"/>
          </a:xfrm>
          <a:prstGeom prst="roundRect">
            <a:avLst/>
          </a:prstGeom>
          <a:solidFill>
            <a:srgbClr val="F2F2F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783080"/>
            <a:ext cx="339242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4066C"/>
                </a:solidFill>
                <a:latin typeface="Calibri"/>
              </a:defRPr>
            </a:pPr>
            <a:r>
              <a:t>Problem Statement: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AC in Jira, code in GitHub, Excel test plans, and Confluence LADR — four silos, no single view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Release reviews depend on tribal knowledge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Manual traceability is slow before sign-off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Ideation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8750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Pilot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08860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Implementation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88970" y="5440680"/>
            <a:ext cx="834390" cy="2011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234440"/>
            <a:ext cx="3611880" cy="438912"/>
          </a:xfrm>
          <a:prstGeom prst="roundRect">
            <a:avLst/>
          </a:prstGeom>
          <a:solidFill>
            <a:srgbClr val="FFC00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Unified validator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1673352"/>
            <a:ext cx="3611880" cy="3977639"/>
          </a:xfrm>
          <a:prstGeom prst="roundRect">
            <a:avLst/>
          </a:prstGeom>
          <a:solidFill>
            <a:srgbClr val="F2F2F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5696" y="1783080"/>
            <a:ext cx="339242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4066C"/>
                </a:solidFill>
                <a:latin typeface="Calibri"/>
              </a:defRPr>
            </a:pPr>
            <a:r>
              <a:t>Solution: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/msc-dev-code-and-qa-test-coverage-validator {KEY}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One batch: Jira + Confluence LADR (if linked) + PR(s) + Excel test plan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Maps Jira AC + LADR L1…Ln → test cases → code → dev tests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HTML report + LADR traceability table + Pass / Pass with gaps / Fail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Ideation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41798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Pilot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1908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Implementation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02018" y="5440680"/>
            <a:ext cx="834390" cy="2011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9016" y="1234440"/>
            <a:ext cx="3611880" cy="438912"/>
          </a:xfrm>
          <a:prstGeom prst="round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Leadership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9016" y="1673352"/>
            <a:ext cx="3611880" cy="3977639"/>
          </a:xfrm>
          <a:prstGeom prst="roundRect">
            <a:avLst/>
          </a:prstGeom>
          <a:solidFill>
            <a:srgbClr val="F2F2F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8744" y="1783080"/>
            <a:ext cx="339242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4066C"/>
                </a:solidFill>
                <a:latin typeface="Calibri"/>
              </a:defRPr>
            </a:pPr>
            <a:r>
              <a:t>Benefits: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8 quantified metric cards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Dev vs QA ownership made explicit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Mascot + Given/When/Then + SIT Jobs ID evidence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Audit-friendly downloadable artifact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Developed by Mayur Gunjal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74736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Ideation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4846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Pilot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34956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Implementation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815066" y="5440680"/>
            <a:ext cx="834390" cy="2011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097280"/>
            <a:ext cx="4114800" cy="41148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C0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260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7763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FDBFE"/>
                </a:solidFill>
                <a:latin typeface="Calibri"/>
              </a:defRPr>
            </a:pPr>
            <a:r>
              <a:t>Cursor subagent · automated workflow · solution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Who uses it — four personas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Same command, role-specific value from one HTML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2697480" cy="438912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20" y="1508760"/>
            <a:ext cx="868680" cy="868680"/>
          </a:xfrm>
          <a:prstGeom prst="ellipse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QA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Calibri"/>
              </a:defRPr>
            </a:pPr>
            <a:r>
              <a:t>Pre-release readiness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alibri"/>
              </a:defRPr>
            </a:pPr>
            <a:r>
              <a:t>In QA / Ready for Release stories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  <a:latin typeface="Calibri"/>
              </a:defRPr>
            </a:pPr>
            <a:r>
              <a:t>QA scope %, test plan gaps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280160"/>
            <a:ext cx="2697480" cy="4389120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70248" y="1508760"/>
            <a:ext cx="868680" cy="868680"/>
          </a:xfrm>
          <a:prstGeom prst="ellipse">
            <a:avLst/>
          </a:prstGeom>
          <a:solidFill>
            <a:srgbClr val="D4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51460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Developer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288036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Calibri"/>
              </a:defRPr>
            </a:pPr>
            <a:r>
              <a:t>Merge confidence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324612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alibri"/>
              </a:defRPr>
            </a:pPr>
            <a:r>
              <a:t>Dev-owned AC + unit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38404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  <a:latin typeface="Calibri"/>
              </a:defRPr>
            </a:pPr>
            <a:r>
              <a:t>Code %, dev test 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1280160"/>
            <a:ext cx="2697480" cy="4389120"/>
          </a:xfrm>
          <a:prstGeom prst="roundRect">
            <a:avLst/>
          </a:prstGeom>
          <a:solidFill>
            <a:srgbClr val="FFEDE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3176" y="1508760"/>
            <a:ext cx="868680" cy="868680"/>
          </a:xfrm>
          <a:prstGeom prst="ellipse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51460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Release Mgr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88036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Calibri"/>
              </a:defRPr>
            </a:pPr>
            <a:r>
              <a:t>Go/no-go snapshot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324612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alibri"/>
              </a:defRPr>
            </a:pPr>
            <a:r>
              <a:t>Verdict + open gaps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38404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  <a:latin typeface="Calibri"/>
              </a:defRPr>
            </a:pPr>
            <a:r>
              <a:t>8 cards, recommended actions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61704" y="1280160"/>
            <a:ext cx="2697480" cy="438912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76104" y="1508760"/>
            <a:ext cx="868680" cy="8686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8864" y="251460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Test Designer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8864" y="288036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Calibri"/>
              </a:defRPr>
            </a:pPr>
            <a:r>
              <a:t>Plan alignment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8864" y="324612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alibri"/>
              </a:defRPr>
            </a:pPr>
            <a:r>
              <a:t>Excel plan vs Jira AC + LADR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8864" y="38404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  <a:latin typeface="Calibri"/>
              </a:defRPr>
            </a:pPr>
            <a:r>
              <a:t>GWT quality · Mascot or SIT Jobs IDs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0" y="5806440"/>
            <a:ext cx="7589520" cy="457200"/>
          </a:xfrm>
          <a:prstGeom prst="roundRect">
            <a:avLst/>
          </a:prstGeom>
          <a:solidFill>
            <a:srgbClr val="1A1A1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23160" y="5870448"/>
            <a:ext cx="7315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C000"/>
                </a:solidFill>
                <a:latin typeface="Consolas"/>
              </a:defRPr>
            </a:pPr>
            <a:r>
              <a:t>/msc-dev-code-and-qa-test-coverage-validator MSC-212571   ·   --auto --write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Automated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Slash command --auto --write · ~2–5 min · one MCP turn + batched shells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417320"/>
            <a:ext cx="1783080" cy="2148840"/>
          </a:xfrm>
          <a:prstGeom prst="round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C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05740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Jira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514600"/>
            <a:ext cx="1600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FDBFE"/>
                </a:solidFill>
                <a:latin typeface="Calibri"/>
              </a:defRPr>
            </a:pPr>
            <a:r>
              <a:t>Parallel MCP:</a:t>
            </a:r>
          </a:p>
          <a:p>
            <a:r>
              <a:t>issue + remote</a:t>
            </a:r>
          </a:p>
          <a:p>
            <a:r>
              <a:t>wiki links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39696" y="2240280"/>
            <a:ext cx="201168" cy="32004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67712" y="1417320"/>
            <a:ext cx="1783080" cy="2148840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04872" y="155448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C00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205740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Confluence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2514600"/>
            <a:ext cx="1600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FDBFE"/>
                </a:solidFill>
                <a:latin typeface="Calibri"/>
              </a:defRPr>
            </a:pPr>
            <a:r>
              <a:t>LADR ESS or</a:t>
            </a:r>
          </a:p>
          <a:p>
            <a:r>
              <a:t>passport scenarios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87368" y="2240280"/>
            <a:ext cx="201168" cy="32004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15384" y="1417320"/>
            <a:ext cx="1783080" cy="2148840"/>
          </a:xfrm>
          <a:prstGeom prst="round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2544" y="155448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C00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15384" y="205740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Test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6824" y="2514600"/>
            <a:ext cx="1600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FDBFE"/>
                </a:solidFill>
                <a:latin typeface="Calibri"/>
              </a:defRPr>
            </a:pPr>
            <a:r>
              <a:t>Excel attach,</a:t>
            </a:r>
          </a:p>
          <a:p>
            <a:r>
              <a:t>GWT, Evidence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035040" y="2240280"/>
            <a:ext cx="201168" cy="32004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63056" y="1417320"/>
            <a:ext cx="1783080" cy="2148840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0216" y="155448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C00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6" y="205740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6" y="2514600"/>
            <a:ext cx="1600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FDBFE"/>
                </a:solidFill>
                <a:latin typeface="Calibri"/>
              </a:defRPr>
            </a:pPr>
            <a:r>
              <a:t>prefetch PR(s)</a:t>
            </a:r>
          </a:p>
          <a:p>
            <a:r>
              <a:t>or branch compare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82712" y="2240280"/>
            <a:ext cx="201168" cy="32004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10728" y="1417320"/>
            <a:ext cx="1783080" cy="2148840"/>
          </a:xfrm>
          <a:prstGeom prst="round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155448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C00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0728" y="205740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2168" y="2514600"/>
            <a:ext cx="1600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FDBFE"/>
                </a:solidFill>
                <a:latin typeface="Calibri"/>
              </a:defRPr>
            </a:pPr>
            <a:r>
              <a:t>map_requirements_</a:t>
            </a:r>
          </a:p>
          <a:p>
            <a:r>
              <a:t>to_diff.py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930384" y="2240280"/>
            <a:ext cx="201168" cy="32004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58400" y="1417320"/>
            <a:ext cx="1783080" cy="2148840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95560" y="155448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C00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205740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2514600"/>
            <a:ext cx="1600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FDBFE"/>
                </a:solidFill>
                <a:latin typeface="Calibri"/>
              </a:defRPr>
            </a:pPr>
            <a:r>
              <a:t>build_coverage_</a:t>
            </a:r>
          </a:p>
          <a:p>
            <a:r>
              <a:t>report.py + tooltips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886200"/>
            <a:ext cx="11155680" cy="1051560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0233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Cache: reports/.cache/{KEY}-jira|confluence|testplan|prefetch|mapping.json — reuse --from-cache. No linked PR? fetch_coverage_github.py --compare develop + branchCompare mapping. Verdict: Fail only when gap_summary has ≥1 High (not “0 High · N Med”). build_coverage_report.py fills CI {{CI_*}} and Dev tests columns automatically.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166360"/>
            <a:ext cx="3611880" cy="64008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6A34A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5166360"/>
            <a:ext cx="3611880" cy="640080"/>
          </a:xfrm>
          <a:prstGeom prst="roundRect">
            <a:avLst/>
          </a:prstGeom>
          <a:solidFill>
            <a:srgbClr val="FFEDD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  <a:latin typeface="Calibri"/>
              </a:defRPr>
            </a:pPr>
            <a:r>
              <a:t>Pass with gaps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92440" y="5166360"/>
            <a:ext cx="3611880" cy="640080"/>
          </a:xfrm>
          <a:prstGeom prst="roundRect">
            <a:avLst/>
          </a:prstGeom>
          <a:solidFill>
            <a:srgbClr val="FEE2E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2626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Solution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Cursor IDE · Atlassian MCP · GitHub CLI · Python scripts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606040"/>
            <a:ext cx="3017520" cy="1371600"/>
          </a:xfrm>
          <a:prstGeom prst="roundRect">
            <a:avLst/>
          </a:prstGeom>
          <a:solidFill>
            <a:srgbClr val="FF5E4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Coverage</a:t>
            </a:r>
          </a:p>
          <a:p>
            <a:r>
              <a:t>Validator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2286000" cy="123444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066C"/>
                </a:solidFill>
                <a:latin typeface="Calibri"/>
              </a:defRPr>
            </a:pPr>
            <a:r>
              <a:t>Jira MCP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34155"/>
                </a:solidFill>
                <a:latin typeface="Calibri"/>
              </a:defRPr>
            </a:pPr>
            <a:r>
              <a:t>getJiraIssue</a:t>
            </a:r>
          </a:p>
          <a:p>
            <a:r>
              <a:t>remote links</a:t>
            </a:r>
          </a:p>
          <a:p>
            <a:r>
              <a:t>LADR detection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83080" y="2907792"/>
            <a:ext cx="4297680" cy="338328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326880" y="2286000"/>
            <a:ext cx="2286000" cy="123444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066C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78892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34155"/>
                </a:solidFill>
                <a:latin typeface="Calibri"/>
              </a:defRPr>
            </a:pPr>
            <a:r>
              <a:t>prefetch PR</a:t>
            </a:r>
          </a:p>
          <a:p>
            <a:r>
              <a:t>checks · diff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6080760" y="2907792"/>
            <a:ext cx="4389120" cy="338328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4572000"/>
            <a:ext cx="2286000" cy="123444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066C"/>
                </a:solidFill>
                <a:latin typeface="Calibri"/>
              </a:defRPr>
            </a:pPr>
            <a:r>
              <a:t>Confluence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34155"/>
                </a:solidFill>
                <a:latin typeface="Calibri"/>
              </a:defRPr>
            </a:pPr>
            <a:r>
              <a:t>getConfluencePage</a:t>
            </a:r>
          </a:p>
          <a:p>
            <a:r>
              <a:t>fetch_confluence_</a:t>
            </a:r>
          </a:p>
          <a:p>
            <a:r>
              <a:t>requirements.py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783080" y="3246120"/>
            <a:ext cx="4297680" cy="1947672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326880" y="4572000"/>
            <a:ext cx="2286000" cy="123444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066C"/>
                </a:solidFill>
                <a:latin typeface="Calibri"/>
              </a:defRPr>
            </a:pPr>
            <a:r>
              <a:t>HTML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507492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34155"/>
                </a:solidFill>
                <a:latin typeface="Calibri"/>
              </a:defRPr>
            </a:pPr>
            <a:r>
              <a:t>reports/</a:t>
            </a:r>
          </a:p>
          <a:p>
            <a:r>
              <a:t>{KEY}-…-IST.html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6080760" y="3246120"/>
            <a:ext cx="4389120" cy="1947672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58978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Skill: .cursor/skills/msc-dev-code-and-qa-test-coverage-validator/  ·  fetch_jira_testplan.py merges Confluence LADR + Excel attachment  ·  Command: /msc-dev-code-and-qa-test-coverage-validator  ·  Developed by Mayur Gunjal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097280"/>
            <a:ext cx="4114800" cy="41148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C0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260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HTML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7763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FDBFE"/>
                </a:solidFill>
                <a:latin typeface="Calibri"/>
              </a:defRPr>
            </a:pPr>
            <a:r>
              <a:t>Eight sections · info icons · metrics · traceability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HTML report — 8 sections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reports/{KEY}-{date}-{time}-{TZ}.html  ·  hover i icons for context  ·  browser-ready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2697480" cy="123444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716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E4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38988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Coverage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96596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8 metric cards + i tooltips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280160"/>
            <a:ext cx="2697480" cy="123444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5576" y="13716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E4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138988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Linked PR(s)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196596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PR · Repo · State · Title · Files · Dev tests · CI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280160"/>
            <a:ext cx="2697480" cy="123444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13716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E4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1696" y="138988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Test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196596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Excel attachment · GWT · Mascot or IDs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1280160"/>
            <a:ext cx="2697480" cy="123444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1432" y="13716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E4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64624" y="138988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Dev vs 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196596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Ownership split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697480"/>
            <a:ext cx="2697480" cy="1234440"/>
          </a:xfrm>
          <a:prstGeom prst="roundRect">
            <a:avLst/>
          </a:prstGeom>
          <a:solidFill>
            <a:srgbClr val="FFF8E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27889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E4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280720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Traceability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338328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Row-per-AC matrix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55848" y="2697480"/>
            <a:ext cx="2697480" cy="1234440"/>
          </a:xfrm>
          <a:prstGeom prst="roundRect">
            <a:avLst/>
          </a:prstGeom>
          <a:solidFill>
            <a:srgbClr val="FFF8E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65576" y="27889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E4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58768" y="280720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Impl.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65576" y="338328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Gaps · strengths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8776" y="2697480"/>
            <a:ext cx="2697480" cy="1234440"/>
          </a:xfrm>
          <a:prstGeom prst="roundRect">
            <a:avLst/>
          </a:prstGeom>
          <a:solidFill>
            <a:srgbClr val="FFF8E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18504" y="27889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E4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11696" y="280720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Assumptions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18504" y="338328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Scope notes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61704" y="2697480"/>
            <a:ext cx="2697480" cy="1234440"/>
          </a:xfrm>
          <a:prstGeom prst="roundRect">
            <a:avLst/>
          </a:prstGeom>
          <a:solidFill>
            <a:srgbClr val="FFF8E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71432" y="27889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E4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64624" y="280720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Actions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71432" y="338328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Numbered to-dos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160520"/>
            <a:ext cx="11155680" cy="502920"/>
          </a:xfrm>
          <a:prstGeom prst="roundRect">
            <a:avLst/>
          </a:prstGeom>
          <a:solidFill>
            <a:srgbClr val="04066C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251960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MSC-212571  ·  Verdict: Fail  ·  Generated 06-02-2026 14:53 IST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Report UX — info icons &amp; tooltips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apply_report_ui_enhancements() runs automatically before every HTML write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5486400" cy="384048"/>
          </a:xfrm>
          <a:prstGeom prst="round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Where the i icon appears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5120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i  Header verdict (Pass / Pass with gaps / Fail)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5120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i  All 8 section titles + 3 summary group titles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15184"/>
            <a:ext cx="5120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i  All 8 Coverage summary metric cards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54096"/>
            <a:ext cx="5120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i  Linked PR(s) — 7 columns (PR, Repo, State, Title, Files, Dev tests, CI status)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93008"/>
            <a:ext cx="5120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i  Test plan + traceability table headers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5120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i  Dev vs QA cards · Implementation review panels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234440"/>
            <a:ext cx="5394960" cy="384048"/>
          </a:xfrm>
          <a:prstGeom prst="roundRect">
            <a:avLst/>
          </a:prstGeom>
          <a:solidFill>
            <a:srgbClr val="FF5E4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Tooltip layout v5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37360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• overflow: visible on sections, tables, and headers — no clipped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76272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• Default columns: tooltip opens left from the icon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15184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• Last two table columns (Dev tests, CI status): anchor to &lt;th&gt; right 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054096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• Section headings: tooltip aligns right of the icon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493008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• Pointer cursor (not ? help cursor) on hover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434840"/>
            <a:ext cx="11155680" cy="347472"/>
          </a:xfrm>
          <a:prstGeom prst="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§2 Linked PR(s) — six columns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782312"/>
            <a:ext cx="1822704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4066C"/>
                </a:solidFill>
                <a:latin typeface="Calibri"/>
              </a:defRPr>
            </a:pPr>
            <a:r>
              <a:t>PR 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62200" y="4782312"/>
            <a:ext cx="1822704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4066C"/>
                </a:solidFill>
                <a:latin typeface="Calibri"/>
              </a:defRPr>
            </a:pPr>
            <a:r>
              <a:t>Repo 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1480" y="4782312"/>
            <a:ext cx="1822704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4066C"/>
                </a:solidFill>
                <a:latin typeface="Calibri"/>
              </a:defRPr>
            </a:pPr>
            <a:r>
              <a:t>State 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4782312"/>
            <a:ext cx="1822704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4066C"/>
                </a:solidFill>
                <a:latin typeface="Calibri"/>
              </a:defRPr>
            </a:pPr>
            <a:r>
              <a:t>Title 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40040" y="4782312"/>
            <a:ext cx="1822704" cy="320040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4066C"/>
                </a:solidFill>
                <a:latin typeface="Calibri"/>
              </a:defRPr>
            </a:pPr>
            <a:r>
              <a:t>Dev tests 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99320" y="4782312"/>
            <a:ext cx="1822704" cy="320040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4066C"/>
                </a:solidFill>
                <a:latin typeface="Calibri"/>
              </a:defRPr>
            </a:pPr>
            <a:r>
              <a:t>CI status 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102352"/>
            <a:ext cx="11155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#161  ·  wbd-msc/pegasus-pick-genie  ·  MERGED  ·  passport fix  ·  TestDominoPassportRouting  ·  Passed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623560"/>
            <a:ext cx="11155680" cy="411480"/>
          </a:xfrm>
          <a:prstGeom prst="roundRect">
            <a:avLst/>
          </a:prstGeom>
          <a:solidFill>
            <a:srgbClr val="F2F2F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68756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Calibri"/>
              </a:defRPr>
            </a:pPr>
            <a:r>
              <a:t>Generated by msc-dev-code-and-qa-test-coverage-validator · Developed by Mayur Gunjal  (MSC-212571-06-02-2026-14-53-07-IST.html)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§1 Coverage summary — 8 metric cards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Color thresholds: Green ≥85%  ·  Amber 70–84.9%  ·  Red &lt;70%  ·  Gray 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Implementation &amp;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45920"/>
            <a:ext cx="3429000" cy="86868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100.0%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304288"/>
            <a:ext cx="32826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Calibri"/>
              </a:defRPr>
            </a:pPr>
            <a:r>
              <a:t>Dev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06040"/>
            <a:ext cx="3429000" cy="868680"/>
          </a:xfrm>
          <a:prstGeom prst="roundRect">
            <a:avLst/>
          </a:prstGeom>
          <a:solidFill>
            <a:srgbClr val="FFEDD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743200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97706"/>
                </a:solidFill>
                <a:latin typeface="Calibri"/>
              </a:defRPr>
            </a:pPr>
            <a:r>
              <a:t>5.6%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264408"/>
            <a:ext cx="32826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97706"/>
                </a:solidFill>
                <a:latin typeface="Calibri"/>
              </a:defRPr>
            </a:pPr>
            <a:r>
              <a:t>Dev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66160"/>
            <a:ext cx="3429000" cy="86868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703320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6/9 AC in test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4224528"/>
            <a:ext cx="32826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Calibri"/>
              </a:defRPr>
            </a:pPr>
            <a:r>
              <a:t>Req mapped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23444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QA &amp; release 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1645920"/>
            <a:ext cx="3429000" cy="868680"/>
          </a:xfrm>
          <a:prstGeom prst="roundRect">
            <a:avLst/>
          </a:prstGeom>
          <a:solidFill>
            <a:srgbClr val="FFEDD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783080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97706"/>
                </a:solidFill>
                <a:latin typeface="Calibri"/>
              </a:defRPr>
            </a:pPr>
            <a:r>
              <a:t>66.7%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2304288"/>
            <a:ext cx="32826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97706"/>
                </a:solidFill>
                <a:latin typeface="Calibri"/>
              </a:defRPr>
            </a:pPr>
            <a:r>
              <a:t>Test plan AC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2606040"/>
            <a:ext cx="3429000" cy="86868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2743200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  <a:latin typeface="Calibri"/>
              </a:defRPr>
            </a:pPr>
            <a:r>
              <a:t>28 scenarios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264408"/>
            <a:ext cx="32826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QA remaining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566160"/>
            <a:ext cx="3429000" cy="868680"/>
          </a:xfrm>
          <a:prstGeom prst="roundRect">
            <a:avLst/>
          </a:prstGeom>
          <a:solidFill>
            <a:srgbClr val="FFEDD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703320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97706"/>
                </a:solidFill>
                <a:latin typeface="Calibri"/>
              </a:defRPr>
            </a:pPr>
            <a:r>
              <a:t>0 High · 11 Med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4224528"/>
            <a:ext cx="32826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97706"/>
                </a:solidFill>
                <a:latin typeface="Calibri"/>
              </a:defRPr>
            </a:pPr>
            <a:r>
              <a:t>Open gaps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123444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CI pipeline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645920"/>
            <a:ext cx="3429000" cy="86868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1783080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99.2%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2" y="2304288"/>
            <a:ext cx="32826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Calibri"/>
              </a:defRPr>
            </a:pPr>
            <a:r>
              <a:t>Line cov.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80" y="2606040"/>
            <a:ext cx="3429000" cy="86868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2743200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99.2%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2" y="3264408"/>
            <a:ext cx="32826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Calibri"/>
              </a:defRPr>
            </a:pPr>
            <a:r>
              <a:t>Branch cov.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349240"/>
            <a:ext cx="1234440" cy="36576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A34A"/>
                </a:solidFill>
                <a:latin typeface="Calibri"/>
              </a:defRPr>
            </a:pPr>
            <a:r>
              <a:t>≥85%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20240" y="5349240"/>
            <a:ext cx="1234440" cy="365760"/>
          </a:xfrm>
          <a:prstGeom prst="roundRect">
            <a:avLst/>
          </a:prstGeom>
          <a:solidFill>
            <a:srgbClr val="FFEDD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97706"/>
                </a:solidFill>
                <a:latin typeface="Calibri"/>
              </a:defRPr>
            </a:pPr>
            <a:r>
              <a:t>70–84%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37560" y="5349240"/>
            <a:ext cx="1234440" cy="365760"/>
          </a:xfrm>
          <a:prstGeom prst="roundRect">
            <a:avLst/>
          </a:prstGeom>
          <a:solidFill>
            <a:srgbClr val="FEE2E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C2626"/>
                </a:solidFill>
                <a:latin typeface="Calibri"/>
              </a:defRPr>
            </a:pPr>
            <a:r>
              <a:t>&lt;70%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0" y="5349240"/>
            <a:ext cx="1234440" cy="36576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4A3B8"/>
                </a:solidFill>
                <a:latin typeface="Calibri"/>
              </a:defRPr>
            </a:pPr>
            <a:r>
              <a:t>NA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Requirement traceability chart — Jira · Code · Test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MSC-212571 · DirecTV Scenarios · 28/28 GWT · PR #99 partner-config OPEN · #148 transmogrifier MERGED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3977639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Requirement (Jira story)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53711" y="1234440"/>
            <a:ext cx="370332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Code coverage (linked PR)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30183" y="1234440"/>
            <a:ext cx="361188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Test plan (Jira Excel attachment)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73352"/>
            <a:ext cx="3977639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728216"/>
            <a:ext cx="38313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4066C"/>
                </a:solidFill>
                <a:latin typeface="Calibri"/>
              </a:defRPr>
            </a:pPr>
            <a:r>
              <a:t>R1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Content passport retained in cumulative output manifestation for PFT Clear incremental-as-full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53711" y="1673352"/>
            <a:ext cx="3703320" cy="96012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3" y="1728216"/>
            <a:ext cx="3557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Implemented</a:t>
            </a:r>
          </a:p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Dev tests: Covered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PR #161 · passport_manager.py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0183" y="1673352"/>
            <a:ext cx="3611880" cy="96012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5" y="1728216"/>
            <a:ext cx="34655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TC1–TC5 mapped</a:t>
            </a:r>
          </a:p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Given/When/Then: full</a:t>
            </a:r>
          </a:p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Mascot evidence linked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633472"/>
            <a:ext cx="3977639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2688336"/>
            <a:ext cx="38313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4066C"/>
                </a:solidFill>
                <a:latin typeface="Calibri"/>
              </a:defRPr>
            </a:pPr>
            <a:r>
              <a:t>R2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When metadata-update becomes full fulfillment, pack passport must be delivered for increment…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53711" y="2633472"/>
            <a:ext cx="3703320" cy="960120"/>
          </a:xfrm>
          <a:prstGeom prst="rect">
            <a:avLst/>
          </a:prstGeom>
          <a:solidFill>
            <a:srgbClr val="FFEDD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3" y="2688336"/>
            <a:ext cx="3557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Implemented</a:t>
            </a:r>
          </a:p>
          <a:p>
            <a:pPr>
              <a:spcAft>
                <a:spcPts val="200"/>
              </a:spcAft>
              <a:defRPr sz="900">
                <a:solidFill>
                  <a:srgbClr val="D97706"/>
                </a:solidFill>
                <a:latin typeface="Calibri"/>
              </a:defRPr>
            </a:pPr>
            <a:r>
              <a:t>Dev tests: Partial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PriorFulfilledManifestRecord 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0183" y="2633472"/>
            <a:ext cx="3611880" cy="96012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5" y="2688336"/>
            <a:ext cx="34655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TC1, TC4 mapped</a:t>
            </a:r>
          </a:p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Given/When/Then: full</a:t>
            </a:r>
          </a:p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Aligns with PR behavior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593592"/>
            <a:ext cx="3977639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3648456"/>
            <a:ext cx="38313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4066C"/>
                </a:solidFill>
                <a:latin typeface="Calibri"/>
              </a:defRPr>
            </a:pPr>
            <a:r>
              <a:t>R3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Pick-genie must not drop passport re-fetch when workflow resolves fulfillmentType full (PFT 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53711" y="3593592"/>
            <a:ext cx="3703320" cy="96012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3" y="3648456"/>
            <a:ext cx="3557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Implemented</a:t>
            </a:r>
          </a:p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Dev tests: Covered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TestDominoPassportRouting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30183" y="3593592"/>
            <a:ext cx="3611880" cy="96012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3335" y="3648456"/>
            <a:ext cx="34655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TC1–TC5 mapped</a:t>
            </a:r>
          </a:p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Given/When/Then: full</a:t>
            </a:r>
          </a:p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Incremental-as-full scenarios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553712"/>
            <a:ext cx="3977639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4608576"/>
            <a:ext cx="38313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4066C"/>
                </a:solidFill>
                <a:latin typeface="Calibri"/>
              </a:defRPr>
            </a:pPr>
            <a:r>
              <a:t>R4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Fix validated in SIT with Edit ID 37ea180e-77cc-413f-95cf-9dfcebf08cd2 and provided Mascot e…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53711" y="4553712"/>
            <a:ext cx="3703320" cy="960120"/>
          </a:xfrm>
          <a:prstGeom prst="rect">
            <a:avLst/>
          </a:prstGeom>
          <a:solidFill>
            <a:srgbClr val="FFEDD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6863" y="4608576"/>
            <a:ext cx="3557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D97706"/>
                </a:solidFill>
                <a:latin typeface="Calibri"/>
              </a:defRPr>
            </a:pPr>
            <a:r>
              <a:t>Partial</a:t>
            </a:r>
          </a:p>
          <a:p>
            <a:pPr>
              <a:spcAft>
                <a:spcPts val="200"/>
              </a:spcAft>
              <a:defRPr sz="900">
                <a:solidFill>
                  <a:srgbClr val="DC2626"/>
                </a:solidFill>
                <a:latin typeface="Calibri"/>
              </a:defRPr>
            </a:pPr>
            <a:r>
              <a:t>Dev tests: Missing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QA Manual — SIT validation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30183" y="4553712"/>
            <a:ext cx="3611880" cy="96012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03335" y="4608576"/>
            <a:ext cx="34655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DC2626"/>
                </a:solidFill>
                <a:latin typeface="Calibri"/>
              </a:defRPr>
            </a:pPr>
            <a:r>
              <a:t>No mapped test case</a:t>
            </a:r>
          </a:p>
          <a:p>
            <a:pPr>
              <a:spcAft>
                <a:spcPts val="200"/>
              </a:spcAft>
              <a:defRPr sz="900">
                <a:solidFill>
                  <a:srgbClr val="DC2626"/>
                </a:solidFill>
                <a:latin typeface="Calibri"/>
              </a:defRPr>
            </a:pPr>
            <a:r>
              <a:t>Gap: missing Edit ID scenario</a:t>
            </a:r>
          </a:p>
          <a:p>
            <a:pPr>
              <a:spcAft>
                <a:spcPts val="200"/>
              </a:spcAft>
              <a:defRPr sz="900">
                <a:solidFill>
                  <a:srgbClr val="D97706"/>
                </a:solidFill>
                <a:latin typeface="Calibri"/>
              </a:defRPr>
            </a:pPr>
            <a:r>
              <a:t>Then steps lack passport assertion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6235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Left: acceptance criteria extracted from Jira description · Middle: production code + dev unit/integration tests from PR diff · Right: scenarios parsed from the Excel test plan file attached to the Jira ticket (not a separate tool — the workbook in Jira attachments).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Confluence LADR requirements from Jira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When a LADR doc is linked on the story, the agent fetches Confluence and merges LADR requirements with Jira acceptance criteria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3520440" cy="384048"/>
          </a:xfrm>
          <a:prstGeom prst="round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Detected from Jira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• Comment or description mentions LADR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1284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• Confluence wiki URL (atlassian.net/wiki/…/pages/{id})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88336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• Linked design doc referenced in dev/QA comments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63824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• Test plan scenarios trace to LADR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234440"/>
            <a:ext cx="3520440" cy="384048"/>
          </a:xfrm>
          <a:prstGeom prst="roundRect">
            <a:avLst/>
          </a:prstGeom>
          <a:solidFill>
            <a:srgbClr val="FF5E4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Agent fetch (one batch)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73736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1. getConfluencePage (Atlassian MCP)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21284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2. python scripts/fetch_confluence_requirements.py {KEY}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688336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3. Parse LADR requirement items from page body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163824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4. Write reports/.cache/{KEY}-confluence.json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234440"/>
            <a:ext cx="3657600" cy="384048"/>
          </a:xfrm>
          <a:prstGeom prst="roundRect">
            <a:avLst/>
          </a:prstGeom>
          <a:solidFill>
            <a:srgbClr val="00968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Merged requirement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17373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→ Jira AC → R1, R2, R3…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212848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→ Confluence LADR → L1…Ln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688336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→ Test cases map to R* and L* (semantic match)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163824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→ Report §3: LADR ↔ test case traceability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3639312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→ Test plan AC coverage % uses combined set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794760"/>
            <a:ext cx="11155680" cy="1417320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931920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Example — MSC-204417: Jira references a LADR doc; agent fetches Confluence LADR requirements and merges with Promo Caption Monitoring test plan (12 scenarios, Caption Monitoring · 12/12 GWT). Report MSC-204417-06-02-2026-14-43-39-IST.html: 100.0% dev code · 94.1% test plan AC · 16/17 AC in test plan mapped · Fail. ESS LADR + passport scenario pages (word-boundary safe).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49240"/>
            <a:ext cx="11155680" cy="347472"/>
          </a:xfrm>
          <a:prstGeom prst="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Any LADR-linked story — design requirements become testable L* items for coverage scoring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742432"/>
            <a:ext cx="2743200" cy="5029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04066C"/>
                </a:solidFill>
                <a:latin typeface="Calibri"/>
              </a:defRPr>
            </a:pPr>
            <a:r>
              <a:t>Wiki URL or LADR comment on Jira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5742432"/>
            <a:ext cx="2743200" cy="5029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04066C"/>
                </a:solidFill>
                <a:latin typeface="Calibri"/>
              </a:defRPr>
            </a:pPr>
            <a:r>
              <a:t>Confluence page body → requirement list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5742432"/>
            <a:ext cx="2743200" cy="5029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04066C"/>
                </a:solidFill>
                <a:latin typeface="Calibri"/>
              </a:defRPr>
            </a:pPr>
            <a:r>
              <a:t>Merged with Jira AC + Excel test plan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9680" y="5742432"/>
            <a:ext cx="2743200" cy="5029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04066C"/>
                </a:solidFill>
                <a:latin typeface="Calibri"/>
              </a:defRPr>
            </a:pPr>
            <a:r>
              <a:t>LADR ↔ test case table + gap list for unmapped L*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§3 Test plan validation — Jira Excel + LADR alignment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Confluence LADR requirements when linked · Excel attachment · Given/When/Then · Evidence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73152" cy="868680"/>
          </a:xfrm>
          <a:prstGeom prst="rect">
            <a:avLst/>
          </a:prstGeom>
          <a:solidFill>
            <a:srgbClr val="FF5E4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1430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4066C"/>
                </a:solidFill>
                <a:latin typeface="Calibri"/>
              </a:defRPr>
            </a:pPr>
            <a:r>
              <a:t>Confluence LADR (from Jira)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90472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If story comments or description reference LADR or wiki URLs, agent fetches Confluence via MCP or fetch_confluence_requirements.py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440680" cy="68580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4066C"/>
                </a:solidFill>
                <a:latin typeface="Calibri"/>
              </a:defRPr>
            </a:pPr>
            <a:r>
              <a:t>LADR requirements L1…Ln · cache {KEY}-confluence.json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47672"/>
            <a:ext cx="73152" cy="868680"/>
          </a:xfrm>
          <a:prstGeom prst="rect">
            <a:avLst/>
          </a:prstGeom>
          <a:solidFill>
            <a:srgbClr val="FF5E4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94767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4066C"/>
                </a:solidFill>
                <a:latin typeface="Calibri"/>
              </a:defRPr>
            </a:pPr>
            <a:r>
              <a:t>LADR ↔ test plan traceability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95144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Each L1…Ln requirement tied to Excel test case IDs in report §3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084832"/>
            <a:ext cx="5440680" cy="68580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4066C"/>
                </a:solidFill>
                <a:latin typeface="Calibri"/>
              </a:defRPr>
            </a:pPr>
            <a:r>
              <a:t>13/14 LADR mapped · MSC-204417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52344"/>
            <a:ext cx="73152" cy="868680"/>
          </a:xfrm>
          <a:prstGeom prst="rect">
            <a:avLst/>
          </a:prstGeom>
          <a:solidFill>
            <a:srgbClr val="FF5E4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75234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4066C"/>
                </a:solidFill>
                <a:latin typeface="Calibri"/>
              </a:defRPr>
            </a:pPr>
            <a:r>
              <a:t>Domino Excel test plan (Jira attachment)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099816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Jira attachment or local testplans/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889504"/>
            <a:ext cx="5440680" cy="68580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4066C"/>
                </a:solidFill>
                <a:latin typeface="Calibri"/>
              </a:defRPr>
            </a:pPr>
            <a:r>
              <a:t>fetch_jira_testplan.py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557016"/>
            <a:ext cx="73152" cy="868680"/>
          </a:xfrm>
          <a:prstGeom prst="rect">
            <a:avLst/>
          </a:prstGeom>
          <a:solidFill>
            <a:srgbClr val="FF5E4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557016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4066C"/>
                </a:solidFill>
                <a:latin typeface="Calibri"/>
              </a:defRPr>
            </a:pPr>
            <a:r>
              <a:t>Given / When / Then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90448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Content-based Given/When/Then scoring (not column-name only)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694176"/>
            <a:ext cx="5440680" cy="68580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4066C"/>
                </a:solidFill>
                <a:latin typeface="Calibri"/>
              </a:defRPr>
            </a:pPr>
            <a:r>
              <a:t>12/12 GWT · MSC-204417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361688"/>
            <a:ext cx="73152" cy="868680"/>
          </a:xfrm>
          <a:prstGeom prst="rect">
            <a:avLst/>
          </a:prstGeom>
          <a:solidFill>
            <a:srgbClr val="FF5E4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36168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4066C"/>
                </a:solidFill>
                <a:latin typeface="Calibri"/>
              </a:defRPr>
            </a:pPr>
            <a:r>
              <a:t>LADR + Jira AC mapping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709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Semantic match of test cases to Jira AC and Confluence LADR requirements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498848"/>
            <a:ext cx="5440680" cy="68580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4066C"/>
                </a:solidFill>
                <a:latin typeface="Calibri"/>
              </a:defRPr>
            </a:pPr>
            <a:r>
              <a:t>94.1% · MSC-204417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166360"/>
            <a:ext cx="73152" cy="868680"/>
          </a:xfrm>
          <a:prstGeom prst="rect">
            <a:avLst/>
          </a:prstGeom>
          <a:solidFill>
            <a:srgbClr val="FF5E4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1663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4066C"/>
                </a:solidFill>
                <a:latin typeface="Calibri"/>
              </a:defRPr>
            </a:pPr>
            <a:r>
              <a:t>Evidence (Mascot or IDs)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513832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Mascot URLs when present; else Edit ID, Caption Group ID, Pegasus ID from SIT Jobs / Comments columns (MSC-204417 Caption Monitoring)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5303520"/>
            <a:ext cx="5440680" cy="68580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4066C"/>
                </a:solidFill>
                <a:latin typeface="Calibri"/>
              </a:defRPr>
            </a:pPr>
            <a:r>
              <a:t>Edit ID · SIT Jobs · MSC-204417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349240"/>
            <a:ext cx="5440680" cy="365760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Scenario examples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5742432"/>
            <a:ext cx="544068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MSC-204417 · LADR requirements · 94.1% test plan AC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6089904"/>
            <a:ext cx="5440680" cy="32004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MSC-205625 · Inc as Fulll · 75% test plan AC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6437376"/>
            <a:ext cx="544068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MSC-195138 · FF Race · 66.7% test plan AC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§4–§5 Dev vs QA ownership &amp; traceability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No ambiguity on what QA must still run in SIT/UAT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5394960" cy="448056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4066C"/>
                </a:solidFill>
                <a:latin typeface="Calibri"/>
              </a:defRPr>
            </a:pPr>
            <a:r>
              <a:t>Development 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A34A"/>
                </a:solidFill>
                <a:latin typeface="Calibri"/>
              </a:defRPr>
            </a:pPr>
            <a:r>
              <a:t>✓  Unit / integration tests in PR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A34A"/>
                </a:solidFill>
                <a:latin typeface="Calibri"/>
              </a:defRPr>
            </a:pPr>
            <a:r>
              <a:t>✓  File + test name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A34A"/>
                </a:solidFill>
                <a:latin typeface="Calibri"/>
              </a:defRPr>
            </a:pPr>
            <a:r>
              <a:t>✓  Dev-owned AC marked Covered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290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A34A"/>
                </a:solidFill>
                <a:latin typeface="Calibri"/>
              </a:defRPr>
            </a:pPr>
            <a:r>
              <a:t>✓  SonarQube CI — 99.2% line (PR #161)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80160"/>
            <a:ext cx="5394960" cy="4480560"/>
          </a:xfrm>
          <a:prstGeom prst="roundRect">
            <a:avLst/>
          </a:prstGeom>
          <a:solidFill>
            <a:srgbClr val="FFEDE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173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5E4F"/>
                </a:solidFill>
                <a:latin typeface="Calibri"/>
              </a:defRPr>
            </a:pPr>
            <a:r>
              <a:t>QA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9202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5E4F"/>
                </a:solidFill>
                <a:latin typeface="Calibri"/>
              </a:defRPr>
            </a:pPr>
            <a:r>
              <a:t>→  Monitor E2E scenarios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42316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5E4F"/>
                </a:solidFill>
                <a:latin typeface="Calibri"/>
              </a:defRPr>
            </a:pPr>
            <a:r>
              <a:t>→  Manual SIT / UAT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9260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5E4F"/>
                </a:solidFill>
                <a:latin typeface="Calibri"/>
              </a:defRPr>
            </a:pPr>
            <a:r>
              <a:t>→  Regression for related bugs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4290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5E4F"/>
                </a:solidFill>
                <a:latin typeface="Calibri"/>
              </a:defRPr>
            </a:pPr>
            <a:r>
              <a:t>→  Mascot-linked validation runs</a:t>
            </a:r>
          </a:p>
        </p:txBody>
      </p:sp>
      <p:sp>
        <p:nvSpPr>
          <p:cNvPr id="20" name="Oval 19"/>
          <p:cNvSpPr/>
          <p:nvPr/>
        </p:nvSpPr>
        <p:spPr>
          <a:xfrm>
            <a:off x="5623560" y="3200400"/>
            <a:ext cx="914400" cy="9144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4066C"/>
                </a:solidFill>
              </a:defRPr>
            </a:pPr>
            <a:r>
              <a:t>AC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097280"/>
            <a:ext cx="4114800" cy="41148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C00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260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Enablement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7763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FDBFE"/>
                </a:solidFill>
                <a:latin typeface="Calibri"/>
              </a:defRPr>
            </a:pPr>
            <a:r>
              <a:t>One-time setup · scripts · cache · permissions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Enablement — one-time setup (~10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Clone lab → MCP → gh → permissions → optional .env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5440680" cy="804672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43560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34416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Clone pegasus-qa-agents-lab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6733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cursor 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440680" cy="804672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09360" y="143560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34416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pip install -r requirements.txt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733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Python 3.10+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94560"/>
            <a:ext cx="5440680" cy="804672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239572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30428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Atlassian MCP 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63347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wbdstreaming.atlassian.net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194560"/>
            <a:ext cx="5440680" cy="804672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09360" y="239572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30428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gh auth login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63347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GitHub PR access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154680"/>
            <a:ext cx="5440680" cy="804672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" y="335584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26440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install_coverage_validator_permissions.py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593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Auto-run allowlist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154680"/>
            <a:ext cx="5440680" cy="804672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09360" y="335584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6440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.env + validator.defaults.json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593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Test plan download + repo defaults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16052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Scripts (batched — no manual gh per run):</a:t>
            </a:r>
          </a:p>
          <a:p>
            <a:pPr>
              <a:defRPr sz="1100" b="0">
                <a:solidFill>
                  <a:srgbClr val="334155"/>
                </a:solidFill>
                <a:latin typeface="Calibri"/>
              </a:defRPr>
            </a:pPr>
            <a:r>
              <a:t>fetch_confluence_requirements.py  ·  fetch_jira_testplan.py  ·  prefetch_coverage_inputs.py</a:t>
            </a:r>
          </a:p>
          <a:p>
            <a:pPr>
              <a:defRPr sz="1100" b="0">
                <a:solidFill>
                  <a:srgbClr val="334155"/>
                </a:solidFill>
                <a:latin typeface="Calibri"/>
              </a:defRPr>
            </a:pPr>
            <a:r>
              <a:t>map_requirements_to_diff.py  ·  build_coverage_report.py  ·  apply_report_ui_enhancements()</a:t>
            </a:r>
          </a:p>
          <a:p>
            <a:pPr>
              <a:defRPr sz="1100" b="0">
                <a:solidFill>
                  <a:srgbClr val="334155"/>
                </a:solidFill>
                <a:latin typeface="Calibri"/>
              </a:defRPr>
            </a:pPr>
            <a:r>
              <a:t>sync_pegasus_qa_agents_lab.py → push to github.com/mgunjal11/pegasus-qa-agents-lab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097280"/>
            <a:ext cx="4114800" cy="41148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C00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260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7763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FDBFE"/>
                </a:solidFill>
                <a:latin typeface="Calibri"/>
              </a:defRPr>
            </a:pPr>
            <a:r>
              <a:t>MSC case studies · latest report matrix · real coverage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Latest report matrix — 8-card coverage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From HTML reports · newest: MSC-212571 (06-02-2026 14:53 IST)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07008"/>
            <a:ext cx="1212088" cy="365760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Ticket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1742440" y="1207008"/>
            <a:ext cx="1212088" cy="365760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Dev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81960" y="1207008"/>
            <a:ext cx="1212088" cy="365760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Dev tests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21480" y="1207008"/>
            <a:ext cx="1212088" cy="365760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Req mapped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1000" y="1207008"/>
            <a:ext cx="1212088" cy="365760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Test plan AC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00520" y="1207008"/>
            <a:ext cx="1212088" cy="365760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QA scope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40040" y="1207008"/>
            <a:ext cx="1212088" cy="365760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Open gaps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79560" y="1207008"/>
            <a:ext cx="1212088" cy="365760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CI 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9080" y="1207008"/>
            <a:ext cx="1212088" cy="365760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Verdict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591056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1A"/>
                </a:solidFill>
                <a:latin typeface="Calibri"/>
              </a:defRPr>
            </a:pPr>
            <a:r>
              <a:t>MSC-212571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42440" y="1591056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16A34A"/>
                </a:solidFill>
                <a:latin typeface="Calibri"/>
              </a:defRPr>
            </a:pPr>
            <a:r>
              <a:t>100.0%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81960" y="1591056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D97706"/>
                </a:solidFill>
                <a:latin typeface="Calibri"/>
              </a:defRPr>
            </a:pPr>
            <a:r>
              <a:t>5.6%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1480" y="1591056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6/9 AC in test plan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61000" y="1591056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D97706"/>
                </a:solidFill>
                <a:latin typeface="Calibri"/>
              </a:defRPr>
            </a:pPr>
            <a:r>
              <a:t>66.7%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00520" y="1591056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28 scenarios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40040" y="1591056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0 High · 11 Med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79560" y="1591056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99.2%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19080" y="1591056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1938528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1A"/>
                </a:solidFill>
                <a:latin typeface="Calibri"/>
              </a:defRPr>
            </a:pPr>
            <a:r>
              <a:t>MSC-205625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42440" y="1938528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D97706"/>
                </a:solidFill>
                <a:latin typeface="Calibri"/>
              </a:defRPr>
            </a:pPr>
            <a:r>
              <a:t>87.5%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81960" y="1938528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D97706"/>
                </a:solidFill>
                <a:latin typeface="Calibri"/>
              </a:defRPr>
            </a:pPr>
            <a:r>
              <a:t>83.3%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21480" y="1938528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7/9 AC in test plan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61000" y="1938528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D97706"/>
                </a:solidFill>
                <a:latin typeface="Calibri"/>
              </a:defRPr>
            </a:pPr>
            <a:r>
              <a:t>77.8%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00520" y="1938528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5 scenarios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40040" y="1938528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0 High · 1 Med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79560" y="1938528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95.3%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19080" y="1938528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2286000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1A"/>
                </a:solidFill>
                <a:latin typeface="Calibri"/>
              </a:defRPr>
            </a:pPr>
            <a:r>
              <a:t>MSC-204417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42440" y="2286000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16A34A"/>
                </a:solidFill>
                <a:latin typeface="Calibri"/>
              </a:defRPr>
            </a:pPr>
            <a:r>
              <a:t>100.0%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81960" y="2286000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D97706"/>
                </a:solidFill>
                <a:latin typeface="Calibri"/>
              </a:defRPr>
            </a:pPr>
            <a:r>
              <a:t>83.3%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21480" y="2286000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16/17 AC in test plan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61000" y="2286000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D97706"/>
                </a:solidFill>
                <a:latin typeface="Calibri"/>
              </a:defRPr>
            </a:pPr>
            <a:r>
              <a:t>94.1%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00520" y="2286000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2 items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40040" y="2286000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2 High · 2 Med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79560" y="2286000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94A3B8"/>
                </a:solidFill>
                <a:latin typeface="Calibri"/>
              </a:defRPr>
            </a:pPr>
            <a:r>
              <a:t>NA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19080" y="2286000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2633472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1A"/>
                </a:solidFill>
                <a:latin typeface="Calibri"/>
              </a:defRPr>
            </a:pPr>
            <a:r>
              <a:t>MSC-195138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42440" y="2633472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D97706"/>
                </a:solidFill>
                <a:latin typeface="Calibri"/>
              </a:defRPr>
            </a:pPr>
            <a:r>
              <a:t>83.3%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81960" y="2633472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D97706"/>
                </a:solidFill>
                <a:latin typeface="Calibri"/>
              </a:defRPr>
            </a:pPr>
            <a:r>
              <a:t>83.3%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21480" y="2633472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2/3 AC in test plan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61000" y="2633472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D97706"/>
                </a:solidFill>
                <a:latin typeface="Calibri"/>
              </a:defRPr>
            </a:pPr>
            <a:r>
              <a:t>66.7%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00520" y="2633472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3 items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40040" y="2633472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1 High · 3 Med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79560" y="2633472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77.7%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419080" y="2633472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2697480"/>
            <a:ext cx="11155680" cy="292608"/>
          </a:xfrm>
          <a:prstGeom prst="roundRect">
            <a:avLst/>
          </a:prstGeom>
          <a:solidFill>
            <a:srgbClr val="FF5E4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Report artifacts (latest)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3035808"/>
            <a:ext cx="11155680" cy="274320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04066C"/>
                </a:solidFill>
                <a:latin typeface="Calibri"/>
              </a:defRPr>
            </a:pPr>
            <a:r>
              <a:t>MSC-212571 · MSC-212571-06-02-2026-14-53-07-IST.html · 06-02-2026 14:53 IST · PR #99 partner-config OPEN · #148 transmogrifier MERGED · DirecTV Scenarios · 28/28 GWT · Confluence DirecTV spec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3328416"/>
            <a:ext cx="11155680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MSC-205625 · MSC-205625-06-02-2026-14-50-05-IST.html · 06-02-2026 14:50 IST · PR #161 pick-genie · #195 encode-monitor MERGED · Domino Inc as full · 5/5 GWT · Passport wiki LADR (5 scenarios)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3621024"/>
            <a:ext cx="11155680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MSC-204417 · MSC-204417-06-02-2026-14-43-39-IST.html · 06-02-2026 14:43 IST · No PR · develop branch (pegasus-ess) · Caption Monitoring · 12/12 GWT · ESS + caption LADR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3913632"/>
            <a:ext cx="11155680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MSC-195138 · MSC-195138-06-02-2026-14-39-24-IST.html · 06-02-2026 14:39 IST · PRs #22 reps · #75 texttransform MERGED · FF Race · 11/11 GWT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4160520"/>
            <a:ext cx="5394960" cy="29260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MSC-212571 — newest §1 cards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2920" y="4498848"/>
            <a:ext cx="1261872" cy="7498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4636008"/>
            <a:ext cx="10789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4066C"/>
                </a:solidFill>
                <a:latin typeface="Calibri"/>
              </a:defRPr>
            </a:pPr>
            <a:r>
              <a:t>100.0%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6072" y="5157216"/>
            <a:ext cx="11155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4066C"/>
                </a:solidFill>
                <a:latin typeface="Calibri"/>
              </a:defRPr>
            </a:pPr>
            <a:r>
              <a:t>Dev code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856232" y="4498848"/>
            <a:ext cx="1261872" cy="7498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947672" y="4636008"/>
            <a:ext cx="10789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4066C"/>
                </a:solidFill>
                <a:latin typeface="Calibri"/>
              </a:defRPr>
            </a:pPr>
            <a:r>
              <a:t>5.6%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9384" y="5157216"/>
            <a:ext cx="11155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4066C"/>
                </a:solidFill>
                <a:latin typeface="Calibri"/>
              </a:defRPr>
            </a:pPr>
            <a:r>
              <a:t>Dev tests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209544" y="4498848"/>
            <a:ext cx="1261872" cy="7498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00984" y="4636008"/>
            <a:ext cx="10789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4066C"/>
                </a:solidFill>
                <a:latin typeface="Calibri"/>
              </a:defRPr>
            </a:pPr>
            <a:r>
              <a:t>66.7%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82696" y="5157216"/>
            <a:ext cx="11155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4066C"/>
                </a:solidFill>
                <a:latin typeface="Calibri"/>
              </a:defRPr>
            </a:pPr>
            <a:r>
              <a:t>Test plan AC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62856" y="4498848"/>
            <a:ext cx="1261872" cy="7498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54296" y="4636008"/>
            <a:ext cx="10789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4066C"/>
                </a:solidFill>
                <a:latin typeface="Calibri"/>
              </a:defRPr>
            </a:pPr>
            <a:r>
              <a:t>99.2%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36008" y="5157216"/>
            <a:ext cx="11155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4066C"/>
                </a:solidFill>
                <a:latin typeface="Calibri"/>
              </a:defRPr>
            </a:pPr>
            <a:r>
              <a:t>CI line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80760" y="4160520"/>
            <a:ext cx="5577840" cy="29260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MSC-204417 — branch-only (no PR)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80760" y="4498848"/>
            <a:ext cx="1261872" cy="7498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72200" y="4636008"/>
            <a:ext cx="10789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4066C"/>
                </a:solidFill>
                <a:latin typeface="Calibri"/>
              </a:defRPr>
            </a:pPr>
            <a:r>
              <a:t>100.0%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53912" y="5157216"/>
            <a:ext cx="11155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4066C"/>
                </a:solidFill>
                <a:latin typeface="Calibri"/>
              </a:defRPr>
            </a:pPr>
            <a:r>
              <a:t>Dev code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434072" y="4498848"/>
            <a:ext cx="1261872" cy="7498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25512" y="4636008"/>
            <a:ext cx="10789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4066C"/>
                </a:solidFill>
                <a:latin typeface="Calibri"/>
              </a:defRPr>
            </a:pPr>
            <a:r>
              <a:t>83.3%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07224" y="5157216"/>
            <a:ext cx="11155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4066C"/>
                </a:solidFill>
                <a:latin typeface="Calibri"/>
              </a:defRPr>
            </a:pPr>
            <a:r>
              <a:t>Dev tests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787384" y="4498848"/>
            <a:ext cx="1261872" cy="7498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878824" y="4636008"/>
            <a:ext cx="10789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4066C"/>
                </a:solidFill>
                <a:latin typeface="Calibri"/>
              </a:defRPr>
            </a:pPr>
            <a:r>
              <a:t>94.1%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0536" y="5157216"/>
            <a:ext cx="11155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4066C"/>
                </a:solidFill>
                <a:latin typeface="Calibri"/>
              </a:defRPr>
            </a:pPr>
            <a:r>
              <a:t>Test plan AC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140696" y="4498848"/>
            <a:ext cx="1261872" cy="749808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232136" y="4636008"/>
            <a:ext cx="10789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4066C"/>
                </a:solidFill>
                <a:latin typeface="Calibri"/>
              </a:defRPr>
            </a:pPr>
            <a:r>
              <a:t>NA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213848" y="5157216"/>
            <a:ext cx="11155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4066C"/>
                </a:solidFill>
                <a:latin typeface="Calibri"/>
              </a:defRPr>
            </a:pPr>
            <a:r>
              <a:t>CI line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02920" y="5349240"/>
            <a:ext cx="11155680" cy="292608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04066C"/>
                </a:solidFill>
                <a:latin typeface="Calibri"/>
              </a:defRPr>
            </a:pPr>
            <a:r>
              <a:t>MSC-205625 — dual PR + passport Confluence LADR · CI 95%+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02920" y="5687568"/>
            <a:ext cx="1261872" cy="68580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4360" y="5824728"/>
            <a:ext cx="10789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87.5%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6072" y="6345936"/>
            <a:ext cx="11155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Calibri"/>
              </a:defRPr>
            </a:pPr>
            <a:r>
              <a:t>Dev code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856232" y="5687568"/>
            <a:ext cx="1261872" cy="68580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947672" y="5824728"/>
            <a:ext cx="10789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83.3%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929384" y="6345936"/>
            <a:ext cx="11155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Calibri"/>
              </a:defRPr>
            </a:pPr>
            <a:r>
              <a:t>Dev tests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209544" y="5687568"/>
            <a:ext cx="1261872" cy="68580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300984" y="5824728"/>
            <a:ext cx="10789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77.8%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82696" y="6345936"/>
            <a:ext cx="11155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Calibri"/>
              </a:defRPr>
            </a:pPr>
            <a:r>
              <a:t>Test plan AC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562856" y="5687568"/>
            <a:ext cx="1261872" cy="68580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654296" y="5824728"/>
            <a:ext cx="10789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95.3%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636008" y="6345936"/>
            <a:ext cx="11155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Calibri"/>
              </a:defRPr>
            </a:pPr>
            <a:r>
              <a:t>CI line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Proven MSC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Latest HTML reports — see full 8-card matrix on prior slide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50876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Ticket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234440"/>
            <a:ext cx="150876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1234440"/>
            <a:ext cx="150876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1234440"/>
            <a:ext cx="150876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Dev tests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1234440"/>
            <a:ext cx="150876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Plan AC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234440"/>
            <a:ext cx="150876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Verdict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04120" y="1234440"/>
            <a:ext cx="150876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Notes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691640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1A1A"/>
                </a:solidFill>
                <a:latin typeface="Calibri"/>
              </a:defRPr>
            </a:pPr>
            <a:r>
              <a:t>MSC-212571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3120" y="1691640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1A1A"/>
                </a:solidFill>
                <a:latin typeface="Calibri"/>
              </a:defRPr>
            </a:pPr>
            <a:r>
              <a:t>Story · In QA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3320" y="1691640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6A34A"/>
                </a:solidFill>
                <a:latin typeface="Calibri"/>
              </a:defRPr>
            </a:pPr>
            <a:r>
              <a:t>100.0%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691640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5.6%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1691640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66.7%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1691640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04120" y="1691640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4155"/>
                </a:solidFill>
                <a:latin typeface="Calibri"/>
              </a:defRPr>
            </a:pPr>
            <a:r>
              <a:t>Confluence DirecTV spec · PR #99 partner-c…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167128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1A1A"/>
                </a:solidFill>
                <a:latin typeface="Calibri"/>
              </a:defRPr>
            </a:pPr>
            <a:r>
              <a:t>MSC-205625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2167128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1A1A"/>
                </a:solidFill>
                <a:latin typeface="Calibri"/>
              </a:defRPr>
            </a:pPr>
            <a:r>
              <a:t>Bug · Ready for Release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167128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87.5%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2167128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83.3%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03720" y="2167128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77.8%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2167128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04120" y="2167128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4155"/>
                </a:solidFill>
                <a:latin typeface="Calibri"/>
              </a:defRPr>
            </a:pPr>
            <a:r>
              <a:t>Passport wiki LADR (5 scenarios) · PR #161…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642616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1A1A"/>
                </a:solidFill>
                <a:latin typeface="Calibri"/>
              </a:defRPr>
            </a:pPr>
            <a:r>
              <a:t>MSC-204417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2642616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1A1A"/>
                </a:solidFill>
                <a:latin typeface="Calibri"/>
              </a:defRPr>
            </a:pPr>
            <a:r>
              <a:t>Story · In QA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03320" y="2642616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6A34A"/>
                </a:solidFill>
                <a:latin typeface="Calibri"/>
              </a:defRPr>
            </a:pPr>
            <a:r>
              <a:t>100.0%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2642616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83.3%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2642616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94.1%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2642616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04120" y="2642616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4155"/>
                </a:solidFill>
                <a:latin typeface="Calibri"/>
              </a:defRPr>
            </a:pPr>
            <a:r>
              <a:t>ESS + caption LADR · No PR · develop branc…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118104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1A1A"/>
                </a:solidFill>
                <a:latin typeface="Calibri"/>
              </a:defRPr>
            </a:pPr>
            <a:r>
              <a:t>MSC-195138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3118104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1A1A"/>
                </a:solidFill>
                <a:latin typeface="Calibri"/>
              </a:defRPr>
            </a:pPr>
            <a:r>
              <a:t>Story · Done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03320" y="3118104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83.3%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0" y="3118104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83.3%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03720" y="3118104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66.7%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0" y="3118104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04120" y="3118104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4155"/>
                </a:solidFill>
                <a:latin typeface="Calibri"/>
              </a:defRPr>
            </a:pPr>
            <a:r>
              <a:t>PRs #22 reps · #75 texttransform MERGED · …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114800"/>
            <a:ext cx="3657600" cy="36576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  <a:latin typeface="Calibri"/>
              </a:defRPr>
            </a:pPr>
            <a:r>
              <a:t>It's time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C000"/>
                </a:solidFill>
                <a:latin typeface="Calibri"/>
              </a:defRPr>
            </a:pPr>
            <a:r>
              <a:t>Outcreate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FDBFE"/>
                </a:solidFill>
                <a:latin typeface="Consolas"/>
              </a:defRPr>
            </a:pPr>
            <a:r>
              <a:t>/msc-dev-code-and-qa-test-coverage-validator {YOUR-MSC-KEY}  ·  Developed by Mayur Gunjal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