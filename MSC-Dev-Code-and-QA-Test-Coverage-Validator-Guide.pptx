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029200"/>
            <a:ext cx="1828800" cy="1828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C000"/>
                </a:solidFill>
                <a:latin typeface="Calibri"/>
              </a:defRPr>
            </a:pPr>
            <a:r>
              <a:t>Business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MSC Dev Code and QA Test Coverage Validator</a:t>
            </a:r>
          </a:p>
        </p:txBody>
      </p:sp>
      <p:sp>
        <p:nvSpPr>
          <p:cNvPr id="8" name="TextBox 7">
            <a:hlinkHover tooltip="MSC coverage validation report comparing the Jira story to linked GitHub PRs, attached QMetry test plan, and CI pipeline metrics." action="ppaction://noaction"/>
          </p:cNvPr>
          <p:cNvSpPr txBox="1"/>
          <p:nvPr/>
        </p:nvSpPr>
        <p:spPr>
          <a:xfrm>
            <a:off x="777240" y="34290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AI-driven release readiness · Jira + Confluence LADR (when linked) + GitHub + Excel test plan in one report</a:t>
            </a:r>
          </a:p>
        </p:txBody>
      </p:sp>
      <p:sp>
        <p:nvSpPr>
          <p:cNvPr id="9" name="Oval 8">
            <a:hlinkHover tooltip="Gray italic text = short definition (always visible). Coral ⓘ = full definition on hover in Slide Show (press F5). Matches HTML report info tooltips." action="ppaction://noaction"/>
          </p:cNvPr>
          <p:cNvSpPr/>
          <p:nvPr/>
        </p:nvSpPr>
        <p:spPr>
          <a:xfrm>
            <a:off x="10241280" y="345643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2606040" cy="1435608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4456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>
            <a:hlinkHover tooltip="Jira, Confluence LADR, GitHub PR(s), and Excel test plan in one run." action="ppaction://noaction"/>
          </p:cNvPr>
          <p:cNvSpPr txBox="1"/>
          <p:nvPr/>
        </p:nvSpPr>
        <p:spPr>
          <a:xfrm>
            <a:off x="850392" y="4965192"/>
            <a:ext cx="2459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Systems unified</a:t>
            </a:r>
          </a:p>
        </p:txBody>
      </p:sp>
      <p:sp>
        <p:nvSpPr>
          <p:cNvPr id="13" name="Oval 12">
            <a:hlinkHover tooltip="Jira, Confluence LADR, GitHub PR(s), and Excel test plan in one run." action="ppaction://noaction"/>
          </p:cNvPr>
          <p:cNvSpPr/>
          <p:nvPr/>
        </p:nvSpPr>
        <p:spPr>
          <a:xfrm>
            <a:off x="3108960" y="44897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4" name="TextBox 13">
            <a:hlinkHover tooltip="Jira, Confluence LADR, GitHub PR(s), and Excel test plan in one run." action="ppaction://noaction"/>
          </p:cNvPr>
          <p:cNvSpPr txBox="1"/>
          <p:nvPr/>
        </p:nvSpPr>
        <p:spPr>
          <a:xfrm>
            <a:off x="832104" y="550468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94A3B8"/>
                </a:solidFill>
                <a:latin typeface="Calibri"/>
              </a:defRPr>
            </a:pPr>
            <a:r>
              <a:t>Jira, Confluence LADR, GitHub PR(s), and Excel test plan in one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4434840"/>
            <a:ext cx="2606040" cy="1435608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454456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7" name="TextBox 16">
            <a:hlinkHover tooltip="Eight summary cards in §1 of the HTML report (dev, plan, CI, gaps)." action="ppaction://noaction"/>
          </p:cNvPr>
          <p:cNvSpPr txBox="1"/>
          <p:nvPr/>
        </p:nvSpPr>
        <p:spPr>
          <a:xfrm>
            <a:off x="3566160" y="4965192"/>
            <a:ext cx="2459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Coverage metrics</a:t>
            </a:r>
          </a:p>
        </p:txBody>
      </p:sp>
      <p:sp>
        <p:nvSpPr>
          <p:cNvPr id="18" name="Oval 17">
            <a:hlinkHover tooltip="Eight summary cards in §1 of the HTML report (dev, plan, CI, gaps)." action="ppaction://noaction"/>
          </p:cNvPr>
          <p:cNvSpPr/>
          <p:nvPr/>
        </p:nvSpPr>
        <p:spPr>
          <a:xfrm>
            <a:off x="5824728" y="44897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9" name="TextBox 18">
            <a:hlinkHover tooltip="Eight summary cards in §1 of the HTML report (dev, plan, CI, gaps)." action="ppaction://noaction"/>
          </p:cNvPr>
          <p:cNvSpPr txBox="1"/>
          <p:nvPr/>
        </p:nvSpPr>
        <p:spPr>
          <a:xfrm>
            <a:off x="3547872" y="550468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94A3B8"/>
                </a:solidFill>
                <a:latin typeface="Calibri"/>
              </a:defRPr>
            </a:pPr>
            <a:r>
              <a:t>Eight summary cards in §1 of the HTML report (dev, plan, CI, gaps).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434840"/>
            <a:ext cx="2606040" cy="1435608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454456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2–5</a:t>
            </a:r>
          </a:p>
        </p:txBody>
      </p:sp>
      <p:sp>
        <p:nvSpPr>
          <p:cNvPr id="22" name="TextBox 21">
            <a:hlinkHover tooltip="Typical --auto pipeline after caches are warm (2–5 minutes)." action="ppaction://noaction"/>
          </p:cNvPr>
          <p:cNvSpPr txBox="1"/>
          <p:nvPr/>
        </p:nvSpPr>
        <p:spPr>
          <a:xfrm>
            <a:off x="6281928" y="4965192"/>
            <a:ext cx="2459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Minutes per run</a:t>
            </a:r>
          </a:p>
        </p:txBody>
      </p:sp>
      <p:sp>
        <p:nvSpPr>
          <p:cNvPr id="23" name="Oval 22">
            <a:hlinkHover tooltip="Typical --auto pipeline after caches are warm (2–5 minutes)." action="ppaction://noaction"/>
          </p:cNvPr>
          <p:cNvSpPr/>
          <p:nvPr/>
        </p:nvSpPr>
        <p:spPr>
          <a:xfrm>
            <a:off x="8540496" y="44897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4" name="TextBox 23">
            <a:hlinkHover tooltip="Typical --auto pipeline after caches are warm (2–5 minutes)." action="ppaction://noaction"/>
          </p:cNvPr>
          <p:cNvSpPr txBox="1"/>
          <p:nvPr/>
        </p:nvSpPr>
        <p:spPr>
          <a:xfrm>
            <a:off x="6263640" y="550468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94A3B8"/>
                </a:solidFill>
                <a:latin typeface="Calibri"/>
              </a:defRPr>
            </a:pPr>
            <a:r>
              <a:t>Typical --auto pipeline after caches are warm (2–5 minutes).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4434840"/>
            <a:ext cx="2606040" cy="1435608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454456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>
            <a:hlinkHover tooltip="Overall readiness: Pass when requirements are met; Pass with gaps when minor items remain; Fail when critical gaps or contradictions exist." action="ppaction://noaction"/>
          </p:cNvPr>
          <p:cNvSpPr txBox="1"/>
          <p:nvPr/>
        </p:nvSpPr>
        <p:spPr>
          <a:xfrm>
            <a:off x="8997696" y="4965192"/>
            <a:ext cx="2459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HTML verdict</a:t>
            </a:r>
          </a:p>
        </p:txBody>
      </p:sp>
      <p:sp>
        <p:nvSpPr>
          <p:cNvPr id="28" name="Oval 27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11256264" y="44897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9" name="TextBox 28">
            <a:hlinkHover tooltip="Overall readiness: Pass when requirements are met; Pass with gaps when minor items remain; Fail when critical gaps or contradictions exist." action="ppaction://noaction"/>
          </p:cNvPr>
          <p:cNvSpPr txBox="1"/>
          <p:nvPr/>
        </p:nvSpPr>
        <p:spPr>
          <a:xfrm>
            <a:off x="8979408" y="550468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94A3B8"/>
                </a:solidFill>
                <a:latin typeface="Calibri"/>
              </a:defRPr>
            </a:pPr>
            <a:r>
              <a:t>Overall readiness: Pass when requirements are met; Pass with gaps when minor items remain; Fail when critical…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447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Pegasus QA Agents Lab · June 2026 · layout v8 · PPT hover tooltips · github.com/mgunjal11/pegasus-qa-agents-lab · Developed by Mayur Gunjal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5E4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TextBox 6">
            <a:hlinkHover tooltip="Gray italic text = short definition (always visible). Coral ⓘ = full definition on hover in Slide Show (press F5). Matches HTML report info tooltips." action="ppaction://noaction"/>
          </p:cNvPr>
          <p:cNvSpPr txBox="1"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Gray italic text = short definition (always visible). Coral ⓘ = full definition on hover in Slide Show (press…</a:t>
            </a:r>
          </a:p>
        </p:txBody>
      </p:sp>
      <p:sp>
        <p:nvSpPr>
          <p:cNvPr id="8" name="Rounded Rectangle 7">
            <a:hlinkHover tooltip="One automated readiness view before MSC release sign-off." action="ppaction://noaction"/>
          </p:cNvPr>
          <p:cNvSpPr/>
          <p:nvPr/>
        </p:nvSpPr>
        <p:spPr>
          <a:xfrm>
            <a:off x="502920" y="1325880"/>
            <a:ext cx="5669280" cy="86868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Hover tooltip="One automated readiness view before MSC release sign-off." action="ppaction://noaction"/>
          </p:cNvPr>
          <p:cNvSpPr txBox="1"/>
          <p:nvPr/>
        </p:nvSpPr>
        <p:spPr>
          <a:xfrm>
            <a:off x="1280160" y="1801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One automated readiness view before MSC release sign-off.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35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17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0992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Value at a glance</a:t>
            </a:r>
          </a:p>
        </p:txBody>
      </p:sp>
      <p:sp>
        <p:nvSpPr>
          <p:cNvPr id="13" name="Rounded Rectangle 12">
            <a:hlinkHover tooltip="Gray italic text = short definition (always visible). Coral ⓘ = full definition on hover in Slide Show (press F5). Matches HTML report info tooltips." action="ppaction://noaction"/>
          </p:cNvPr>
          <p:cNvSpPr/>
          <p:nvPr/>
        </p:nvSpPr>
        <p:spPr>
          <a:xfrm>
            <a:off x="502920" y="2286000"/>
            <a:ext cx="5669280" cy="86868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hlinkHover tooltip="Gray italic text = short definition (always visible). Coral ⓘ = full definition on hover in Slide Show (press F5). Matches HTML report info tooltips." action="ppaction://noaction"/>
          </p:cNvPr>
          <p:cNvSpPr txBox="1"/>
          <p:nvPr/>
        </p:nvSpPr>
        <p:spPr>
          <a:xfrm>
            <a:off x="1280160" y="2761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Gray italic text = short definition (always visible). Coral ⓘ = full definition on hover in Slide Show (press…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774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What’s 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7004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June 2026 · layout v8 · PPT hover tooltips</a:t>
            </a:r>
          </a:p>
        </p:txBody>
      </p:sp>
      <p:sp>
        <p:nvSpPr>
          <p:cNvPr id="18" name="Rounded Rectangle 17">
            <a:hlinkHover tooltip="Why siloed Jira, GitHub, Excel, and Confluence block confident releases." action="ppaction://noaction"/>
          </p:cNvPr>
          <p:cNvSpPr/>
          <p:nvPr/>
        </p:nvSpPr>
        <p:spPr>
          <a:xfrm>
            <a:off x="502920" y="3246120"/>
            <a:ext cx="5669280" cy="86868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Hover tooltip="Why siloed Jira, GitHub, Excel, and Confluence block confident releases." action="ppaction://noaction"/>
          </p:cNvPr>
          <p:cNvSpPr txBox="1"/>
          <p:nvPr/>
        </p:nvSpPr>
        <p:spPr>
          <a:xfrm>
            <a:off x="1280160" y="37216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Why siloed Jira, GitHub, Excel, and Confluence block confident releases.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5584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37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3016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Fragmented release signals</a:t>
            </a:r>
          </a:p>
        </p:txBody>
      </p:sp>
      <p:sp>
        <p:nvSpPr>
          <p:cNvPr id="23" name="Rounded Rectangle 22">
            <a:hlinkHover tooltip="Cursor subagent + workflow + architecture." action="ppaction://noaction"/>
          </p:cNvPr>
          <p:cNvSpPr/>
          <p:nvPr/>
        </p:nvSpPr>
        <p:spPr>
          <a:xfrm>
            <a:off x="502920" y="4206240"/>
            <a:ext cx="5669280" cy="86868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Hover tooltip="Cursor subagent + workflow + architecture." action="ppaction://noaction"/>
          </p:cNvPr>
          <p:cNvSpPr txBox="1"/>
          <p:nvPr/>
        </p:nvSpPr>
        <p:spPr>
          <a:xfrm>
            <a:off x="1280160" y="46817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Cursor subagent + workflow + architecture.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97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59028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Cursor subagent + workflow</a:t>
            </a:r>
          </a:p>
        </p:txBody>
      </p:sp>
      <p:sp>
        <p:nvSpPr>
          <p:cNvPr id="28" name="Rounded Rectangle 27">
            <a:hlinkHover tooltip="Mirrors live report structure; hover ⓘ on slides for field definitions." action="ppaction://noaction"/>
          </p:cNvPr>
          <p:cNvSpPr/>
          <p:nvPr/>
        </p:nvSpPr>
        <p:spPr>
          <a:xfrm>
            <a:off x="502920" y="5166360"/>
            <a:ext cx="5669280" cy="86868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Hover tooltip="Mirrors live report structure; hover ⓘ on slides for field definitions." action="ppaction://noaction"/>
          </p:cNvPr>
          <p:cNvSpPr txBox="1"/>
          <p:nvPr/>
        </p:nvSpPr>
        <p:spPr>
          <a:xfrm>
            <a:off x="1280160" y="56418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Mirrors live report structure; hover ⓘ on slides for field definitions.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7608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57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HTML report deep-dive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55040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8 sections · info icons · traceability</a:t>
            </a:r>
          </a:p>
        </p:txBody>
      </p:sp>
      <p:sp>
        <p:nvSpPr>
          <p:cNvPr id="33" name="Rounded Rectangle 32">
            <a:hlinkHover tooltip="install_coverage_validator_permissions.py + cache reuse." action="ppaction://noaction"/>
          </p:cNvPr>
          <p:cNvSpPr/>
          <p:nvPr/>
        </p:nvSpPr>
        <p:spPr>
          <a:xfrm>
            <a:off x="502920" y="6126480"/>
            <a:ext cx="5669280" cy="86868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Hover tooltip="install_coverage_validator_permissions.py + cache reuse." action="ppaction://noaction"/>
          </p:cNvPr>
          <p:cNvSpPr txBox="1"/>
          <p:nvPr/>
        </p:nvSpPr>
        <p:spPr>
          <a:xfrm>
            <a:off x="1280160" y="66019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install_coverage_validator_permissions.py + cache reuse.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2362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6217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651052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Setup · scripts · permissions</a:t>
            </a:r>
          </a:p>
        </p:txBody>
      </p:sp>
      <p:sp>
        <p:nvSpPr>
          <p:cNvPr id="38" name="Rounded Rectangle 37">
            <a:hlinkHover tooltip="Recent MSC-204417, MSC-205625, MSC-195138, MSC-212571 validation runs." action="ppaction://noaction"/>
          </p:cNvPr>
          <p:cNvSpPr/>
          <p:nvPr/>
        </p:nvSpPr>
        <p:spPr>
          <a:xfrm>
            <a:off x="502920" y="7086600"/>
            <a:ext cx="5669280" cy="86868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Hover tooltip="Recent MSC-204417, MSC-205625, MSC-195138, MSC-212571 validation runs." action="ppaction://noaction"/>
          </p:cNvPr>
          <p:cNvSpPr txBox="1"/>
          <p:nvPr/>
        </p:nvSpPr>
        <p:spPr>
          <a:xfrm>
            <a:off x="1280160" y="7562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Recent MSC-204417, MSC-205625, MSC-195138, MSC-212571 validation runs.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19632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E4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7178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Proven outcomes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747064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MSC case studies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1097280"/>
            <a:ext cx="5212080" cy="50292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12801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000"/>
                </a:solidFill>
                <a:latin typeface="Calibri"/>
              </a:defRPr>
            </a:pPr>
            <a:r>
              <a:t>What you get in one run</a:t>
            </a:r>
          </a:p>
        </p:txBody>
      </p:sp>
      <p:sp>
        <p:nvSpPr>
          <p:cNvPr id="45" name="Rounded Rectangle 44">
            <a:hlinkHover tooltip="Jira story + AC + LADR links" action="ppaction://noaction"/>
          </p:cNvPr>
          <p:cNvSpPr/>
          <p:nvPr/>
        </p:nvSpPr>
        <p:spPr>
          <a:xfrm>
            <a:off x="6858000" y="1691640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Jira story + AC + LADR links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8778240" y="2350008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>
            <a:hlinkHover tooltip="Confluence LADR requirements (when linked)" action="ppaction://noaction"/>
          </p:cNvPr>
          <p:cNvSpPr/>
          <p:nvPr/>
        </p:nvSpPr>
        <p:spPr>
          <a:xfrm>
            <a:off x="6858000" y="2404872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Confluence LADR requirements (when linked)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8778240" y="3063240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>
            <a:hlinkHover tooltip="Linked PR + CI" action="ppaction://noaction"/>
          </p:cNvPr>
          <p:cNvSpPr/>
          <p:nvPr/>
        </p:nvSpPr>
        <p:spPr>
          <a:xfrm>
            <a:off x="6858000" y="3118104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Linked PR + CI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8778240" y="3776472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>
            <a:hlinkHover tooltip="Excel test plan (Jira attachment)" action="ppaction://noaction"/>
          </p:cNvPr>
          <p:cNvSpPr/>
          <p:nvPr/>
        </p:nvSpPr>
        <p:spPr>
          <a:xfrm>
            <a:off x="6858000" y="3831336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Excel test plan (Jira attachment)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8778240" y="4489704"/>
            <a:ext cx="320040" cy="201168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>
            <a:hlinkHover tooltip="HTML readiness report" action="ppaction://noaction"/>
          </p:cNvPr>
          <p:cNvSpPr/>
          <p:nvPr/>
        </p:nvSpPr>
        <p:spPr>
          <a:xfrm>
            <a:off x="6858000" y="4544568"/>
            <a:ext cx="4480560" cy="530352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HTML readiness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One automated readiness view before MSC release sign-off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7" name="Oval 6">
            <a:hlinkHover tooltip="One automated readiness view before MSC release sign-off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One automated readiness view before MSC release sign-off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One automated readiness view before every MSC release sign-off</a:t>
            </a:r>
          </a:p>
        </p:txBody>
      </p:sp>
      <p:sp>
        <p:nvSpPr>
          <p:cNvPr id="9" name="TextBox 8">
            <a:hlinkHover tooltip="One automated readiness view before MSC release sign-off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One automated readiness view before MSC release sign-off.</a:t>
            </a:r>
          </a:p>
        </p:txBody>
      </p:sp>
      <p:sp>
        <p:nvSpPr>
          <p:cNvPr id="10" name="Rounded Rectangle 9">
            <a:hlinkHover tooltip="Jira, GitHub, Excel, and Confluence LADR live in silos without one evidence trail." action="ppaction://noaction"/>
          </p:cNvPr>
          <p:cNvSpPr/>
          <p:nvPr/>
        </p:nvSpPr>
        <p:spPr>
          <a:xfrm>
            <a:off x="502920" y="1234440"/>
            <a:ext cx="3611880" cy="457200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83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Jira, GitHub, Excel test plans, and Confluence LADR (when linked) live in silos — release reviews lack one evidence trail.</a:t>
            </a:r>
          </a:p>
        </p:txBody>
      </p:sp>
      <p:sp>
        <p:nvSpPr>
          <p:cNvPr id="12" name="TextBox 11">
            <a:hlinkHover tooltip="Jira, GitHub, Excel, and Confluence LADR live in silos without one evidence trail." action="ppaction://noaction"/>
          </p:cNvPr>
          <p:cNvSpPr txBox="1"/>
          <p:nvPr/>
        </p:nvSpPr>
        <p:spPr>
          <a:xfrm>
            <a:off x="576072" y="2907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Jira, GitHub, Excel, and Confluence LADR live in silos without one evidence trail.</a:t>
            </a:r>
          </a:p>
        </p:txBody>
      </p:sp>
      <p:sp>
        <p:nvSpPr>
          <p:cNvPr id="13" name="Oval 12">
            <a:hlinkHover tooltip="Jira, GitHub, Excel, and Confluence LADR live in silos without one evidence trail." action="ppaction://noaction"/>
          </p:cNvPr>
          <p:cNvSpPr/>
          <p:nvPr/>
        </p:nvSpPr>
        <p:spPr>
          <a:xfrm>
            <a:off x="3840480" y="12801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4" name="Rounded Rectangle 13">
            <a:hlinkHover tooltip="Subagent maps AC + LADR → code → dev tests → QA plan → verdict." action="ppaction://noaction"/>
          </p:cNvPr>
          <p:cNvSpPr/>
          <p:nvPr/>
        </p:nvSpPr>
        <p:spPr>
          <a:xfrm>
            <a:off x="4297680" y="1234440"/>
            <a:ext cx="3611880" cy="45720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783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Cursor subagent correlates Jira AC + Confluence LADR requirements → code → dev tests → QA plan → verdict.</a:t>
            </a:r>
          </a:p>
        </p:txBody>
      </p:sp>
      <p:sp>
        <p:nvSpPr>
          <p:cNvPr id="16" name="TextBox 15">
            <a:hlinkHover tooltip="Subagent maps AC + LADR → code → dev tests → QA plan → verdict." action="ppaction://noaction"/>
          </p:cNvPr>
          <p:cNvSpPr txBox="1"/>
          <p:nvPr/>
        </p:nvSpPr>
        <p:spPr>
          <a:xfrm>
            <a:off x="4370832" y="2907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Subagent maps AC + LADR → code → dev tests → QA plan → verdict.</a:t>
            </a:r>
          </a:p>
        </p:txBody>
      </p:sp>
      <p:sp>
        <p:nvSpPr>
          <p:cNvPr id="17" name="Oval 16">
            <a:hlinkHover tooltip="Subagent maps AC + LADR → code → dev tests → QA plan → verdict." action="ppaction://noaction"/>
          </p:cNvPr>
          <p:cNvSpPr/>
          <p:nvPr/>
        </p:nvSpPr>
        <p:spPr>
          <a:xfrm>
            <a:off x="7635240" y="12801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8" name="Rounded Rectangle 17">
            <a:hlinkHover tooltip="Timestamped HTML report with eight metrics and QA handoff." action="ppaction://noaction"/>
          </p:cNvPr>
          <p:cNvSpPr/>
          <p:nvPr/>
        </p:nvSpPr>
        <p:spPr>
          <a:xfrm>
            <a:off x="8092440" y="1234440"/>
            <a:ext cx="3611880" cy="4572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783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Leadership opens a timestamped HTML report with 8 quantified metrics and clear QA handoff.</a:t>
            </a:r>
          </a:p>
        </p:txBody>
      </p:sp>
      <p:sp>
        <p:nvSpPr>
          <p:cNvPr id="20" name="TextBox 19">
            <a:hlinkHover tooltip="Timestamped HTML report with eight metrics and QA handoff." action="ppaction://noaction"/>
          </p:cNvPr>
          <p:cNvSpPr txBox="1"/>
          <p:nvPr/>
        </p:nvSpPr>
        <p:spPr>
          <a:xfrm>
            <a:off x="8165592" y="2907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Timestamped HTML report with eight metrics and QA handoff.</a:t>
            </a:r>
          </a:p>
        </p:txBody>
      </p:sp>
      <p:sp>
        <p:nvSpPr>
          <p:cNvPr id="21" name="Oval 20">
            <a:hlinkHover tooltip="Timestamped HTML report with eight metrics and QA handoff." action="ppaction://noaction"/>
          </p:cNvPr>
          <p:cNvSpPr/>
          <p:nvPr/>
        </p:nvSpPr>
        <p:spPr>
          <a:xfrm>
            <a:off x="11430000" y="12801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20440"/>
            <a:ext cx="2697480" cy="1801368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301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5E4F"/>
                </a:solidFill>
                <a:latin typeface="Calibri"/>
              </a:defRPr>
            </a:pPr>
            <a:r>
              <a:t>~35–40%</a:t>
            </a:r>
          </a:p>
        </p:txBody>
      </p:sp>
      <p:sp>
        <p:nvSpPr>
          <p:cNvPr id="24" name="TextBox 23">
            <a:hlinkHover tooltip="Single HTML artifact replaces multi-tool manual cross-check." action="ppaction://noaction"/>
          </p:cNvPr>
          <p:cNvSpPr txBox="1"/>
          <p:nvPr/>
        </p:nvSpPr>
        <p:spPr>
          <a:xfrm>
            <a:off x="576072" y="4050792"/>
            <a:ext cx="2551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5E4F"/>
                </a:solidFill>
                <a:latin typeface="Calibri"/>
              </a:defRPr>
            </a:pPr>
            <a:r>
              <a:t>Faster triage vs manual traceability</a:t>
            </a:r>
          </a:p>
        </p:txBody>
      </p:sp>
      <p:sp>
        <p:nvSpPr>
          <p:cNvPr id="25" name="Oval 24">
            <a:hlinkHover tooltip="Single HTML artifact replaces multi-tool manual cross-check." action="ppaction://noaction"/>
          </p:cNvPr>
          <p:cNvSpPr/>
          <p:nvPr/>
        </p:nvSpPr>
        <p:spPr>
          <a:xfrm>
            <a:off x="2926080" y="35753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6" name="TextBox 25">
            <a:hlinkHover tooltip="Single HTML artifact replaces multi-tool manual cross-check." action="ppaction://noaction"/>
          </p:cNvPr>
          <p:cNvSpPr txBox="1"/>
          <p:nvPr/>
        </p:nvSpPr>
        <p:spPr>
          <a:xfrm>
            <a:off x="557784" y="495604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Single HTML artifact replaces multi-tool manual cross-check.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974336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5E4F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520440"/>
            <a:ext cx="2697480" cy="180136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36301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0" name="TextBox 29">
            <a:hlinkHover tooltip="Every R-item scored against PR diff, dev tests, and test plan." action="ppaction://noaction"/>
          </p:cNvPr>
          <p:cNvSpPr txBox="1"/>
          <p:nvPr/>
        </p:nvSpPr>
        <p:spPr>
          <a:xfrm>
            <a:off x="3429000" y="4050792"/>
            <a:ext cx="2551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AC-to-evidence mapping per run</a:t>
            </a:r>
          </a:p>
        </p:txBody>
      </p:sp>
      <p:sp>
        <p:nvSpPr>
          <p:cNvPr id="31" name="Oval 30">
            <a:hlinkHover tooltip="Every R-item scored against PR diff, dev tests, and test plan." action="ppaction://noaction"/>
          </p:cNvPr>
          <p:cNvSpPr/>
          <p:nvPr/>
        </p:nvSpPr>
        <p:spPr>
          <a:xfrm>
            <a:off x="5779008" y="35753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2" name="TextBox 31">
            <a:hlinkHover tooltip="Every R-item scored against PR diff, dev tests, and test plan." action="ppaction://noaction"/>
          </p:cNvPr>
          <p:cNvSpPr txBox="1"/>
          <p:nvPr/>
        </p:nvSpPr>
        <p:spPr>
          <a:xfrm>
            <a:off x="3410712" y="495604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Every R-item scored against PR diff, dev tests, and test plan.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974336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4066C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520440"/>
            <a:ext cx="2697480" cy="1801368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6301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9A00"/>
                </a:solidFill>
                <a:latin typeface="Calibri"/>
              </a:defRPr>
            </a:pPr>
            <a:r>
              <a:t>Pass / Gaps / Fail</a:t>
            </a:r>
          </a:p>
        </p:txBody>
      </p:sp>
      <p:sp>
        <p:nvSpPr>
          <p:cNvPr id="36" name="TextBox 35">
            <a:hlinkHover tooltip="Overall readiness: Pass when requirements are met; Pass with gaps when minor items remain; Fail when critical gaps or contradictions exist." action="ppaction://noaction"/>
          </p:cNvPr>
          <p:cNvSpPr txBox="1"/>
          <p:nvPr/>
        </p:nvSpPr>
        <p:spPr>
          <a:xfrm>
            <a:off x="6281928" y="4050792"/>
            <a:ext cx="2551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49A00"/>
                </a:solidFill>
                <a:latin typeface="Calibri"/>
              </a:defRPr>
            </a:pPr>
            <a:r>
              <a:t>Explicit release verdict</a:t>
            </a:r>
          </a:p>
        </p:txBody>
      </p:sp>
      <p:sp>
        <p:nvSpPr>
          <p:cNvPr id="37" name="Oval 36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8631936" y="35753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8" name="TextBox 37">
            <a:hlinkHover tooltip="Overall readiness: Pass when requirements are met; Pass with gaps when minor items remain; Fail when critical gaps or contradictions exist." action="ppaction://noaction"/>
          </p:cNvPr>
          <p:cNvSpPr txBox="1"/>
          <p:nvPr/>
        </p:nvSpPr>
        <p:spPr>
          <a:xfrm>
            <a:off x="6263640" y="495604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Overall readiness: Pass when requirements are met; Pass with gaps when minor items remain; Fail when critical…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4974336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49A00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1704" y="3520440"/>
            <a:ext cx="2697480" cy="180136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36301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Audit-ready</a:t>
            </a:r>
          </a:p>
        </p:txBody>
      </p:sp>
      <p:sp>
        <p:nvSpPr>
          <p:cNvPr id="42" name="TextBox 41">
            <a:hlinkHover tooltip="reports/{KEY}-{date}-{time}-{TZ}.html in local timezone." action="ppaction://noaction"/>
          </p:cNvPr>
          <p:cNvSpPr txBox="1"/>
          <p:nvPr/>
        </p:nvSpPr>
        <p:spPr>
          <a:xfrm>
            <a:off x="9134856" y="4050792"/>
            <a:ext cx="2551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Shareable HTML artifact</a:t>
            </a:r>
          </a:p>
        </p:txBody>
      </p:sp>
      <p:sp>
        <p:nvSpPr>
          <p:cNvPr id="43" name="Oval 42">
            <a:hlinkHover tooltip="reports/{KEY}-{date}-{time}-{TZ}.html in local timezone." action="ppaction://noaction"/>
          </p:cNvPr>
          <p:cNvSpPr/>
          <p:nvPr/>
        </p:nvSpPr>
        <p:spPr>
          <a:xfrm>
            <a:off x="11484864" y="35753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4" name="TextBox 43">
            <a:hlinkHover tooltip="reports/{KEY}-{date}-{time}-{TZ}.html in local timezone." action="ppaction://noaction"/>
          </p:cNvPr>
          <p:cNvSpPr txBox="1"/>
          <p:nvPr/>
        </p:nvSpPr>
        <p:spPr>
          <a:xfrm>
            <a:off x="9116568" y="4956048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reports/{KEY}-{date}-{time}-{TZ}.html in local timezone.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6" y="4974336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6A34A"/>
                </a:solidFill>
                <a:latin typeface="Calibri"/>
              </a:defRPr>
            </a:pPr>
            <a:r>
              <a:t>Per validator run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166360"/>
            <a:ext cx="11155680" cy="77724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28523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4066C"/>
                </a:solidFill>
                <a:latin typeface="Calibri"/>
              </a:defRPr>
            </a:pPr>
            <a:r>
              <a:t>"We no longer ask five people whether the PR, unit tests, Jira test plan, and LADR design doc align — the validator answers that in one report." — MSC QA lead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ray italic text = short definition (always visible). Coral ⓘ = full definition on hover in Slide Show (press F5). Matches HTML report info tooltip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What’s new — June 2026 · layout v8 · PPT hover tooltips</a:t>
            </a:r>
          </a:p>
        </p:txBody>
      </p:sp>
      <p:sp>
        <p:nvSpPr>
          <p:cNvPr id="7" name="Oval 6">
            <a:hlinkHover tooltip="Gray italic text = short definition (always visible). Coral ⓘ = full definition on hover in Slide Show (press F5). Matches HTML report info tooltip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ray italic text = short definition (always visible). Coral ⓘ = full definition on hover in Slide Show (press F5). Matches HTML report info tooltip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Shipped in pegasus-qa-agents-lab · reflects latest HTML reports</a:t>
            </a:r>
          </a:p>
        </p:txBody>
      </p:sp>
      <p:sp>
        <p:nvSpPr>
          <p:cNvPr id="9" name="TextBox 8">
            <a:hlinkHover tooltip="Gray italic text = short definition (always visible). Coral ⓘ = full definition on hover in Slide Show (press F5). Matches HTML report info tooltip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Gray italic text = short definition (always visible). Coral ⓘ = full definition on hover in Slide Show (press…</a:t>
            </a:r>
          </a:p>
        </p:txBody>
      </p:sp>
      <p:sp>
        <p:nvSpPr>
          <p:cNvPr id="10" name="Rounded Rectangle 9">
            <a:hlinkHover tooltip="/msc-dev-code-and-qa-test-coverage-validator replaces deprecated msc-code-coverage-validator" action="ppaction://noaction"/>
          </p:cNvPr>
          <p:cNvSpPr/>
          <p:nvPr/>
        </p:nvSpPr>
        <p:spPr>
          <a:xfrm>
            <a:off x="502920" y="1234440"/>
            <a:ext cx="5440680" cy="160020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>
            <a:hlinkHover tooltip="/msc-dev-code-and-qa-test-coverage-validator replaces deprecated msc-code-coverage-validator" action="ppaction://noaction"/>
          </p:cNvPr>
          <p:cNvSpPr/>
          <p:nvPr/>
        </p:nvSpPr>
        <p:spPr>
          <a:xfrm>
            <a:off x="5641848" y="132588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4416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5E4F"/>
                </a:solidFill>
                <a:latin typeface="Calibri"/>
              </a:defRPr>
            </a:pPr>
            <a:r>
              <a:t>Renamed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/msc-dev-code-and-qa-test-coverage-validator replaces deprecated msc-code-coverage-validator</a:t>
            </a:r>
          </a:p>
        </p:txBody>
      </p:sp>
      <p:sp>
        <p:nvSpPr>
          <p:cNvPr id="14" name="Rounded Rectangle 13">
            <a:hlinkHover tooltip="collect_ladr_page_links() filters grooming, deployment, PVC go-live, and operational wiki pages" action="ppaction://noaction"/>
          </p:cNvPr>
          <p:cNvSpPr/>
          <p:nvPr/>
        </p:nvSpPr>
        <p:spPr>
          <a:xfrm>
            <a:off x="6172200" y="1234440"/>
            <a:ext cx="5440680" cy="16002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>
            <a:hlinkHover tooltip="collect_ladr_page_links() filters grooming, deployment, PVC go-live, and operational wiki pages" action="ppaction://noaction"/>
          </p:cNvPr>
          <p:cNvSpPr/>
          <p:nvPr/>
        </p:nvSpPr>
        <p:spPr>
          <a:xfrm>
            <a:off x="11311128" y="132588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4416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066C"/>
                </a:solidFill>
                <a:latin typeface="Calibri"/>
              </a:defRPr>
            </a:pPr>
            <a:r>
              <a:t>LADR-only quick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collect_ladr_page_links() filters grooming, deployment, PVC go-live, and operational wiki pages</a:t>
            </a:r>
          </a:p>
        </p:txBody>
      </p:sp>
      <p:sp>
        <p:nvSpPr>
          <p:cNvPr id="18" name="Rounded Rectangle 17">
            <a:hlinkHover tooltip="Dev-covered AC (qaScope: none) excluded from QA execute list; handoff lists TC IDs only for remaining scope" action="ppaction://noaction"/>
          </p:cNvPr>
          <p:cNvSpPr/>
          <p:nvPr/>
        </p:nvSpPr>
        <p:spPr>
          <a:xfrm>
            <a:off x="502920" y="3017520"/>
            <a:ext cx="5440680" cy="160020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>
            <a:hlinkHover tooltip="Dev-covered AC (qaScope: none) excluded from QA execute list; handoff lists TC IDs only for remaining scope" action="ppaction://noaction"/>
          </p:cNvPr>
          <p:cNvSpPr/>
          <p:nvPr/>
        </p:nvSpPr>
        <p:spPr>
          <a:xfrm>
            <a:off x="5641848" y="3108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272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9A00"/>
                </a:solidFill>
                <a:latin typeface="Calibri"/>
              </a:defRPr>
            </a:pPr>
            <a:r>
              <a:t>§4 QA ownership 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Dev-covered AC (qaScope: none) excluded from QA execute list; handoff lists TC IDs only for remaining scope</a:t>
            </a:r>
          </a:p>
        </p:txBody>
      </p:sp>
      <p:sp>
        <p:nvSpPr>
          <p:cNvPr id="22" name="Rounded Rectangle 21">
            <a:hlinkHover tooltip="Info-icon tooltips on all 8 sections; Linked PR Dev tests + CI columns; release readiness score" action="ppaction://noaction"/>
          </p:cNvPr>
          <p:cNvSpPr/>
          <p:nvPr/>
        </p:nvSpPr>
        <p:spPr>
          <a:xfrm>
            <a:off x="6172200" y="3017520"/>
            <a:ext cx="5440680" cy="16002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>
            <a:hlinkHover tooltip="Info-icon tooltips on all 8 sections; Linked PR Dev tests + CI columns; release readiness score" action="ppaction://noaction"/>
          </p:cNvPr>
          <p:cNvSpPr/>
          <p:nvPr/>
        </p:nvSpPr>
        <p:spPr>
          <a:xfrm>
            <a:off x="11311128" y="3108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272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Calibri"/>
              </a:defRPr>
            </a:pPr>
            <a:r>
              <a:t>Report UI 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Info-icon tooltips on all 8 sections; Linked PR Dev tests + CI columns; release readiness score</a:t>
            </a:r>
          </a:p>
        </p:txBody>
      </p:sp>
      <p:sp>
        <p:nvSpPr>
          <p:cNvPr id="26" name="Rounded Rectangle 25">
            <a:hlinkHover tooltip="Newest report: MSC-212571 (MSC-212571-06-02-2026-17-33-50-IST.html) — matrix refreshed at build" action="ppaction://noaction"/>
          </p:cNvPr>
          <p:cNvSpPr/>
          <p:nvPr/>
        </p:nvSpPr>
        <p:spPr>
          <a:xfrm>
            <a:off x="502920" y="4800600"/>
            <a:ext cx="5440680" cy="160020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>
            <a:hlinkHover tooltip="Newest report: MSC-212571 (MSC-212571-06-02-2026-17-33-50-IST.html) — matrix refreshed at build" action="ppaction://noaction"/>
          </p:cNvPr>
          <p:cNvSpPr/>
          <p:nvPr/>
        </p:nvSpPr>
        <p:spPr>
          <a:xfrm>
            <a:off x="5641848" y="489204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1032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Calibri"/>
              </a:defRPr>
            </a:pPr>
            <a:r>
              <a:t>Latest pilots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Newest report: MSC-212571 (MSC-212571-06-02-2026-17-33-50-IST.html) — matrix refreshed at build</a:t>
            </a:r>
          </a:p>
        </p:txBody>
      </p:sp>
      <p:sp>
        <p:nvSpPr>
          <p:cNvPr id="30" name="Rounded Rectangle 29">
            <a:hlinkHover tooltip="scripts/test_fixtures/ + conftest.py — LADR quick-link unit tests without live Jira cache" action="ppaction://noaction"/>
          </p:cNvPr>
          <p:cNvSpPr/>
          <p:nvPr/>
        </p:nvSpPr>
        <p:spPr>
          <a:xfrm>
            <a:off x="6172200" y="4800600"/>
            <a:ext cx="5440680" cy="160020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>
            <a:hlinkHover tooltip="scripts/test_fixtures/ + conftest.py — LADR quick-link unit tests without live Jira cache" action="ppaction://noaction"/>
          </p:cNvPr>
          <p:cNvSpPr/>
          <p:nvPr/>
        </p:nvSpPr>
        <p:spPr>
          <a:xfrm>
            <a:off x="11311128" y="489204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1032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9688"/>
                </a:solidFill>
                <a:latin typeface="Calibri"/>
              </a:defRPr>
            </a:pPr>
            <a:r>
              <a:t>Portable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57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scripts/test_fixtures/ + conftest.py — LADR quick-link unit tests without live Jira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>
            <a:hlinkHover tooltip="Why fragmented Jira · GitHub · Excel test plans · Confluence LADR blocks confident releases" action="ppaction://noaction"/>
          </p:cNvPr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Why fragmented Jira · GitHub · Excel test plans · Confluence LADR blocks confident releases</a:t>
            </a:r>
          </a:p>
        </p:txBody>
      </p:sp>
      <p:sp>
        <p:nvSpPr>
          <p:cNvPr id="7" name="Oval 6">
            <a:hlinkHover tooltip="Why siloed Jira, GitHub, Excel, and Confluence block confident releases." action="ppaction://noaction"/>
          </p:cNvPr>
          <p:cNvSpPr/>
          <p:nvPr/>
        </p:nvSpPr>
        <p:spPr>
          <a:xfrm>
            <a:off x="11475720" y="1965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uide: The challenge — four silos, zero single view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The challenge — four silos, zero single view</a:t>
            </a:r>
          </a:p>
        </p:txBody>
      </p:sp>
      <p:sp>
        <p:nvSpPr>
          <p:cNvPr id="7" name="Oval 6">
            <a:hlinkHover tooltip="Guide: The challenge — four silos, zero single view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uide: The challenge — four silos, zero single view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Manual traceability before release is slow, inconsistent, and error-prone</a:t>
            </a:r>
          </a:p>
        </p:txBody>
      </p:sp>
      <p:sp>
        <p:nvSpPr>
          <p:cNvPr id="9" name="TextBox 8">
            <a:hlinkHover tooltip="Guide: The challenge — four silos, zero single view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Guide: The challenge — four silos, zero single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2697480" cy="29260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160020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Acceptance criteria,</a:t>
            </a:r>
          </a:p>
          <a:p>
            <a:r>
              <a:t>story status, attachments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25880"/>
            <a:ext cx="2697480" cy="292608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160020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PR diffs, checks,</a:t>
            </a:r>
          </a:p>
          <a:p>
            <a:r>
              <a:t>unit/integration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25880"/>
            <a:ext cx="2697480" cy="292608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160020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Excel test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·</a:t>
            </a:r>
          </a:p>
          <a:p>
            <a:r>
              <a:t>Given/When/Then · Mascot or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325880"/>
            <a:ext cx="2697480" cy="2926080"/>
          </a:xfrm>
          <a:prstGeom prst="round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1600200"/>
            <a:ext cx="868680" cy="8686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060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Confluence LADR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063240"/>
            <a:ext cx="247802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Design requirements</a:t>
            </a:r>
          </a:p>
          <a:p>
            <a:r>
              <a:t>when linked from Jira</a:t>
            </a:r>
          </a:p>
        </p:txBody>
      </p:sp>
      <p:sp>
        <p:nvSpPr>
          <p:cNvPr id="26" name="Rounded Rectangle 25">
            <a:hlinkHover tooltip="Duplicate QA/dev effort" action="ppaction://noaction"/>
          </p:cNvPr>
          <p:cNvSpPr/>
          <p:nvPr/>
        </p:nvSpPr>
        <p:spPr>
          <a:xfrm>
            <a:off x="594360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Duplicate QA/dev effort</a:t>
            </a:r>
          </a:p>
        </p:txBody>
      </p:sp>
      <p:sp>
        <p:nvSpPr>
          <p:cNvPr id="27" name="Rounded Rectangle 26">
            <a:hlinkHover tooltip="Missed E2E handoffs" action="ppaction://noaction"/>
          </p:cNvPr>
          <p:cNvSpPr/>
          <p:nvPr/>
        </p:nvSpPr>
        <p:spPr>
          <a:xfrm>
            <a:off x="3447288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Missed E2E handoffs</a:t>
            </a:r>
          </a:p>
        </p:txBody>
      </p:sp>
      <p:sp>
        <p:nvSpPr>
          <p:cNvPr id="28" name="Rounded Rectangle 27">
            <a:hlinkHover tooltip="No LADR ↔ test plan traceability" action="ppaction://noaction"/>
          </p:cNvPr>
          <p:cNvSpPr/>
          <p:nvPr/>
        </p:nvSpPr>
        <p:spPr>
          <a:xfrm>
            <a:off x="6300216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No LADR ↔ test plan traceability</a:t>
            </a:r>
          </a:p>
        </p:txBody>
      </p:sp>
      <p:sp>
        <p:nvSpPr>
          <p:cNvPr id="29" name="Rounded Rectangle 28">
            <a:hlinkHover tooltip="Weak AC ↔ evidence mapping" action="ppaction://noaction"/>
          </p:cNvPr>
          <p:cNvSpPr/>
          <p:nvPr/>
        </p:nvSpPr>
        <p:spPr>
          <a:xfrm>
            <a:off x="9153144" y="4572000"/>
            <a:ext cx="2697480" cy="50292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Weak AC ↔ evidence mapping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57800"/>
            <a:ext cx="11155680" cy="68580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→  MSC Dev Code and QA Test Coverage Validator unifies all four silos into one HTML readiness report with numbered recommended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uide: Idea Generation — Cursor AI subagent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Idea Generation — Cursor AI subagent</a:t>
            </a:r>
          </a:p>
        </p:txBody>
      </p:sp>
      <p:sp>
        <p:nvSpPr>
          <p:cNvPr id="7" name="Oval 6">
            <a:hlinkHover tooltip="Guide: Idea Generation — Cursor AI subagent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uide: Idea Generation — Cursor AI subagent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Completed · Pegasus QA Agents Lab · Gen AI transformation journey</a:t>
            </a:r>
          </a:p>
        </p:txBody>
      </p:sp>
      <p:sp>
        <p:nvSpPr>
          <p:cNvPr id="9" name="TextBox 8">
            <a:hlinkHover tooltip="Guide: Idea Generation — Cursor AI subagent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Guide: Idea Generation — Cursor AI subagent</a:t>
            </a:r>
          </a:p>
        </p:txBody>
      </p:sp>
      <p:sp>
        <p:nvSpPr>
          <p:cNvPr id="10" name="Rounded Rectangle 9">
            <a:hlinkHover tooltip="Fragmented readiness" action="ppaction://noaction"/>
          </p:cNvPr>
          <p:cNvSpPr/>
          <p:nvPr/>
        </p:nvSpPr>
        <p:spPr>
          <a:xfrm>
            <a:off x="502920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Fragmented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Problem Statement: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AC in Jira, code in GitHub, Excel test plans, and Confluence LADR — four silos, no single view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Release reviews depend on tribal knowledge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Manual traceability is slow before sign-off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860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8970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7" name="Rounded Rectangle 16">
            <a:hlinkHover tooltip="Unified validator" action="ppaction://noaction"/>
          </p:cNvPr>
          <p:cNvSpPr/>
          <p:nvPr/>
        </p:nvSpPr>
        <p:spPr>
          <a:xfrm>
            <a:off x="4315968" y="1234440"/>
            <a:ext cx="3611880" cy="438912"/>
          </a:xfrm>
          <a:prstGeom prst="roundRect">
            <a:avLst/>
          </a:prstGeom>
          <a:solidFill>
            <a:srgbClr val="FFC00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Unified validator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/msc-dev-code-and-qa-test-coverage-validator {KEY}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One batch: Jira + Confluence LADR (if linked) + PR(s) + Excel test plan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Maps Jira AC + LADR L1…Ln → test cases → code → dev tests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HTML report + LADR traceability table + Pass / Pass with gaps / Fail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4179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1908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2018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4" name="Rounded Rectangle 23">
            <a:hlinkHover tooltip="Leadership evidence" action="ppaction://noaction"/>
          </p:cNvPr>
          <p:cNvSpPr/>
          <p:nvPr/>
        </p:nvSpPr>
        <p:spPr>
          <a:xfrm>
            <a:off x="8129016" y="1234440"/>
            <a:ext cx="3611880" cy="438912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Leadership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1673352"/>
            <a:ext cx="3611880" cy="3977639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783080"/>
            <a:ext cx="33924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4066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8 quantified metric cards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Dev vs QA ownership made explicit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Mascot + Given/When/Then + SIT Jobs ID evidence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Audit-friendly downloadable artifact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Developed by Mayur Gunjal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484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4956" y="5440680"/>
            <a:ext cx="834390" cy="201168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15066" y="5440680"/>
            <a:ext cx="83439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6" name="TextBox 5">
            <a:hlinkHover tooltip="Cursor subagent · automated workflow · solution architecture" action="ppaction://noaction"/>
          </p:cNvPr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Cursor subagent · automated workflow · solution architecture</a:t>
            </a:r>
          </a:p>
        </p:txBody>
      </p:sp>
      <p:sp>
        <p:nvSpPr>
          <p:cNvPr id="7" name="Oval 6">
            <a:hlinkHover tooltip="Cursor subagent · automated workflow · solution architecture" action="ppaction://noaction"/>
          </p:cNvPr>
          <p:cNvSpPr/>
          <p:nvPr/>
        </p:nvSpPr>
        <p:spPr>
          <a:xfrm>
            <a:off x="11475720" y="1965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Same slash command; each role reads a different slice of the HTML report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Who uses it — four personas</a:t>
            </a:r>
          </a:p>
        </p:txBody>
      </p:sp>
      <p:sp>
        <p:nvSpPr>
          <p:cNvPr id="7" name="Oval 6">
            <a:hlinkHover tooltip="Same slash command; each role reads a different slice of the HTML report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Same slash command; each role reads a different slice of the HTML report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Same command, role-specific value from one HTML report</a:t>
            </a:r>
          </a:p>
        </p:txBody>
      </p:sp>
      <p:sp>
        <p:nvSpPr>
          <p:cNvPr id="9" name="TextBox 8">
            <a:hlinkHover tooltip="Same slash command; each role reads a different slice of the HTML report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Same slash command; each role reads a different slice of the HTML report.</a:t>
            </a:r>
          </a:p>
        </p:txBody>
      </p:sp>
      <p:sp>
        <p:nvSpPr>
          <p:cNvPr id="10" name="Rounded Rectangle 9">
            <a:hlinkHover tooltip="Test plan AC %, QA scope remaining, §4 execute list, open gaps." action="ppaction://noaction"/>
          </p:cNvPr>
          <p:cNvSpPr/>
          <p:nvPr/>
        </p:nvSpPr>
        <p:spPr>
          <a:xfrm>
            <a:off x="502920" y="1280160"/>
            <a:ext cx="2697480" cy="43891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>
            <a:hlinkHover tooltip="Test plan AC %, QA scope remaining, §4 execute list, open gaps." action="ppaction://noaction"/>
          </p:cNvPr>
          <p:cNvSpPr/>
          <p:nvPr/>
        </p:nvSpPr>
        <p:spPr>
          <a:xfrm>
            <a:off x="2898648" y="135331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1508760"/>
            <a:ext cx="868680" cy="868680"/>
          </a:xfrm>
          <a:prstGeom prst="ellipse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QA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Pre-release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 QA / Ready for Release stories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QA scope %, test plan gaps</a:t>
            </a:r>
          </a:p>
        </p:txBody>
      </p:sp>
      <p:sp>
        <p:nvSpPr>
          <p:cNvPr id="17" name="Rounded Rectangle 16">
            <a:hlinkHover tooltip="Code %, dev test evidence" action="ppaction://noaction"/>
          </p:cNvPr>
          <p:cNvSpPr/>
          <p:nvPr/>
        </p:nvSpPr>
        <p:spPr>
          <a:xfrm>
            <a:off x="3355848" y="1280160"/>
            <a:ext cx="2697480" cy="43891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>
            <a:hlinkHover tooltip="Code %, dev test evidence" action="ppaction://noaction"/>
          </p:cNvPr>
          <p:cNvSpPr/>
          <p:nvPr/>
        </p:nvSpPr>
        <p:spPr>
          <a:xfrm>
            <a:off x="5751576" y="135331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9" name="Oval 18"/>
          <p:cNvSpPr/>
          <p:nvPr/>
        </p:nvSpPr>
        <p:spPr>
          <a:xfrm>
            <a:off x="4270248" y="1508760"/>
            <a:ext cx="868680" cy="868680"/>
          </a:xfrm>
          <a:prstGeom prst="ellipse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Merge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Dev-owned AC + unit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Code %, dev test evidence</a:t>
            </a:r>
          </a:p>
        </p:txBody>
      </p:sp>
      <p:sp>
        <p:nvSpPr>
          <p:cNvPr id="24" name="Rounded Rectangle 23">
            <a:hlinkHover tooltip="Verdict, release readiness score, open gaps by severity." action="ppaction://noaction"/>
          </p:cNvPr>
          <p:cNvSpPr/>
          <p:nvPr/>
        </p:nvSpPr>
        <p:spPr>
          <a:xfrm>
            <a:off x="6208776" y="1280160"/>
            <a:ext cx="2697480" cy="438912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>
            <a:hlinkHover tooltip="Verdict, release readiness score, open gaps by severity." action="ppaction://noaction"/>
          </p:cNvPr>
          <p:cNvSpPr/>
          <p:nvPr/>
        </p:nvSpPr>
        <p:spPr>
          <a:xfrm>
            <a:off x="8604504" y="135331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6" name="Oval 25"/>
          <p:cNvSpPr/>
          <p:nvPr/>
        </p:nvSpPr>
        <p:spPr>
          <a:xfrm>
            <a:off x="7123176" y="1508760"/>
            <a:ext cx="868680" cy="868680"/>
          </a:xfrm>
          <a:prstGeom prst="ellipse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Release Mgr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Go/no-go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Verdict + open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8 cards, recommended actions</a:t>
            </a:r>
          </a:p>
        </p:txBody>
      </p:sp>
      <p:sp>
        <p:nvSpPr>
          <p:cNvPr id="31" name="Rounded Rectangle 30">
            <a:hlinkHover tooltip="GWT quality, LADR ↔ test case traceability, plan gaps." action="ppaction://noaction"/>
          </p:cNvPr>
          <p:cNvSpPr/>
          <p:nvPr/>
        </p:nvSpPr>
        <p:spPr>
          <a:xfrm>
            <a:off x="9061704" y="1280160"/>
            <a:ext cx="2697480" cy="438912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>
            <a:hlinkHover tooltip="GWT quality, LADR ↔ test case traceability, plan gaps." action="ppaction://noaction"/>
          </p:cNvPr>
          <p:cNvSpPr/>
          <p:nvPr/>
        </p:nvSpPr>
        <p:spPr>
          <a:xfrm>
            <a:off x="11457432" y="135331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9976104" y="150876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5146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Test Designer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288036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Plan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24612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Excel plan vs Jira AC + LADR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38404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GWT quality · Mascot or SIT Jobs IDs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5806440"/>
            <a:ext cx="7589520" cy="457200"/>
          </a:xfrm>
          <a:prstGeom prst="roundRect">
            <a:avLst/>
          </a:prstGeom>
          <a:solidFill>
            <a:srgbClr val="1A1A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870448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C000"/>
                </a:solidFill>
                <a:latin typeface="Consolas"/>
              </a:defRPr>
            </a:pPr>
            <a:r>
              <a:t>/msc-dev-code-and-qa-test-coverage-validator MSC-212571   ·   --auto --write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End-to-end --auto --write: one MCP Jira batch + batched Python script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Automated workflow</a:t>
            </a:r>
          </a:p>
        </p:txBody>
      </p:sp>
      <p:sp>
        <p:nvSpPr>
          <p:cNvPr id="7" name="Oval 6">
            <a:hlinkHover tooltip="End-to-end --auto --write: one MCP Jira batch + batched Python script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End-to-end --auto --write: one MCP Jira batch + batched Python script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Slash command --auto --write · ~2–5 min · one MCP turn + batched shells</a:t>
            </a:r>
          </a:p>
        </p:txBody>
      </p:sp>
      <p:sp>
        <p:nvSpPr>
          <p:cNvPr id="9" name="TextBox 8">
            <a:hlinkHover tooltip="End-to-end --auto --write: one MCP Jira batch + batched Python script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End-to-end --auto --write: one MCP Jira batch + batched Python scripts.</a:t>
            </a:r>
          </a:p>
        </p:txBody>
      </p:sp>
      <p:sp>
        <p:nvSpPr>
          <p:cNvPr id="10" name="Rounded Rectangle 9">
            <a:hlinkHover tooltip="Parallel MCP: getJiraIssue + remote wiki links + attachments." action="ppaction://noaction"/>
          </p:cNvPr>
          <p:cNvSpPr/>
          <p:nvPr/>
        </p:nvSpPr>
        <p:spPr>
          <a:xfrm>
            <a:off x="320040" y="1417320"/>
            <a:ext cx="1783080" cy="233172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Hover tooltip="Parallel MCP: getJiraIssue + remote wiki links + attachments." action="ppaction://noaction"/>
          </p:cNvPr>
          <p:cNvSpPr txBox="1"/>
          <p:nvPr/>
        </p:nvSpPr>
        <p:spPr>
          <a:xfrm>
            <a:off x="393192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Parallel MCP: getJiraIssue + remote wiki links + attachments.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Parallel MCP:</a:t>
            </a:r>
          </a:p>
          <a:p>
            <a:r>
              <a:t>issue + remote</a:t>
            </a:r>
          </a:p>
          <a:p>
            <a:r>
              <a:t>wiki links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39696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>
            <a:hlinkHover tooltip="fetch_confluence_requirements.py — LADR ESS when linked from Jira." action="ppaction://noaction"/>
          </p:cNvPr>
          <p:cNvSpPr/>
          <p:nvPr/>
        </p:nvSpPr>
        <p:spPr>
          <a:xfrm>
            <a:off x="2267712" y="1417320"/>
            <a:ext cx="1783080" cy="233172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Hover tooltip="fetch_confluence_requirements.py — LADR ESS when linked from Jira." action="ppaction://noaction"/>
          </p:cNvPr>
          <p:cNvSpPr txBox="1"/>
          <p:nvPr/>
        </p:nvSpPr>
        <p:spPr>
          <a:xfrm>
            <a:off x="2340864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fetch_confluence_requirements.py — LADR ESS when linked from Jira.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Confluence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LADR ESS or</a:t>
            </a:r>
          </a:p>
          <a:p>
            <a:r>
              <a:t>passport scenarios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87368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>
            <a:hlinkHover tooltip="fetch_jira_testplan.py — Excel attachment, GWT, Mascot/SIT evidence columns." action="ppaction://noaction"/>
          </p:cNvPr>
          <p:cNvSpPr/>
          <p:nvPr/>
        </p:nvSpPr>
        <p:spPr>
          <a:xfrm>
            <a:off x="4215384" y="1417320"/>
            <a:ext cx="1783080" cy="233172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Hover tooltip="fetch_jira_testplan.py — Excel attachment, GWT, Mascot/SIT evidence columns." action="ppaction://noaction"/>
          </p:cNvPr>
          <p:cNvSpPr txBox="1"/>
          <p:nvPr/>
        </p:nvSpPr>
        <p:spPr>
          <a:xfrm>
            <a:off x="4288536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fetch_jira_testplan.py — Excel attachment, GWT, Mascot/SIT evidence columns.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Excel attach,</a:t>
            </a:r>
          </a:p>
          <a:p>
            <a:r>
              <a:t>GWT, Evidence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035040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>
            <a:hlinkHover tooltip="prefetch_coverage_inputs.py — all PR URLs in one shell invocation." action="ppaction://noaction"/>
          </p:cNvPr>
          <p:cNvSpPr/>
          <p:nvPr/>
        </p:nvSpPr>
        <p:spPr>
          <a:xfrm>
            <a:off x="6163056" y="1417320"/>
            <a:ext cx="1783080" cy="233172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Hover tooltip="prefetch_coverage_inputs.py — all PR URLs in one shell invocation." action="ppaction://noaction"/>
          </p:cNvPr>
          <p:cNvSpPr txBox="1"/>
          <p:nvPr/>
        </p:nvSpPr>
        <p:spPr>
          <a:xfrm>
            <a:off x="6236208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prefetch_coverage_inputs.py — all PR URLs in one shell invocation.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prefetch PR(s)</a:t>
            </a:r>
          </a:p>
          <a:p>
            <a:r>
              <a:t>or branch compare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982712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>
            <a:hlinkHover tooltip="map_requirements_to_diff.py — R1…Rn vs diff; qaScope: none when dev-covered." action="ppaction://noaction"/>
          </p:cNvPr>
          <p:cNvSpPr/>
          <p:nvPr/>
        </p:nvSpPr>
        <p:spPr>
          <a:xfrm>
            <a:off x="8110728" y="1417320"/>
            <a:ext cx="1783080" cy="2331720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Hover tooltip="map_requirements_to_diff.py — R1…Rn vs diff; qaScope: none when dev-covered." action="ppaction://noaction"/>
          </p:cNvPr>
          <p:cNvSpPr txBox="1"/>
          <p:nvPr/>
        </p:nvSpPr>
        <p:spPr>
          <a:xfrm>
            <a:off x="8183880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map_requirements_to_diff.py — R1…Rn vs diff; qaScope: none when dev-covered.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8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map_requirements_</a:t>
            </a:r>
          </a:p>
          <a:p>
            <a:r>
              <a:t>to_diff.py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930384" y="2240280"/>
            <a:ext cx="201168" cy="3200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>
            <a:hlinkHover tooltip="build_coverage_report.py + apply_report_ui_enhancements() tooltips v8." action="ppaction://noaction"/>
          </p:cNvPr>
          <p:cNvSpPr/>
          <p:nvPr/>
        </p:nvSpPr>
        <p:spPr>
          <a:xfrm>
            <a:off x="10058400" y="1417320"/>
            <a:ext cx="1783080" cy="2331720"/>
          </a:xfrm>
          <a:prstGeom prst="round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Hover tooltip="build_coverage_report.py + apply_report_ui_enhancements() tooltips v8." action="ppaction://noaction"/>
          </p:cNvPr>
          <p:cNvSpPr txBox="1"/>
          <p:nvPr/>
        </p:nvSpPr>
        <p:spPr>
          <a:xfrm>
            <a:off x="10131552" y="3063240"/>
            <a:ext cx="1636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BFDBFE"/>
                </a:solidFill>
                <a:latin typeface="Calibri"/>
              </a:defRPr>
            </a:pPr>
            <a:r>
              <a:t>build_coverage_report.py + apply_report_ui_enhancements() tooltips v8.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15544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0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05740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514600"/>
            <a:ext cx="1600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FDBFE"/>
                </a:solidFill>
                <a:latin typeface="Calibri"/>
              </a:defRPr>
            </a:pPr>
            <a:r>
              <a:t>build_coverage_</a:t>
            </a:r>
          </a:p>
          <a:p>
            <a:r>
              <a:t>report.py + tooltips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886200"/>
            <a:ext cx="11155680" cy="105156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023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Cache: reports/.cache/{KEY}-jira|confluence|testplan|prefetch|mapping.json — reuse --from-cache. Quick links: collect_ladr_page_links() — LADR/design Confluence only (no grooming/deployment remote links). No linked PR? fetch_coverage_github.py --compare develop + branchCompare mapping. §4 build_qa_ownership_fields() — qaScope: none skips dev-covered AC from QA TC list. build_coverage_report.py fills CI {{CI_*}} and Dev tests columns automatically.</a:t>
            </a:r>
          </a:p>
        </p:txBody>
      </p:sp>
      <p:sp>
        <p:nvSpPr>
          <p:cNvPr id="47" name="Rounded Rectangle 46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502920" y="5166360"/>
            <a:ext cx="3611880" cy="64008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8" name="Oval 47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3840480" y="523036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9" name="Rounded Rectangle 48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4297680" y="5166360"/>
            <a:ext cx="3611880" cy="640080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Pass with gaps</a:t>
            </a:r>
          </a:p>
        </p:txBody>
      </p:sp>
      <p:sp>
        <p:nvSpPr>
          <p:cNvPr id="50" name="Oval 49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7635240" y="523036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51" name="Rounded Rectangle 50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8092440" y="5166360"/>
            <a:ext cx="3611880" cy="640080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52" name="Oval 51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11430000" y="523036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Cursor IDE, Atlassian MCP, gh/prefetch scripts, and HTML builder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7" name="Oval 6">
            <a:hlinkHover tooltip="Cursor IDE, Atlassian MCP, gh/prefetch scripts, and HTML builder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Cursor IDE, Atlassian MCP, gh/prefetch scripts, and HTML builder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Cursor IDE · Atlassian MCP · GitHub CLI · Python scripts</a:t>
            </a:r>
          </a:p>
        </p:txBody>
      </p:sp>
      <p:sp>
        <p:nvSpPr>
          <p:cNvPr id="9" name="TextBox 8">
            <a:hlinkHover tooltip="Cursor IDE, Atlassian MCP, gh/prefetch scripts, and HTML builder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Cursor IDE, Atlassian MCP, gh/prefetch scripts, and HTML builder.</a:t>
            </a:r>
          </a:p>
        </p:txBody>
      </p:sp>
      <p:sp>
        <p:nvSpPr>
          <p:cNvPr id="10" name="Rounded Rectangle 9">
            <a:hlinkHover tooltip="Coverage Validator" action="ppaction://noaction"/>
          </p:cNvPr>
          <p:cNvSpPr/>
          <p:nvPr/>
        </p:nvSpPr>
        <p:spPr>
          <a:xfrm>
            <a:off x="4572000" y="2606040"/>
            <a:ext cx="3017520" cy="1371600"/>
          </a:xfrm>
          <a:prstGeom prst="roundRect">
            <a:avLst/>
          </a:prstGeom>
          <a:solidFill>
            <a:srgbClr val="FF5E4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  <a:br/>
            <a:r>
              <a:t>Validator</a:t>
            </a:r>
          </a:p>
        </p:txBody>
      </p:sp>
      <p:sp>
        <p:nvSpPr>
          <p:cNvPr id="11" name="Rounded Rectangle 10">
            <a:hlinkHover tooltip="Jira MCP" action="ppaction://noaction"/>
          </p:cNvPr>
          <p:cNvSpPr/>
          <p:nvPr/>
        </p:nvSpPr>
        <p:spPr>
          <a:xfrm>
            <a:off x="6400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Jira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getJiraIssue</a:t>
            </a:r>
          </a:p>
          <a:p>
            <a:r>
              <a:t>remote links</a:t>
            </a:r>
          </a:p>
          <a:p>
            <a:r>
              <a:t>LADR detection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2907792"/>
            <a:ext cx="429768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hlinkHover tooltip="GitHub" action="ppaction://noaction"/>
          </p:cNvPr>
          <p:cNvSpPr/>
          <p:nvPr/>
        </p:nvSpPr>
        <p:spPr>
          <a:xfrm>
            <a:off x="9326880" y="2286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788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prefetch PR</a:t>
            </a:r>
          </a:p>
          <a:p>
            <a:r>
              <a:t>checks · diff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80760" y="2907792"/>
            <a:ext cx="4389120" cy="3383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hlinkHover tooltip="Confluence" action="ppaction://noaction"/>
          </p:cNvPr>
          <p:cNvSpPr/>
          <p:nvPr/>
        </p:nvSpPr>
        <p:spPr>
          <a:xfrm>
            <a:off x="6400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Confluence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getConfluencePage</a:t>
            </a:r>
          </a:p>
          <a:p>
            <a:r>
              <a:t>fetch_confluence_</a:t>
            </a:r>
          </a:p>
          <a:p>
            <a:r>
              <a:t>requirements.py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783080" y="3246120"/>
            <a:ext cx="429768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hlinkHover tooltip="HTML report" action="ppaction://noaction"/>
          </p:cNvPr>
          <p:cNvSpPr/>
          <p:nvPr/>
        </p:nvSpPr>
        <p:spPr>
          <a:xfrm>
            <a:off x="9326880" y="4572000"/>
            <a:ext cx="2286000" cy="12344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066C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0749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4155"/>
                </a:solidFill>
                <a:latin typeface="Calibri"/>
              </a:defRPr>
            </a:pPr>
            <a:r>
              <a:t>reports/</a:t>
            </a:r>
          </a:p>
          <a:p>
            <a:r>
              <a:t>{KEY}-…-IST.html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080760" y="3246120"/>
            <a:ext cx="4389120" cy="194767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Skill: .cursor/skills/msc-dev-code-and-qa-test-coverage-validator/  ·  fetch_jira_testplan.py merges Confluence LADR + Excel attachment  ·  Command: /msc-dev-code-and-qa-test-coverage-validator  ·  Developed by Mayur Gunjal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HTML report</a:t>
            </a:r>
          </a:p>
        </p:txBody>
      </p:sp>
      <p:sp>
        <p:nvSpPr>
          <p:cNvPr id="6" name="TextBox 5">
            <a:hlinkHover tooltip="Eight sections · info icons · metrics · traceability" action="ppaction://noaction"/>
          </p:cNvPr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Eight sections · info icons · metrics · traceability</a:t>
            </a:r>
          </a:p>
        </p:txBody>
      </p:sp>
      <p:sp>
        <p:nvSpPr>
          <p:cNvPr id="7" name="Oval 6">
            <a:hlinkHover tooltip="Eight sections · info icons · metrics · traceability" action="ppaction://noaction"/>
          </p:cNvPr>
          <p:cNvSpPr/>
          <p:nvPr/>
        </p:nvSpPr>
        <p:spPr>
          <a:xfrm>
            <a:off x="11475720" y="1965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Mirrors live report structure; hover ⓘ on slides for field definition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HTML report — 8 sections</a:t>
            </a:r>
          </a:p>
        </p:txBody>
      </p:sp>
      <p:sp>
        <p:nvSpPr>
          <p:cNvPr id="7" name="Oval 6">
            <a:hlinkHover tooltip="Mirrors live report structure; hover ⓘ on slides for field definition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Mirrors live report structure; hover ⓘ on slides for field definition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reports/{KEY}-{date}-{time}-{TZ}.html  ·  quick links (Jira · plan · PRs · LADR only)  ·  browser-ready</a:t>
            </a:r>
          </a:p>
        </p:txBody>
      </p:sp>
      <p:sp>
        <p:nvSpPr>
          <p:cNvPr id="9" name="TextBox 8">
            <a:hlinkHover tooltip="Mirrors live report structure; hover ⓘ on slides for field definition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Mirrors live report structure; hover ⓘ on slides for field definitions.</a:t>
            </a:r>
          </a:p>
        </p:txBody>
      </p:sp>
      <p:sp>
        <p:nvSpPr>
          <p:cNvPr id="10" name="Rounded Rectangle 9">
            <a:hlinkHover tooltip="High-level readiness metrics from Jira acceptance criteria, linked PR code and tests, attached test plan, and CI pipeline coverage." action="ppaction://noaction"/>
          </p:cNvPr>
          <p:cNvSpPr/>
          <p:nvPr/>
        </p:nvSpPr>
        <p:spPr>
          <a:xfrm>
            <a:off x="502920" y="128016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Coverage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8 metric cards + i tooltips</a:t>
            </a:r>
          </a:p>
        </p:txBody>
      </p:sp>
      <p:sp>
        <p:nvSpPr>
          <p:cNvPr id="14" name="Rounded Rectangle 13">
            <a:hlinkHover tooltip="GitHub pull requests linked to the Jira story, with CI status and dev test evidence from the PR diff." action="ppaction://noaction"/>
          </p:cNvPr>
          <p:cNvSpPr/>
          <p:nvPr/>
        </p:nvSpPr>
        <p:spPr>
          <a:xfrm>
            <a:off x="3355848" y="128016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Linked PR(s)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PR · Repo · State · Title · Files · Dev tests · CI</a:t>
            </a:r>
          </a:p>
        </p:txBody>
      </p:sp>
      <p:sp>
        <p:nvSpPr>
          <p:cNvPr id="18" name="Rounded Rectangle 17">
            <a:hlinkHover tooltip="Excel attachment · GWT · Mascot or IDs" action="ppaction://noaction"/>
          </p:cNvPr>
          <p:cNvSpPr/>
          <p:nvPr/>
        </p:nvSpPr>
        <p:spPr>
          <a:xfrm>
            <a:off x="6208776" y="128016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Excel attachment · GWT · Mascot or IDs</a:t>
            </a:r>
          </a:p>
        </p:txBody>
      </p:sp>
      <p:sp>
        <p:nvSpPr>
          <p:cNvPr id="22" name="Rounded Rectangle 21">
            <a:hlinkHover tooltip="Ownership split" action="ppaction://noaction"/>
          </p:cNvPr>
          <p:cNvSpPr/>
          <p:nvPr/>
        </p:nvSpPr>
        <p:spPr>
          <a:xfrm>
            <a:off x="9061704" y="1280160"/>
            <a:ext cx="2697480" cy="141732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371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1389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Dev vs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9659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Ownership split</a:t>
            </a:r>
          </a:p>
        </p:txBody>
      </p:sp>
      <p:sp>
        <p:nvSpPr>
          <p:cNvPr id="26" name="Rounded Rectangle 25">
            <a:hlinkHover tooltip="Row-per-AC matrix" action="ppaction://noaction"/>
          </p:cNvPr>
          <p:cNvSpPr/>
          <p:nvPr/>
        </p:nvSpPr>
        <p:spPr>
          <a:xfrm>
            <a:off x="502920" y="269748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Row-per-AC matrix</a:t>
            </a:r>
          </a:p>
        </p:txBody>
      </p:sp>
      <p:sp>
        <p:nvSpPr>
          <p:cNvPr id="30" name="Rounded Rectangle 29">
            <a:hlinkHover tooltip="Gaps · strengths" action="ppaction://noaction"/>
          </p:cNvPr>
          <p:cNvSpPr/>
          <p:nvPr/>
        </p:nvSpPr>
        <p:spPr>
          <a:xfrm>
            <a:off x="3355848" y="269748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Impl.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Gaps · strengths</a:t>
            </a:r>
          </a:p>
        </p:txBody>
      </p:sp>
      <p:sp>
        <p:nvSpPr>
          <p:cNvPr id="34" name="Rounded Rectangle 33">
            <a:hlinkHover tooltip="Scope notes" action="ppaction://noaction"/>
          </p:cNvPr>
          <p:cNvSpPr/>
          <p:nvPr/>
        </p:nvSpPr>
        <p:spPr>
          <a:xfrm>
            <a:off x="6208776" y="269748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Scope notes</a:t>
            </a:r>
          </a:p>
        </p:txBody>
      </p:sp>
      <p:sp>
        <p:nvSpPr>
          <p:cNvPr id="38" name="Rounded Rectangle 37">
            <a:hlinkHover tooltip="Numbered to-dos" action="ppaction://noaction"/>
          </p:cNvPr>
          <p:cNvSpPr/>
          <p:nvPr/>
        </p:nvSpPr>
        <p:spPr>
          <a:xfrm>
            <a:off x="9061704" y="2697480"/>
            <a:ext cx="2697480" cy="1417320"/>
          </a:xfrm>
          <a:prstGeom prst="round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27889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E4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33832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Numbered to-dos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160520"/>
            <a:ext cx="11155680" cy="502920"/>
          </a:xfrm>
          <a:prstGeom prst="roundRect">
            <a:avLst/>
          </a:prstGeom>
          <a:solidFill>
            <a:srgbClr val="04066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25196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MSC-212571  ·  Verdict: Fail  ·  Generated 06-02-2026 17:33 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HTML: apply_report_ui_enhancements() layout v8. PPT: hover ⓘ icons on this deck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Report UX — info icons &amp; tooltips</a:t>
            </a:r>
          </a:p>
        </p:txBody>
      </p:sp>
      <p:sp>
        <p:nvSpPr>
          <p:cNvPr id="7" name="Oval 6">
            <a:hlinkHover tooltip="HTML: apply_report_ui_enhancements() layout v8. PPT: hover ⓘ icons on this deck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HTML: apply_report_ui_enhancements() layout v8. PPT: hover ⓘ icons on this deck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apply_report_ui_enhancements() — layout v8 · §4 ownership v3 · before every HTML write</a:t>
            </a:r>
          </a:p>
        </p:txBody>
      </p:sp>
      <p:sp>
        <p:nvSpPr>
          <p:cNvPr id="9" name="TextBox 8">
            <a:hlinkHover tooltip="HTML: apply_report_ui_enhancements() layout v8. PPT: hover ⓘ icons on this deck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HTML: apply_report_ui_enhancements() layout v8. PPT: hover ⓘ icons on this deck.</a:t>
            </a:r>
          </a:p>
        </p:txBody>
      </p:sp>
      <p:sp>
        <p:nvSpPr>
          <p:cNvPr id="10" name="Rounded Rectangle 9">
            <a:hlinkHover tooltip="Where the i icon appears" action="ppaction://noaction"/>
          </p:cNvPr>
          <p:cNvSpPr/>
          <p:nvPr/>
        </p:nvSpPr>
        <p:spPr>
          <a:xfrm>
            <a:off x="502920" y="1234440"/>
            <a:ext cx="5486400" cy="384048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Where the i icon appears</a:t>
            </a:r>
          </a:p>
        </p:txBody>
      </p:sp>
      <p:sp>
        <p:nvSpPr>
          <p:cNvPr id="11" name="Oval 10">
            <a:hlinkHover tooltip="Header verdict + quick links (LADR Confluence filtered)" action="ppaction://noaction"/>
          </p:cNvPr>
          <p:cNvSpPr/>
          <p:nvPr/>
        </p:nvSpPr>
        <p:spPr>
          <a:xfrm>
            <a:off x="530352" y="177393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Header verdict + quick links (LADR Confluence</a:t>
            </a:r>
          </a:p>
        </p:txBody>
      </p:sp>
      <p:sp>
        <p:nvSpPr>
          <p:cNvPr id="13" name="TextBox 12">
            <a:hlinkHover tooltip="Header verdict + quick links (LADR Confluence filtered)" action="ppaction://noaction"/>
          </p:cNvPr>
          <p:cNvSpPr txBox="1"/>
          <p:nvPr/>
        </p:nvSpPr>
        <p:spPr>
          <a:xfrm>
            <a:off x="777240" y="19751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Header verdict + quick links (LADR Confluence filtered)</a:t>
            </a:r>
          </a:p>
        </p:txBody>
      </p:sp>
      <p:sp>
        <p:nvSpPr>
          <p:cNvPr id="14" name="Oval 13">
            <a:hlinkHover tooltip="All 8 section titles + 3 summary group titles" action="ppaction://noaction"/>
          </p:cNvPr>
          <p:cNvSpPr/>
          <p:nvPr/>
        </p:nvSpPr>
        <p:spPr>
          <a:xfrm>
            <a:off x="530352" y="234086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All 8 section titles + 3 summary group titles</a:t>
            </a:r>
          </a:p>
        </p:txBody>
      </p:sp>
      <p:sp>
        <p:nvSpPr>
          <p:cNvPr id="16" name="TextBox 15">
            <a:hlinkHover tooltip="All 8 section titles + 3 summary group titles" action="ppaction://noaction"/>
          </p:cNvPr>
          <p:cNvSpPr txBox="1"/>
          <p:nvPr/>
        </p:nvSpPr>
        <p:spPr>
          <a:xfrm>
            <a:off x="777240" y="25420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All 8 section titles + 3 summary group titles</a:t>
            </a:r>
          </a:p>
        </p:txBody>
      </p:sp>
      <p:sp>
        <p:nvSpPr>
          <p:cNvPr id="17" name="Oval 16">
            <a:hlinkHover tooltip="All 8 Coverage summary metric cards + release readiness score" action="ppaction://noaction"/>
          </p:cNvPr>
          <p:cNvSpPr/>
          <p:nvPr/>
        </p:nvSpPr>
        <p:spPr>
          <a:xfrm>
            <a:off x="530352" y="290779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71216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All 8 Coverage summary metric cards + release</a:t>
            </a:r>
          </a:p>
        </p:txBody>
      </p:sp>
      <p:sp>
        <p:nvSpPr>
          <p:cNvPr id="19" name="TextBox 18">
            <a:hlinkHover tooltip="All 8 Coverage summary metric cards + release readiness score" action="ppaction://noaction"/>
          </p:cNvPr>
          <p:cNvSpPr txBox="1"/>
          <p:nvPr/>
        </p:nvSpPr>
        <p:spPr>
          <a:xfrm>
            <a:off x="777240" y="31089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All 8 Coverage summary metric cards + release readiness score</a:t>
            </a:r>
          </a:p>
        </p:txBody>
      </p:sp>
      <p:sp>
        <p:nvSpPr>
          <p:cNvPr id="20" name="Oval 19">
            <a:hlinkHover tooltip="Linked PR(s) — PR, Repo, State, Title, Files, Dev tests, CI status" action="ppaction://noaction"/>
          </p:cNvPr>
          <p:cNvSpPr/>
          <p:nvPr/>
        </p:nvSpPr>
        <p:spPr>
          <a:xfrm>
            <a:off x="530352" y="347472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3814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Linked PR(s)</a:t>
            </a:r>
          </a:p>
        </p:txBody>
      </p:sp>
      <p:sp>
        <p:nvSpPr>
          <p:cNvPr id="22" name="TextBox 21">
            <a:hlinkHover tooltip="Linked PR(s) — PR, Repo, State, Title, Files, Dev tests, CI status" action="ppaction://noaction"/>
          </p:cNvPr>
          <p:cNvSpPr txBox="1"/>
          <p:nvPr/>
        </p:nvSpPr>
        <p:spPr>
          <a:xfrm>
            <a:off x="777240" y="36758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Linked PR(s) — PR, Repo, State, Title, Files, Dev tests, CI status</a:t>
            </a:r>
          </a:p>
        </p:txBody>
      </p:sp>
      <p:sp>
        <p:nvSpPr>
          <p:cNvPr id="23" name="Oval 22">
            <a:hlinkHover tooltip="Test plan + LADR traceability table headers" action="ppaction://noaction"/>
          </p:cNvPr>
          <p:cNvSpPr/>
          <p:nvPr/>
        </p:nvSpPr>
        <p:spPr>
          <a:xfrm>
            <a:off x="530352" y="404164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05072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Test plan + LADR traceability table headers</a:t>
            </a:r>
          </a:p>
        </p:txBody>
      </p:sp>
      <p:sp>
        <p:nvSpPr>
          <p:cNvPr id="25" name="TextBox 24">
            <a:hlinkHover tooltip="Test plan + LADR traceability table headers" action="ppaction://noaction"/>
          </p:cNvPr>
          <p:cNvSpPr txBox="1"/>
          <p:nvPr/>
        </p:nvSpPr>
        <p:spPr>
          <a:xfrm>
            <a:off x="777240" y="42428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Test plan + LADR traceability table headers</a:t>
            </a:r>
          </a:p>
        </p:txBody>
      </p:sp>
      <p:sp>
        <p:nvSpPr>
          <p:cNvPr id="26" name="Oval 25">
            <a:hlinkHover tooltip="§4 Dev vs QA — QA execute list excludes dev-covered AC" action="ppaction://noaction"/>
          </p:cNvPr>
          <p:cNvSpPr/>
          <p:nvPr/>
        </p:nvSpPr>
        <p:spPr>
          <a:xfrm>
            <a:off x="530352" y="460857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§4 Dev vs QA</a:t>
            </a:r>
          </a:p>
        </p:txBody>
      </p:sp>
      <p:sp>
        <p:nvSpPr>
          <p:cNvPr id="28" name="TextBox 27">
            <a:hlinkHover tooltip="§4 Dev vs QA — QA execute list excludes dev-covered AC" action="ppaction://noaction"/>
          </p:cNvPr>
          <p:cNvSpPr txBox="1"/>
          <p:nvPr/>
        </p:nvSpPr>
        <p:spPr>
          <a:xfrm>
            <a:off x="777240" y="48097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§4 Dev vs QA — QA execute list excludes dev-covered AC</a:t>
            </a:r>
          </a:p>
        </p:txBody>
      </p:sp>
      <p:sp>
        <p:nvSpPr>
          <p:cNvPr id="29" name="Rounded Rectangle 28">
            <a:hlinkHover tooltip="Tooltip layout v8 · quick links" action="ppaction://noaction"/>
          </p:cNvPr>
          <p:cNvSpPr/>
          <p:nvPr/>
        </p:nvSpPr>
        <p:spPr>
          <a:xfrm>
            <a:off x="6263640" y="1234440"/>
            <a:ext cx="5394960" cy="38404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Tooltip layout v8 · quick links</a:t>
            </a:r>
          </a:p>
        </p:txBody>
      </p:sp>
      <p:sp>
        <p:nvSpPr>
          <p:cNvPr id="30" name="Oval 29">
            <a:hlinkHover tooltip="Quick links: Jira · SharePoint test plan · PR(s) · LADR wiki only" action="ppaction://noaction"/>
          </p:cNvPr>
          <p:cNvSpPr/>
          <p:nvPr/>
        </p:nvSpPr>
        <p:spPr>
          <a:xfrm>
            <a:off x="6291072" y="177393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73736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Quick links: Jira · SharePoint test plan · PR(s) · LADR…</a:t>
            </a:r>
          </a:p>
        </p:txBody>
      </p:sp>
      <p:sp>
        <p:nvSpPr>
          <p:cNvPr id="32" name="TextBox 31">
            <a:hlinkHover tooltip="Quick links: Jira · SharePoint test plan · PR(s) · LADR wiki only" action="ppaction://noaction"/>
          </p:cNvPr>
          <p:cNvSpPr txBox="1"/>
          <p:nvPr/>
        </p:nvSpPr>
        <p:spPr>
          <a:xfrm>
            <a:off x="6537960" y="19751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Quick links: Jira · SharePoint test plan · PR(s) · LADR wiki only</a:t>
            </a:r>
          </a:p>
        </p:txBody>
      </p:sp>
      <p:sp>
        <p:nvSpPr>
          <p:cNvPr id="33" name="Oval 32">
            <a:hlinkHover tooltip="Grooming / deployment / PVC go-live pages excluded from nav" action="ppaction://noaction"/>
          </p:cNvPr>
          <p:cNvSpPr/>
          <p:nvPr/>
        </p:nvSpPr>
        <p:spPr>
          <a:xfrm>
            <a:off x="6291072" y="234086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30428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Grooming / deployment / PVC go-live pages excluded from…</a:t>
            </a:r>
          </a:p>
        </p:txBody>
      </p:sp>
      <p:sp>
        <p:nvSpPr>
          <p:cNvPr id="35" name="TextBox 34">
            <a:hlinkHover tooltip="Grooming / deployment / PVC go-live pages excluded from nav" action="ppaction://noaction"/>
          </p:cNvPr>
          <p:cNvSpPr txBox="1"/>
          <p:nvPr/>
        </p:nvSpPr>
        <p:spPr>
          <a:xfrm>
            <a:off x="6537960" y="25420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Grooming / deployment / PVC go-live pages excluded from nav</a:t>
            </a:r>
          </a:p>
        </p:txBody>
      </p:sp>
      <p:sp>
        <p:nvSpPr>
          <p:cNvPr id="36" name="Oval 35">
            <a:hlinkHover tooltip="overflow: visible on sections, tables, and headers — no clipped text" action="ppaction://noaction"/>
          </p:cNvPr>
          <p:cNvSpPr/>
          <p:nvPr/>
        </p:nvSpPr>
        <p:spPr>
          <a:xfrm>
            <a:off x="6291072" y="290779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87121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overflow: visible on sections, tables, and headers — no…</a:t>
            </a:r>
          </a:p>
        </p:txBody>
      </p:sp>
      <p:sp>
        <p:nvSpPr>
          <p:cNvPr id="38" name="TextBox 37">
            <a:hlinkHover tooltip="overflow: visible on sections, tables, and headers — no clipped text" action="ppaction://noaction"/>
          </p:cNvPr>
          <p:cNvSpPr txBox="1"/>
          <p:nvPr/>
        </p:nvSpPr>
        <p:spPr>
          <a:xfrm>
            <a:off x="6537960" y="3108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overflow: visible on sections, tables, and headers — no clipped text</a:t>
            </a:r>
          </a:p>
        </p:txBody>
      </p:sp>
      <p:sp>
        <p:nvSpPr>
          <p:cNvPr id="39" name="Oval 38">
            <a:hlinkHover tooltip="PR table: Dev tests + CI status columns with anchored tooltips" action="ppaction://noaction"/>
          </p:cNvPr>
          <p:cNvSpPr/>
          <p:nvPr/>
        </p:nvSpPr>
        <p:spPr>
          <a:xfrm>
            <a:off x="6291072" y="347472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43814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PR table: Dev tests + CI status columns with anchored t…</a:t>
            </a:r>
          </a:p>
        </p:txBody>
      </p:sp>
      <p:sp>
        <p:nvSpPr>
          <p:cNvPr id="41" name="TextBox 40">
            <a:hlinkHover tooltip="PR table: Dev tests + CI status columns with anchored tooltips" action="ppaction://noaction"/>
          </p:cNvPr>
          <p:cNvSpPr txBox="1"/>
          <p:nvPr/>
        </p:nvSpPr>
        <p:spPr>
          <a:xfrm>
            <a:off x="6537960" y="367588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PR table: Dev tests + CI status columns with anchored tooltips</a:t>
            </a:r>
          </a:p>
        </p:txBody>
      </p:sp>
      <p:sp>
        <p:nvSpPr>
          <p:cNvPr id="42" name="Oval 41">
            <a:hlinkHover tooltip="Pointer cursor on hover; §5 traceability v2 row evidence lists" action="ppaction://noaction"/>
          </p:cNvPr>
          <p:cNvSpPr/>
          <p:nvPr/>
        </p:nvSpPr>
        <p:spPr>
          <a:xfrm>
            <a:off x="6291072" y="404164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005072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Pointer cursor on hover; §5 traceability v2 row evidenc…</a:t>
            </a:r>
          </a:p>
        </p:txBody>
      </p:sp>
      <p:sp>
        <p:nvSpPr>
          <p:cNvPr id="44" name="TextBox 43">
            <a:hlinkHover tooltip="Pointer cursor on hover; §5 traceability v2 row evidence lists" action="ppaction://noaction"/>
          </p:cNvPr>
          <p:cNvSpPr txBox="1"/>
          <p:nvPr/>
        </p:nvSpPr>
        <p:spPr>
          <a:xfrm>
            <a:off x="6537960" y="42428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Pointer cursor on hover; §5 traceability v2 row evidence lists</a:t>
            </a:r>
          </a:p>
        </p:txBody>
      </p:sp>
      <p:sp>
        <p:nvSpPr>
          <p:cNvPr id="45" name="Rectangle 44">
            <a:hlinkHover tooltip="§2 Linked PR(s) — six columns" action="ppaction://noaction"/>
          </p:cNvPr>
          <p:cNvSpPr/>
          <p:nvPr/>
        </p:nvSpPr>
        <p:spPr>
          <a:xfrm>
            <a:off x="502920" y="4434840"/>
            <a:ext cx="1115568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§2 Linked PR(s) — six columns</a:t>
            </a:r>
          </a:p>
        </p:txBody>
      </p:sp>
      <p:sp>
        <p:nvSpPr>
          <p:cNvPr id="46" name="Rectangle 45">
            <a:hlinkHover tooltip="PR i" action="ppaction://noaction"/>
          </p:cNvPr>
          <p:cNvSpPr/>
          <p:nvPr/>
        </p:nvSpPr>
        <p:spPr>
          <a:xfrm>
            <a:off x="50292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PR i</a:t>
            </a:r>
          </a:p>
        </p:txBody>
      </p:sp>
      <p:sp>
        <p:nvSpPr>
          <p:cNvPr id="47" name="Rectangle 46">
            <a:hlinkHover tooltip="Repo i" action="ppaction://noaction"/>
          </p:cNvPr>
          <p:cNvSpPr/>
          <p:nvPr/>
        </p:nvSpPr>
        <p:spPr>
          <a:xfrm>
            <a:off x="236220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Repo i</a:t>
            </a:r>
          </a:p>
        </p:txBody>
      </p:sp>
      <p:sp>
        <p:nvSpPr>
          <p:cNvPr id="48" name="Rectangle 47">
            <a:hlinkHover tooltip="State i" action="ppaction://noaction"/>
          </p:cNvPr>
          <p:cNvSpPr/>
          <p:nvPr/>
        </p:nvSpPr>
        <p:spPr>
          <a:xfrm>
            <a:off x="422148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State i</a:t>
            </a:r>
          </a:p>
        </p:txBody>
      </p:sp>
      <p:sp>
        <p:nvSpPr>
          <p:cNvPr id="49" name="Rectangle 48">
            <a:hlinkHover tooltip="Title i" action="ppaction://noaction"/>
          </p:cNvPr>
          <p:cNvSpPr/>
          <p:nvPr/>
        </p:nvSpPr>
        <p:spPr>
          <a:xfrm>
            <a:off x="6080760" y="4782312"/>
            <a:ext cx="1822704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Title i</a:t>
            </a:r>
          </a:p>
        </p:txBody>
      </p:sp>
      <p:sp>
        <p:nvSpPr>
          <p:cNvPr id="50" name="Rectangle 49">
            <a:hlinkHover tooltip="Dev tests i" action="ppaction://noaction"/>
          </p:cNvPr>
          <p:cNvSpPr/>
          <p:nvPr/>
        </p:nvSpPr>
        <p:spPr>
          <a:xfrm>
            <a:off x="7940040" y="4782312"/>
            <a:ext cx="1822704" cy="32004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Dev tests i</a:t>
            </a:r>
          </a:p>
        </p:txBody>
      </p:sp>
      <p:sp>
        <p:nvSpPr>
          <p:cNvPr id="51" name="Rectangle 50">
            <a:hlinkHover tooltip="CI status i" action="ppaction://noaction"/>
          </p:cNvPr>
          <p:cNvSpPr/>
          <p:nvPr/>
        </p:nvSpPr>
        <p:spPr>
          <a:xfrm>
            <a:off x="9799320" y="4782312"/>
            <a:ext cx="1822704" cy="32004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4066C"/>
                </a:solidFill>
                <a:latin typeface="Calibri"/>
              </a:defRPr>
            </a:pPr>
            <a:r>
              <a:t>CI status i</a:t>
            </a:r>
          </a:p>
        </p:txBody>
      </p:sp>
      <p:sp>
        <p:nvSpPr>
          <p:cNvPr id="52" name="Rectangle 51">
            <a:hlinkHover tooltip="PR #99 pegasus-partner-config-service · #148 pegasus-transmogrifier · Fail · dev tests 5.6% · CI 99.2%" action="ppaction://noaction"/>
          </p:cNvPr>
          <p:cNvSpPr/>
          <p:nvPr/>
        </p:nvSpPr>
        <p:spPr>
          <a:xfrm>
            <a:off x="502920" y="5102352"/>
            <a:ext cx="11155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PR #99 pegasus-partner-config-service · #148 pegasus-transmogrifier  ·  Fail  ·  dev tests 5.6%  ·  CI 99.2%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623560"/>
            <a:ext cx="11155680" cy="411480"/>
          </a:xfrm>
          <a:prstGeom prst="roundRect">
            <a:avLst/>
          </a:prstGeom>
          <a:solidFill>
            <a:srgbClr val="F2F2F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687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Generated by msc-dev-code-and-qa-test-coverage-validator · Developed by Mayur Gunjal  (MSC-212571-06-02-2026-17-33-50-IST.html)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High-level readiness metrics from Jira acceptance criteria, linked PR code and tests, attached test plan, and CI pipeline coverage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§1 Coverage summary — 8 metric cards</a:t>
            </a:r>
          </a:p>
        </p:txBody>
      </p:sp>
      <p:sp>
        <p:nvSpPr>
          <p:cNvPr id="7" name="Oval 6">
            <a:hlinkHover tooltip="High-level readiness metrics from Jira acceptance criteria, linked PR code and tests, attached test plan, and CI pipeline coverage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High-level readiness metrics from Jira acceptance criteria, linked PR code and tests, attached test plan, and CI pipeline coverage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Color thresholds: Green ≥85%  ·  Amber 70–84.9%  ·  Red &lt;70%  ·  Gray NA</a:t>
            </a:r>
          </a:p>
        </p:txBody>
      </p:sp>
      <p:sp>
        <p:nvSpPr>
          <p:cNvPr id="9" name="TextBox 8">
            <a:hlinkHover tooltip="High-level readiness metrics from Jira acceptance criteria, linked PR code and tests, attached test plan, and CI pipeline coverage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High-level readiness metrics from Jira acceptance criteria, linked PR code and tests, attached test plan, and…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Implementation &amp; tests</a:t>
            </a:r>
          </a:p>
        </p:txBody>
      </p:sp>
      <p:sp>
        <p:nvSpPr>
          <p:cNvPr id="11" name="Oval 10">
            <a:hlinkHover tooltip="Production code and automated test evidence from the linked PR against Jira acceptance criteria." action="ppaction://noaction"/>
          </p:cNvPr>
          <p:cNvSpPr/>
          <p:nvPr/>
        </p:nvSpPr>
        <p:spPr>
          <a:xfrm>
            <a:off x="3749040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45920"/>
            <a:ext cx="3429000" cy="125272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5564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4" name="TextBox 13">
            <a:hlinkHover tooltip="Share of Jira acceptance criteria that have matching production code changes in the linked PR. Green ≥85%, amber 70–84.9%, red below 70%." action="ppaction://noaction"/>
          </p:cNvPr>
          <p:cNvSpPr txBox="1"/>
          <p:nvPr/>
        </p:nvSpPr>
        <p:spPr>
          <a:xfrm>
            <a:off x="576072" y="217627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15" name="Oval 14">
            <a:hlinkHover tooltip="Share of Jira acceptance criteria that have matching production code changes in the linked PR. Green ≥85%, amber 70–84.9%, red below 70%." action="ppaction://noaction"/>
          </p:cNvPr>
          <p:cNvSpPr/>
          <p:nvPr/>
        </p:nvSpPr>
        <p:spPr>
          <a:xfrm>
            <a:off x="3657600" y="170078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6" name="TextBox 15">
            <a:hlinkHover tooltip="Share of Jira acceptance criteria that have matching production code changes in the linked PR. Green ≥85%, amber 70–84.9%, red below 70%." action="ppaction://noaction"/>
          </p:cNvPr>
          <p:cNvSpPr txBox="1"/>
          <p:nvPr/>
        </p:nvSpPr>
        <p:spPr>
          <a:xfrm>
            <a:off x="557784" y="253288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Share of Jira acceptance criteria that have matching production code changes in the linked PR. Green ≥85%, am…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06040"/>
            <a:ext cx="3429000" cy="1252728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19" name="TextBox 18">
            <a:hlinkHover tooltip="Share of dev-owned acceptance criteria covered by unit or integration tests added or updated in the PR (not E2E or manual QA)." action="ppaction://noaction"/>
          </p:cNvPr>
          <p:cNvSpPr txBox="1"/>
          <p:nvPr/>
        </p:nvSpPr>
        <p:spPr>
          <a:xfrm>
            <a:off x="576072" y="313639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20" name="Oval 19">
            <a:hlinkHover tooltip="Share of dev-owned acceptance criteria covered by unit or integration tests added or updated in the PR (not E2E or manual QA)." action="ppaction://noaction"/>
          </p:cNvPr>
          <p:cNvSpPr/>
          <p:nvPr/>
        </p:nvSpPr>
        <p:spPr>
          <a:xfrm>
            <a:off x="3657600" y="26609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1" name="TextBox 20">
            <a:hlinkHover tooltip="Share of dev-owned acceptance criteria covered by unit or integration tests added or updated in the PR (not E2E or manual QA)." action="ppaction://noaction"/>
          </p:cNvPr>
          <p:cNvSpPr txBox="1"/>
          <p:nvPr/>
        </p:nvSpPr>
        <p:spPr>
          <a:xfrm>
            <a:off x="557784" y="349300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Share of dev-owned acceptance criteria covered by unit or integration tests added or updated in the PR (not 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66160"/>
            <a:ext cx="3429000" cy="125272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7588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6/9 AC in test plan</a:t>
            </a:r>
          </a:p>
        </p:txBody>
      </p:sp>
      <p:sp>
        <p:nvSpPr>
          <p:cNvPr id="24" name="TextBox 23">
            <a:hlinkHover tooltip="How many Jira acceptance criteria were extracted from the story and scored in this report (e.g. R1–R4)." action="ppaction://noaction"/>
          </p:cNvPr>
          <p:cNvSpPr txBox="1"/>
          <p:nvPr/>
        </p:nvSpPr>
        <p:spPr>
          <a:xfrm>
            <a:off x="576072" y="409651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Req mapped</a:t>
            </a:r>
          </a:p>
        </p:txBody>
      </p:sp>
      <p:sp>
        <p:nvSpPr>
          <p:cNvPr id="25" name="Oval 24">
            <a:hlinkHover tooltip="How many Jira acceptance criteria were extracted from the story and scored in this report (e.g. R1–R4)." action="ppaction://noaction"/>
          </p:cNvPr>
          <p:cNvSpPr/>
          <p:nvPr/>
        </p:nvSpPr>
        <p:spPr>
          <a:xfrm>
            <a:off x="3657600" y="362102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6" name="TextBox 25">
            <a:hlinkHover tooltip="How many Jira acceptance criteria were extracted from the story and scored in this report (e.g. R1–R4)." action="ppaction://noaction"/>
          </p:cNvPr>
          <p:cNvSpPr txBox="1"/>
          <p:nvPr/>
        </p:nvSpPr>
        <p:spPr>
          <a:xfrm>
            <a:off x="557784" y="445312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How many Jira acceptance criteria were extracted from the story and scored in this report (e.g. R1–R4).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1234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QA &amp; release risk</a:t>
            </a:r>
          </a:p>
        </p:txBody>
      </p:sp>
      <p:sp>
        <p:nvSpPr>
          <p:cNvPr id="28" name="Oval 27">
            <a:hlinkHover tooltip="Test plan coverage, remaining QA verification scope, and open review gaps." action="ppaction://noaction"/>
          </p:cNvPr>
          <p:cNvSpPr/>
          <p:nvPr/>
        </p:nvSpPr>
        <p:spPr>
          <a:xfrm>
            <a:off x="7589520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1645920"/>
            <a:ext cx="3429000" cy="1252728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175564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31" name="TextBox 30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 txBox="1"/>
          <p:nvPr/>
        </p:nvSpPr>
        <p:spPr>
          <a:xfrm>
            <a:off x="4416552" y="217627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32" name="Oval 31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/>
          <p:nvPr/>
        </p:nvSpPr>
        <p:spPr>
          <a:xfrm>
            <a:off x="7498080" y="170078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3" name="TextBox 32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 txBox="1"/>
          <p:nvPr/>
        </p:nvSpPr>
        <p:spPr>
          <a:xfrm>
            <a:off x="4398264" y="253288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Share of Jira acceptance criteria and linked LADR/Confluence ESS scenarios that have at least one mapped test…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2606040"/>
            <a:ext cx="3429000" cy="1252728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7157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Calibri"/>
              </a:defRPr>
            </a:pPr>
            <a:r>
              <a:t>9 item(s)</a:t>
            </a:r>
          </a:p>
        </p:txBody>
      </p:sp>
      <p:sp>
        <p:nvSpPr>
          <p:cNvPr id="36" name="TextBox 35">
            <a:hlinkHover tooltip="Count of requirements still needing QA verification—E2E, manual, regression, or spot-check—because dev tests do not fully cover them." action="ppaction://noaction"/>
          </p:cNvPr>
          <p:cNvSpPr txBox="1"/>
          <p:nvPr/>
        </p:nvSpPr>
        <p:spPr>
          <a:xfrm>
            <a:off x="4416552" y="313639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QA remaining</a:t>
            </a:r>
          </a:p>
        </p:txBody>
      </p:sp>
      <p:sp>
        <p:nvSpPr>
          <p:cNvPr id="37" name="Oval 36">
            <a:hlinkHover tooltip="Count of requirements still needing QA verification—E2E, manual, regression, or spot-check—because dev tests do not fully cover them." action="ppaction://noaction"/>
          </p:cNvPr>
          <p:cNvSpPr/>
          <p:nvPr/>
        </p:nvSpPr>
        <p:spPr>
          <a:xfrm>
            <a:off x="7498080" y="26609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38" name="TextBox 37">
            <a:hlinkHover tooltip="Count of requirements still needing QA verification—E2E, manual, regression, or spot-check—because dev tests do not fully cover them." action="ppaction://noaction"/>
          </p:cNvPr>
          <p:cNvSpPr txBox="1"/>
          <p:nvPr/>
        </p:nvSpPr>
        <p:spPr>
          <a:xfrm>
            <a:off x="4398264" y="349300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Count of requirements still needing QA verification—E2E, manual, regression, or spot-check—because dev tests…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566160"/>
            <a:ext cx="3429000" cy="1252728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367588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0 High · 11 Med</a:t>
            </a:r>
          </a:p>
        </p:txBody>
      </p:sp>
      <p:sp>
        <p:nvSpPr>
          <p:cNvPr id="41" name="TextBox 40">
            <a:hlinkHover tooltip="Implementation or test-plan concerns from the review, summarized by severity (e.g. High, Medium)." action="ppaction://noaction"/>
          </p:cNvPr>
          <p:cNvSpPr txBox="1"/>
          <p:nvPr/>
        </p:nvSpPr>
        <p:spPr>
          <a:xfrm>
            <a:off x="4416552" y="409651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Open gaps</a:t>
            </a:r>
          </a:p>
        </p:txBody>
      </p:sp>
      <p:sp>
        <p:nvSpPr>
          <p:cNvPr id="42" name="Oval 41">
            <a:hlinkHover tooltip="Implementation or test-plan concerns from the review, summarized by severity (e.g. High, Medium)." action="ppaction://noaction"/>
          </p:cNvPr>
          <p:cNvSpPr/>
          <p:nvPr/>
        </p:nvSpPr>
        <p:spPr>
          <a:xfrm>
            <a:off x="7498080" y="362102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3" name="TextBox 42">
            <a:hlinkHover tooltip="Implementation or test-plan concerns from the review, summarized by severity (e.g. High, Medium)." action="ppaction://noaction"/>
          </p:cNvPr>
          <p:cNvSpPr txBox="1"/>
          <p:nvPr/>
        </p:nvSpPr>
        <p:spPr>
          <a:xfrm>
            <a:off x="4398264" y="445312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Implementation or test-plan concerns from the review, summarized by severity (e.g. High, Medium).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1234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CI pipeline</a:t>
            </a:r>
          </a:p>
        </p:txBody>
      </p:sp>
      <p:sp>
        <p:nvSpPr>
          <p:cNvPr id="45" name="Oval 44">
            <a:hlinkHover tooltip="CI pipeline" action="ppaction://noaction"/>
          </p:cNvPr>
          <p:cNvSpPr/>
          <p:nvPr/>
        </p:nvSpPr>
        <p:spPr>
          <a:xfrm>
            <a:off x="11430000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80" y="1645920"/>
            <a:ext cx="3429000" cy="125272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175564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48" name="TextBox 47">
            <a:hlinkHover tooltip="Percentage of code lines executed by automated tests in CI, from Codecov, SonarQube, or pytest-cov on the linked PR." action="ppaction://noaction"/>
          </p:cNvPr>
          <p:cNvSpPr txBox="1"/>
          <p:nvPr/>
        </p:nvSpPr>
        <p:spPr>
          <a:xfrm>
            <a:off x="8257032" y="217627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Line cov.</a:t>
            </a:r>
          </a:p>
        </p:txBody>
      </p:sp>
      <p:sp>
        <p:nvSpPr>
          <p:cNvPr id="49" name="Oval 48">
            <a:hlinkHover tooltip="Percentage of code lines executed by automated tests in CI, from Codecov, SonarQube, or pytest-cov on the linked PR." action="ppaction://noaction"/>
          </p:cNvPr>
          <p:cNvSpPr/>
          <p:nvPr/>
        </p:nvSpPr>
        <p:spPr>
          <a:xfrm>
            <a:off x="11338560" y="170078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50" name="TextBox 49">
            <a:hlinkHover tooltip="Percentage of code lines executed by automated tests in CI, from Codecov, SonarQube, or pytest-cov on the linked PR." action="ppaction://noaction"/>
          </p:cNvPr>
          <p:cNvSpPr txBox="1"/>
          <p:nvPr/>
        </p:nvSpPr>
        <p:spPr>
          <a:xfrm>
            <a:off x="8238744" y="253288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Percentage of code lines executed by automated tests in CI, from Codecov, SonarQube, or pytest-cov on the lin…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80" y="2606040"/>
            <a:ext cx="3429000" cy="125272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27157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53" name="TextBox 52">
            <a:hlinkHover tooltip="Percentage of code branches (if/else paths) covered by automated tests in CI, from Codecov, SonarQube, or pytest-cov on the linked PR." action="ppaction://noaction"/>
          </p:cNvPr>
          <p:cNvSpPr txBox="1"/>
          <p:nvPr/>
        </p:nvSpPr>
        <p:spPr>
          <a:xfrm>
            <a:off x="8257032" y="3136392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Branch cov.</a:t>
            </a:r>
          </a:p>
        </p:txBody>
      </p:sp>
      <p:sp>
        <p:nvSpPr>
          <p:cNvPr id="54" name="Oval 53">
            <a:hlinkHover tooltip="Percentage of code branches (if/else paths) covered by automated tests in CI, from Codecov, SonarQube, or pytest-cov on the linked PR." action="ppaction://noaction"/>
          </p:cNvPr>
          <p:cNvSpPr/>
          <p:nvPr/>
        </p:nvSpPr>
        <p:spPr>
          <a:xfrm>
            <a:off x="11338560" y="2660904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55" name="TextBox 54">
            <a:hlinkHover tooltip="Percentage of code branches (if/else paths) covered by automated tests in CI, from Codecov, SonarQube, or pytest-cov on the linked PR." action="ppaction://noaction"/>
          </p:cNvPr>
          <p:cNvSpPr txBox="1"/>
          <p:nvPr/>
        </p:nvSpPr>
        <p:spPr>
          <a:xfrm>
            <a:off x="8238744" y="349300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334155"/>
                </a:solidFill>
                <a:latin typeface="Calibri"/>
              </a:defRPr>
            </a:pPr>
            <a:r>
              <a:t>Percentage of code branches (if/else paths) covered by automated tests in CI, from Codecov, SonarQube, or pyt…</a:t>
            </a:r>
          </a:p>
        </p:txBody>
      </p:sp>
      <p:sp>
        <p:nvSpPr>
          <p:cNvPr id="56" name="Rounded Rectangle 55">
            <a:hlinkHover tooltip="Metric at or above 85% — green in HTML report." action="ppaction://noaction"/>
          </p:cNvPr>
          <p:cNvSpPr/>
          <p:nvPr/>
        </p:nvSpPr>
        <p:spPr>
          <a:xfrm>
            <a:off x="502920" y="5806440"/>
            <a:ext cx="1234440" cy="438912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≥85%</a:t>
            </a:r>
          </a:p>
        </p:txBody>
      </p:sp>
      <p:sp>
        <p:nvSpPr>
          <p:cNvPr id="57" name="Rounded Rectangle 56">
            <a:hlinkHover tooltip="Metric between 70% and 84.9% — amber in HTML report." action="ppaction://noaction"/>
          </p:cNvPr>
          <p:cNvSpPr/>
          <p:nvPr/>
        </p:nvSpPr>
        <p:spPr>
          <a:xfrm>
            <a:off x="1920240" y="5806440"/>
            <a:ext cx="1234440" cy="438912"/>
          </a:xfrm>
          <a:prstGeom prst="round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70–84%</a:t>
            </a:r>
          </a:p>
        </p:txBody>
      </p:sp>
      <p:sp>
        <p:nvSpPr>
          <p:cNvPr id="58" name="Rounded Rectangle 57">
            <a:hlinkHover tooltip="Metric below 70% — red in HTML report." action="ppaction://noaction"/>
          </p:cNvPr>
          <p:cNvSpPr/>
          <p:nvPr/>
        </p:nvSpPr>
        <p:spPr>
          <a:xfrm>
            <a:off x="3337560" y="5806440"/>
            <a:ext cx="1234440" cy="438912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&lt;70%</a:t>
            </a:r>
          </a:p>
        </p:txBody>
      </p:sp>
      <p:sp>
        <p:nvSpPr>
          <p:cNvPr id="59" name="Rounded Rectangle 58">
            <a:hlinkHover tooltip="Not available (e.g. no PR for CI, branch-only compare)." action="ppaction://noaction"/>
          </p:cNvPr>
          <p:cNvSpPr/>
          <p:nvPr/>
        </p:nvSpPr>
        <p:spPr>
          <a:xfrm>
            <a:off x="4754880" y="5806440"/>
            <a:ext cx="1234440" cy="43891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uide: Requirement traceability chart — Jira · Code · Test plan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Requirement traceability chart — Jira · Code · Test plan</a:t>
            </a:r>
          </a:p>
        </p:txBody>
      </p:sp>
      <p:sp>
        <p:nvSpPr>
          <p:cNvPr id="7" name="Oval 6">
            <a:hlinkHover tooltip="Guide: Requirement traceability chart — Jira · Code · Test plan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uide: Requirement traceability chart — Jira · Code · Test plan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MSC-212571 · Scenarios · 28 scenarios · 28/28 GWT · PR #99 pegasus-partner-config-service · #148 pegasus-transmogrifier</a:t>
            </a:r>
          </a:p>
        </p:txBody>
      </p:sp>
      <p:sp>
        <p:nvSpPr>
          <p:cNvPr id="9" name="TextBox 8">
            <a:hlinkHover tooltip="Guide: Requirement traceability chart — Jira · Code · Test plan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Guide: Requirement traceability chart — Jira · Code · Test plan</a:t>
            </a:r>
          </a:p>
        </p:txBody>
      </p:sp>
      <p:sp>
        <p:nvSpPr>
          <p:cNvPr id="10" name="Rectangle 9">
            <a:hlinkHover tooltip="Requirement (Jira story)" action="ppaction://noaction"/>
          </p:cNvPr>
          <p:cNvSpPr/>
          <p:nvPr/>
        </p:nvSpPr>
        <p:spPr>
          <a:xfrm>
            <a:off x="502920" y="1234440"/>
            <a:ext cx="3977639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Requirement (Jira story)</a:t>
            </a:r>
          </a:p>
        </p:txBody>
      </p:sp>
      <p:sp>
        <p:nvSpPr>
          <p:cNvPr id="11" name="Rectangle 10">
            <a:hlinkHover tooltip="Code coverage (linked PR)" action="ppaction://noaction"/>
          </p:cNvPr>
          <p:cNvSpPr/>
          <p:nvPr/>
        </p:nvSpPr>
        <p:spPr>
          <a:xfrm>
            <a:off x="4553711" y="1234440"/>
            <a:ext cx="370332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coverage (linked PR)</a:t>
            </a:r>
          </a:p>
        </p:txBody>
      </p:sp>
      <p:sp>
        <p:nvSpPr>
          <p:cNvPr id="12" name="Rectangle 11">
            <a:hlinkHover tooltip="Test plan (Jira Excel attachment)" action="ppaction://noaction"/>
          </p:cNvPr>
          <p:cNvSpPr/>
          <p:nvPr/>
        </p:nvSpPr>
        <p:spPr>
          <a:xfrm>
            <a:off x="8330183" y="1234440"/>
            <a:ext cx="361188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plan (Jira Excel attachment)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7335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72821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R1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Content passport retained in cumulative output manifestation for PFT Clear incremental-as-full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1" y="167335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3" y="172821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 #161 · passport_manager.py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0183" y="167335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5" y="172821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Mascot evidence linked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3347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68833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R2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When metadata-update becomes full fulfillment, pack passport must be delivered for increment…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1" y="263347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3" y="268833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Dev tests: Partial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PriorFulfilledManifestRecord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3" y="2633472"/>
            <a:ext cx="361188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5" y="268833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TC1, TC4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Aligns with PR behavior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93592"/>
            <a:ext cx="3977639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64845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R3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Pick-genie must not drop passport re-fetch when workflow resolves fulfillmentType full (PFT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1" y="3593592"/>
            <a:ext cx="370332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3" y="364845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Implemented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Dev tests: Covered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TestDominoPassportRouting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3" y="3593592"/>
            <a:ext cx="3611880" cy="9601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5" y="364845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TC1–TC5 mapped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Given/When/Then: full</a:t>
            </a:r>
          </a:p>
          <a:p>
            <a:pPr>
              <a:spcAft>
                <a:spcPts val="200"/>
              </a:spcAft>
              <a:defRPr sz="900">
                <a:solidFill>
                  <a:srgbClr val="16A34A"/>
                </a:solidFill>
                <a:latin typeface="Calibri"/>
              </a:defRPr>
            </a:pPr>
            <a:r>
              <a:t>Incremental-as-full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53712"/>
            <a:ext cx="3977639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608576"/>
            <a:ext cx="38313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066C"/>
                </a:solidFill>
                <a:latin typeface="Calibri"/>
              </a:defRPr>
            </a:pPr>
            <a:r>
              <a:t>R4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Fix validated in SIT with Edit ID 37ea180e-77cc-413f-95cf-9dfcebf08cd2 and provided Mascot e…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3711" y="4553712"/>
            <a:ext cx="3703320" cy="960120"/>
          </a:xfrm>
          <a:prstGeom prst="rect">
            <a:avLst/>
          </a:prstGeom>
          <a:solidFill>
            <a:srgbClr val="FFEDD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3" y="4608576"/>
            <a:ext cx="3557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Partial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Dev tests: Missing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QA Manual — SIT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0183" y="4553712"/>
            <a:ext cx="3611880" cy="9601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5" y="4608576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No mapped test case</a:t>
            </a:r>
          </a:p>
          <a:p>
            <a:pPr>
              <a:spcAft>
                <a:spcPts val="200"/>
              </a:spcAft>
              <a:defRPr sz="900">
                <a:solidFill>
                  <a:srgbClr val="DC2626"/>
                </a:solidFill>
                <a:latin typeface="Calibri"/>
              </a:defRPr>
            </a:pPr>
            <a:r>
              <a:t>Gap: missing Edit ID scenario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Calibri"/>
              </a:defRPr>
            </a:pPr>
            <a:r>
              <a:t>Then steps lack passport assertion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Left: acceptance criteria extracted from Jira description · Middle: production code + dev unit/integration tests from PR diff · Right: scenarios parsed from the Excel test plan file attached to the Jira ticket (not a separate tool — the workbook in Jira attachments).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Fetches LADR/design requirements when linked; quick links exclude grooming/deployment page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Confluence LADR requirements from Jira</a:t>
            </a:r>
          </a:p>
        </p:txBody>
      </p:sp>
      <p:sp>
        <p:nvSpPr>
          <p:cNvPr id="7" name="Oval 6">
            <a:hlinkHover tooltip="Fetches LADR/design requirements when linked; quick links exclude grooming/deployment page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Fetches LADR/design requirements when linked; quick links exclude grooming/deployment page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When a LADR doc is linked on the story, the agent fetches Confluence and merges LADR requirements with Jira acceptance criteria. Quick nav uses collect_ladr_page_links() — grooming/deployment wiki links stay out of the header.</a:t>
            </a:r>
          </a:p>
        </p:txBody>
      </p:sp>
      <p:sp>
        <p:nvSpPr>
          <p:cNvPr id="9" name="TextBox 8">
            <a:hlinkHover tooltip="Fetches LADR/design requirements when linked; quick links exclude grooming/deployment page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Fetches LADR/design requirements when linked; quick links exclude grooming/deployment pages.</a:t>
            </a:r>
          </a:p>
        </p:txBody>
      </p:sp>
      <p:sp>
        <p:nvSpPr>
          <p:cNvPr id="10" name="Rounded Rectangle 9">
            <a:hlinkHover tooltip="Detected from Jira" action="ppaction://noaction"/>
          </p:cNvPr>
          <p:cNvSpPr/>
          <p:nvPr/>
        </p:nvSpPr>
        <p:spPr>
          <a:xfrm>
            <a:off x="502920" y="1234440"/>
            <a:ext cx="3520440" cy="384048"/>
          </a:xfrm>
          <a:prstGeom prst="round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 from 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Comment or description mentions LADR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Confluence wiki URL (atlassian.net/wiki/…/pages/{id})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Linked design doc referenced in dev/QA 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Test plan scenarios trace to LADR scope</a:t>
            </a:r>
          </a:p>
        </p:txBody>
      </p:sp>
      <p:sp>
        <p:nvSpPr>
          <p:cNvPr id="15" name="Rounded Rectangle 14">
            <a:hlinkHover tooltip="Agent fetch (one batch)" action="ppaction://noaction"/>
          </p:cNvPr>
          <p:cNvSpPr/>
          <p:nvPr/>
        </p:nvSpPr>
        <p:spPr>
          <a:xfrm>
            <a:off x="4251960" y="1234440"/>
            <a:ext cx="3520440" cy="38404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fetch (one batch)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1. getConfluencePage (Atlassian 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128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2. python scripts/fetch_confluence_requirements.py {KEY}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88336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3. Parse LADR requirement items from page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63824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4. Write reports/.cache/{KEY}-confluence.json</a:t>
            </a:r>
          </a:p>
        </p:txBody>
      </p:sp>
      <p:sp>
        <p:nvSpPr>
          <p:cNvPr id="20" name="Rounded Rectangle 19">
            <a:hlinkHover tooltip="Merged requirement model" action="ppaction://noaction"/>
          </p:cNvPr>
          <p:cNvSpPr/>
          <p:nvPr/>
        </p:nvSpPr>
        <p:spPr>
          <a:xfrm>
            <a:off x="8001000" y="1234440"/>
            <a:ext cx="3657600" cy="384048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Merged requirement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737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Jira AC → R1, R2, R3…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21284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Confluence LADR → L1…Ln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688336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Test cases map to R* and L* (semantic match)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163824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Report §3: LADR ↔ test case traceability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63931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→ Test plan AC coverage % uses combined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94760"/>
            <a:ext cx="11155680" cy="141732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Example — MSC-204417: Jira references a LADR doc; agent fetches Confluence LADR requirements and merges with Promo Caption Monitoring test plan (12 scenarios, Caption · 12 scenarios · 12/12 GWT). Report MSC-204417-06-02-2026-17-26-52-IST.html: 100.0% dev code · 55.6% test plan AC · 15/27 AC in test plan mapped · Fail. ESS LADR + passport scenario pages (word-boundary safe).</a:t>
            </a:r>
          </a:p>
        </p:txBody>
      </p:sp>
      <p:sp>
        <p:nvSpPr>
          <p:cNvPr id="28" name="Rectangle 27">
            <a:hlinkHover tooltip="Any LADR-linked story — design requirements become testable L* items for coverage scoring" action="ppaction://noaction"/>
          </p:cNvPr>
          <p:cNvSpPr/>
          <p:nvPr/>
        </p:nvSpPr>
        <p:spPr>
          <a:xfrm>
            <a:off x="502920" y="5349240"/>
            <a:ext cx="1115568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Any LADR-linked story — design requirements become testable L* items for coverage scoring</a:t>
            </a:r>
          </a:p>
        </p:txBody>
      </p:sp>
      <p:sp>
        <p:nvSpPr>
          <p:cNvPr id="29" name="Rounded Rectangle 28">
            <a:hlinkHover tooltip="Wiki URL or LADR comment on Jira" action="ppaction://noaction"/>
          </p:cNvPr>
          <p:cNvSpPr/>
          <p:nvPr/>
        </p:nvSpPr>
        <p:spPr>
          <a:xfrm>
            <a:off x="50292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Wiki URL or LADR comment on Jira</a:t>
            </a:r>
          </a:p>
        </p:txBody>
      </p:sp>
      <p:sp>
        <p:nvSpPr>
          <p:cNvPr id="30" name="Rounded Rectangle 29">
            <a:hlinkHover tooltip="Confluence page body → requirement list" action="ppaction://noaction"/>
          </p:cNvPr>
          <p:cNvSpPr/>
          <p:nvPr/>
        </p:nvSpPr>
        <p:spPr>
          <a:xfrm>
            <a:off x="329184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Confluence page body → requirement list</a:t>
            </a:r>
          </a:p>
        </p:txBody>
      </p:sp>
      <p:sp>
        <p:nvSpPr>
          <p:cNvPr id="31" name="Rounded Rectangle 30">
            <a:hlinkHover tooltip="Merged with Jira AC + Excel test plan" action="ppaction://noaction"/>
          </p:cNvPr>
          <p:cNvSpPr/>
          <p:nvPr/>
        </p:nvSpPr>
        <p:spPr>
          <a:xfrm>
            <a:off x="608076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Merged with Jira AC + Excel test plan</a:t>
            </a:r>
          </a:p>
        </p:txBody>
      </p:sp>
      <p:sp>
        <p:nvSpPr>
          <p:cNvPr id="32" name="Rounded Rectangle 31">
            <a:hlinkHover tooltip="LADR ↔ test case table + gap list for unmapped L*" action="ppaction://noaction"/>
          </p:cNvPr>
          <p:cNvSpPr/>
          <p:nvPr/>
        </p:nvSpPr>
        <p:spPr>
          <a:xfrm>
            <a:off x="8869680" y="5742432"/>
            <a:ext cx="2743200" cy="5029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LADR ↔ test case table + gap list for unmapped L*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QMetry test plan from Jira mapped to Jira acceptance criteria and Confluence LADR requirements (when linked), with LADR ↔ test case traceability and PR alignment check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§3 Test plan validation — Jira Excel + LADR alignment</a:t>
            </a:r>
          </a:p>
        </p:txBody>
      </p:sp>
      <p:sp>
        <p:nvSpPr>
          <p:cNvPr id="7" name="Oval 6">
            <a:hlinkHover tooltip="QMetry test plan from Jira mapped to Jira acceptance criteria and Confluence LADR requirements (when linked), with LADR ↔ test case traceability and PR alignment check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QMetry test plan from Jira mapped to Jira acceptance criteria and Confluence LADR requirements (when linked), with LADR ↔ test case traceability and PR alignment check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Confluence LADR requirements when linked · Excel attachment · Given/When/Then · Evidence</a:t>
            </a:r>
          </a:p>
        </p:txBody>
      </p:sp>
      <p:sp>
        <p:nvSpPr>
          <p:cNvPr id="9" name="TextBox 8">
            <a:hlinkHover tooltip="QMetry test plan from Jira mapped to Jira acceptance criteria and Confluence LADR requirements (when linked), with LADR ↔ test case traceability and PR alignment check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QMetry test plan from Jira mapped to Jira acceptance criteria and Confluence LADR requirements (when linked),…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43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Confluence LADR (from Jira)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9047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If story comments or description reference LADR or wiki URLs, agent fetches Confluence via MCP or fetch_confluence_requirements.py</a:t>
            </a:r>
          </a:p>
        </p:txBody>
      </p:sp>
      <p:sp>
        <p:nvSpPr>
          <p:cNvPr id="13" name="Rounded Rectangle 12">
            <a:hlinkHover tooltip="LADR requirements L1…Ln · cache {KEY}-confluence.json" action="ppaction://noaction"/>
          </p:cNvPr>
          <p:cNvSpPr/>
          <p:nvPr/>
        </p:nvSpPr>
        <p:spPr>
          <a:xfrm>
            <a:off x="6217920" y="128016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LADR requirements L1…Ln · cache {KEY}-confluence.json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47672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476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LADR ↔ test plan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951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Each L1…Ln requirement tied to Excel test case IDs in report §3</a:t>
            </a:r>
          </a:p>
        </p:txBody>
      </p:sp>
      <p:sp>
        <p:nvSpPr>
          <p:cNvPr id="17" name="Rounded Rectangle 16">
            <a:hlinkHover tooltip="13/14 LADR mapped · MSC-204417" action="ppaction://noaction"/>
          </p:cNvPr>
          <p:cNvSpPr/>
          <p:nvPr/>
        </p:nvSpPr>
        <p:spPr>
          <a:xfrm>
            <a:off x="6217920" y="2084832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13/14 LADR mapped · MSC-204417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52344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523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Domino Excel test plan (Jira attachment)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998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Jira attachment or local testplans/</a:t>
            </a:r>
          </a:p>
        </p:txBody>
      </p:sp>
      <p:sp>
        <p:nvSpPr>
          <p:cNvPr id="21" name="Rounded Rectangle 20">
            <a:hlinkHover tooltip="fetch_jira_testplan.py" action="ppaction://noaction"/>
          </p:cNvPr>
          <p:cNvSpPr/>
          <p:nvPr/>
        </p:nvSpPr>
        <p:spPr>
          <a:xfrm>
            <a:off x="6217920" y="2889504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fetch_jira_testplan.py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57016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5701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Given / When / 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0448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Content-based Given/When/Then scoring (not column-name only)</a:t>
            </a:r>
          </a:p>
        </p:txBody>
      </p:sp>
      <p:sp>
        <p:nvSpPr>
          <p:cNvPr id="25" name="Rounded Rectangle 24">
            <a:hlinkHover tooltip="12/12 GWT · MSC-204417" action="ppaction://noaction"/>
          </p:cNvPr>
          <p:cNvSpPr/>
          <p:nvPr/>
        </p:nvSpPr>
        <p:spPr>
          <a:xfrm>
            <a:off x="6217920" y="3694176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12/12 GWT · MSC-204417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61688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616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LADR + Jira AC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Semantic match of test cases to Jira AC and Confluence LADR requirements</a:t>
            </a:r>
          </a:p>
        </p:txBody>
      </p:sp>
      <p:sp>
        <p:nvSpPr>
          <p:cNvPr id="29" name="Rounded Rectangle 28">
            <a:hlinkHover tooltip="94.1% · MSC-204417" action="ppaction://noaction"/>
          </p:cNvPr>
          <p:cNvSpPr/>
          <p:nvPr/>
        </p:nvSpPr>
        <p:spPr>
          <a:xfrm>
            <a:off x="6217920" y="4498848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94.1% · MSC-204417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66360"/>
            <a:ext cx="73152" cy="868680"/>
          </a:xfrm>
          <a:prstGeom prst="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66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4066C"/>
                </a:solidFill>
                <a:latin typeface="Calibri"/>
              </a:defRPr>
            </a:pPr>
            <a:r>
              <a:t>Evidence (Mascot or IDs)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1383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Mascot URLs when present; else Edit ID, Caption Group ID, Pegasus ID from SIT Jobs / Comments columns (MSC-204417 Caption Monitoring)</a:t>
            </a:r>
          </a:p>
        </p:txBody>
      </p:sp>
      <p:sp>
        <p:nvSpPr>
          <p:cNvPr id="33" name="Rounded Rectangle 32">
            <a:hlinkHover tooltip="Edit ID · SIT Jobs · MSC-204417" action="ppaction://noaction"/>
          </p:cNvPr>
          <p:cNvSpPr/>
          <p:nvPr/>
        </p:nvSpPr>
        <p:spPr>
          <a:xfrm>
            <a:off x="6217920" y="5303520"/>
            <a:ext cx="5440680" cy="685800"/>
          </a:xfrm>
          <a:prstGeom prst="roundRect">
            <a:avLst/>
          </a:prstGeom>
          <a:solidFill>
            <a:srgbClr val="E8F0F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066C"/>
                </a:solidFill>
                <a:latin typeface="Calibri"/>
              </a:defRPr>
            </a:pPr>
            <a:r>
              <a:t>Edit ID · SIT Jobs · MSC-204417</a:t>
            </a:r>
          </a:p>
        </p:txBody>
      </p:sp>
      <p:sp>
        <p:nvSpPr>
          <p:cNvPr id="34" name="Rectangle 33">
            <a:hlinkHover tooltip="Scenario examples" action="ppaction://noaction"/>
          </p:cNvPr>
          <p:cNvSpPr/>
          <p:nvPr/>
        </p:nvSpPr>
        <p:spPr>
          <a:xfrm>
            <a:off x="6217920" y="5349240"/>
            <a:ext cx="5440680" cy="36576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Scenario examples</a:t>
            </a:r>
          </a:p>
        </p:txBody>
      </p:sp>
      <p:sp>
        <p:nvSpPr>
          <p:cNvPr id="35" name="Rectangle 34">
            <a:hlinkHover tooltip="MSC-204417 · LADR requirements · 94.1% test plan AC" action="ppaction://noaction"/>
          </p:cNvPr>
          <p:cNvSpPr/>
          <p:nvPr/>
        </p:nvSpPr>
        <p:spPr>
          <a:xfrm>
            <a:off x="6217920" y="5742432"/>
            <a:ext cx="5440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MSC-204417 · LADR requirements · 94.1% test plan AC</a:t>
            </a:r>
          </a:p>
        </p:txBody>
      </p:sp>
      <p:sp>
        <p:nvSpPr>
          <p:cNvPr id="36" name="Rectangle 35">
            <a:hlinkHover tooltip="MSC-205625 · Inc as Fulll · 75% test plan AC" action="ppaction://noaction"/>
          </p:cNvPr>
          <p:cNvSpPr/>
          <p:nvPr/>
        </p:nvSpPr>
        <p:spPr>
          <a:xfrm>
            <a:off x="6217920" y="6089904"/>
            <a:ext cx="544068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MSC-205625 · Inc as Fulll · 75% test plan AC</a:t>
            </a:r>
          </a:p>
        </p:txBody>
      </p:sp>
      <p:sp>
        <p:nvSpPr>
          <p:cNvPr id="37" name="Rectangle 36">
            <a:hlinkHover tooltip="MSC-195138 · FF Race · 66.7% test plan AC" action="ppaction://noaction"/>
          </p:cNvPr>
          <p:cNvSpPr/>
          <p:nvPr/>
        </p:nvSpPr>
        <p:spPr>
          <a:xfrm>
            <a:off x="6217920" y="6437376"/>
            <a:ext cx="5440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MSC-195138 · FF Race · 66.7% test plan AC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Which requirements are proven by dev unit/integration tests in the PR versus handed off to QA for E2E, manual, or regression verification. Dev-owned acceptance criteria should be proven by unit or integration tests in the linked PR; QA-owned items need fu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§4–§5 Dev vs QA ownership &amp; traceability</a:t>
            </a:r>
          </a:p>
        </p:txBody>
      </p:sp>
      <p:sp>
        <p:nvSpPr>
          <p:cNvPr id="7" name="Oval 6">
            <a:hlinkHover tooltip="Which requirements are proven by dev unit/integration tests in the PR versus handed off to QA for E2E, manual, or regression verification. Dev-owned acceptance criteria should be proven by unit or integration tests in the linked PR; QA-owned items need fu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Which requirements are proven by dev unit/integration tests in the PR versus handed off to QA for E2E, manual, or regression verification. Dev-owned acceptance criteria should be proven by unit or integration tests in the linked PR; QA-owned items need fu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No ambiguity on what QA must still run in SIT/UAT</a:t>
            </a:r>
          </a:p>
        </p:txBody>
      </p:sp>
      <p:sp>
        <p:nvSpPr>
          <p:cNvPr id="9" name="TextBox 8">
            <a:hlinkHover tooltip="Which requirements are proven by dev unit/integration tests in the PR versus handed off to QA for E2E, manual, or regression verification. Dev-owned acceptance criteria should be proven by unit or integration tests in the linked PR; QA-owned items need fu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Which requirements are proven by dev unit/integration tests in the PR versus handed off to QA for E2E, manual…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394960" cy="448056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4066C"/>
                </a:solidFill>
                <a:latin typeface="Calibri"/>
              </a:defRPr>
            </a:pPr>
            <a:r>
              <a:t>Development proof</a:t>
            </a:r>
          </a:p>
        </p:txBody>
      </p:sp>
      <p:sp>
        <p:nvSpPr>
          <p:cNvPr id="12" name="Oval 11">
            <a:hlinkHover tooltip="Requirements already proven by unit or integration tests in the linked PR." action="ppaction://noaction"/>
          </p:cNvPr>
          <p:cNvSpPr/>
          <p:nvPr/>
        </p:nvSpPr>
        <p:spPr>
          <a:xfrm>
            <a:off x="5440680" y="144475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Unit / integration tests in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File + test name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Dev-owned AC marked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CI line coverage — 99.2% (linked PR)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  <a:latin typeface="Calibri"/>
              </a:defRPr>
            </a:pPr>
            <a:r>
              <a:t>✓  Dev-covered AC → qaScope: none (excluded from QA TC execute list)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280160"/>
            <a:ext cx="5394960" cy="4480560"/>
          </a:xfrm>
          <a:prstGeom prst="roundRect">
            <a:avLst/>
          </a:prstGeom>
          <a:solidFill>
            <a:srgbClr val="FFEDE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E4F"/>
                </a:solidFill>
                <a:latin typeface="Calibri"/>
              </a:defRPr>
            </a:pPr>
            <a:r>
              <a:t>QA handoff</a:t>
            </a:r>
          </a:p>
        </p:txBody>
      </p:sp>
      <p:sp>
        <p:nvSpPr>
          <p:cNvPr id="20" name="Oval 19">
            <a:hlinkHover tooltip="Requirements QA must still verify in functional, E2E, or manual testing." action="ppaction://noaction"/>
          </p:cNvPr>
          <p:cNvSpPr/>
          <p:nvPr/>
        </p:nvSpPr>
        <p:spPr>
          <a:xfrm>
            <a:off x="11292840" y="1444752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E2E / manual for AC without dev test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231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Execute only TCs mapped to QA-scoped requirements (§4 filter)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26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Mascot or SIT Jobs IDs in test plan Evidence 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290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E4F"/>
                </a:solidFill>
                <a:latin typeface="Calibri"/>
              </a:defRPr>
            </a:pPr>
            <a:r>
              <a:t>→  Spot-check LADR status codes when unit tests partial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3200400"/>
            <a:ext cx="91440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66C"/>
                </a:solidFill>
              </a:defRPr>
            </a:pPr>
            <a:r>
              <a:t>AC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6" name="TextBox 5">
            <a:hlinkHover tooltip="One-time setup · scripts · cache · permissions" action="ppaction://noaction"/>
          </p:cNvPr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One-time setup · scripts · cache · permissions</a:t>
            </a:r>
          </a:p>
        </p:txBody>
      </p:sp>
      <p:sp>
        <p:nvSpPr>
          <p:cNvPr id="7" name="Oval 6">
            <a:hlinkHover tooltip="One-time setup · scripts · cache · permissions" action="ppaction://noaction"/>
          </p:cNvPr>
          <p:cNvSpPr/>
          <p:nvPr/>
        </p:nvSpPr>
        <p:spPr>
          <a:xfrm>
            <a:off x="11475720" y="1965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uide: Enablement — one-time setup (~10 min)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Enablement — one-time setup (~10 min)</a:t>
            </a:r>
          </a:p>
        </p:txBody>
      </p:sp>
      <p:sp>
        <p:nvSpPr>
          <p:cNvPr id="7" name="Oval 6">
            <a:hlinkHover tooltip="Guide: Enablement — one-time setup (~10 min)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uide: Enablement — one-time setup (~10 min)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Clone lab → MCP → gh → permissions → optional .env</a:t>
            </a:r>
          </a:p>
        </p:txBody>
      </p:sp>
      <p:sp>
        <p:nvSpPr>
          <p:cNvPr id="9" name="TextBox 8">
            <a:hlinkHover tooltip="Guide: Enablement — one-time setup (~10 min)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Guide: Enablement — one-time setup (~10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Clone pegasus-qa-agents-lab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cursor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1435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344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pip install -r requirements.txt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73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19456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Atlassian MCP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wbdstreaming.atlassian.net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19456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0" y="23957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042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gh auth 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334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GitHub PR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5440680" cy="804672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install_coverage_validator_permissions.py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Auto-run allowlist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154680"/>
            <a:ext cx="5440680" cy="804672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09360" y="3355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644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.env + validator.defaults.json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593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Test plan download + repo defaults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066C"/>
                </a:solidFill>
                <a:latin typeface="Calibri"/>
              </a:defRPr>
            </a:pPr>
            <a:r>
              <a:t>Scripts (batched — no manual gh per run):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fetch_confluence_requirements.py  ·  fetch_jira_testplan.py  ·  prefetch_coverage_inputs.py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map_requirements_to_diff.py  ·  build_coverage_report.py  ·  apply_report_ui_enhancements()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sync_pegasus_qa_agents_lab.py → push to github.com/mgunjal11/pegasus-qa-agents-lab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C0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6" name="TextBox 5">
            <a:hlinkHover tooltip="MSC case studies · latest report matrix · real coverage metrics" action="ppaction://noaction"/>
          </p:cNvPr>
          <p:cNvSpPr txBox="1"/>
          <p:nvPr/>
        </p:nvSpPr>
        <p:spPr>
          <a:xfrm>
            <a:off x="777240" y="39776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DBFE"/>
                </a:solidFill>
                <a:latin typeface="Calibri"/>
              </a:defRPr>
            </a:pPr>
            <a:r>
              <a:t>MSC case studies · latest report matrix · real coverage metrics</a:t>
            </a:r>
          </a:p>
        </p:txBody>
      </p:sp>
      <p:sp>
        <p:nvSpPr>
          <p:cNvPr id="7" name="Oval 6">
            <a:hlinkHover tooltip="MSC case studies · latest report matrix · real coverage metrics" action="ppaction://noaction"/>
          </p:cNvPr>
          <p:cNvSpPr/>
          <p:nvPr/>
        </p:nvSpPr>
        <p:spPr>
          <a:xfrm>
            <a:off x="11475720" y="1965960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Snapshot from newest HTML reports in reports/ — refreshed when the deck is built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Latest report matrix — 8-card coverage summary</a:t>
            </a:r>
          </a:p>
        </p:txBody>
      </p:sp>
      <p:sp>
        <p:nvSpPr>
          <p:cNvPr id="7" name="Oval 6">
            <a:hlinkHover tooltip="Snapshot from newest HTML reports in reports/ — refreshed when the deck is built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Snapshot from newest HTML reports in reports/ — refreshed when the deck is built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From HTML reports · newest: MSC-212571 (06-02-2026 17:33 IST)</a:t>
            </a:r>
          </a:p>
        </p:txBody>
      </p:sp>
      <p:sp>
        <p:nvSpPr>
          <p:cNvPr id="9" name="TextBox 8">
            <a:hlinkHover tooltip="Snapshot from newest HTML reports in reports/ — refreshed when the deck is built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Snapshot from newest HTML reports in reports/ — refreshed when the deck is built.</a:t>
            </a:r>
          </a:p>
        </p:txBody>
      </p:sp>
      <p:sp>
        <p:nvSpPr>
          <p:cNvPr id="10" name="Rectangle 9">
            <a:hlinkHover tooltip="MSC Jira issue key for this validation run." action="ppaction://noaction"/>
          </p:cNvPr>
          <p:cNvSpPr/>
          <p:nvPr/>
        </p:nvSpPr>
        <p:spPr>
          <a:xfrm>
            <a:off x="50292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MSC Jira issue key for this validation run.</a:t>
            </a:r>
          </a:p>
        </p:txBody>
      </p:sp>
      <p:sp>
        <p:nvSpPr>
          <p:cNvPr id="11" name="Oval 10">
            <a:hlinkHover tooltip="MSC Jira issue key for this validation run." action="ppaction://noaction"/>
          </p:cNvPr>
          <p:cNvSpPr/>
          <p:nvPr/>
        </p:nvSpPr>
        <p:spPr>
          <a:xfrm>
            <a:off x="148640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2" name="Rectangle 11">
            <a:hlinkHover tooltip="Share of Jira acceptance criteria that have matching production code changes in the linked PR. Green ≥85%, amber 70–84.9%, red below 70%." action="ppaction://noaction"/>
          </p:cNvPr>
          <p:cNvSpPr/>
          <p:nvPr/>
        </p:nvSpPr>
        <p:spPr>
          <a:xfrm>
            <a:off x="174244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Dev code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Share of Jira acceptance criteria that have matching production code chang…</a:t>
            </a:r>
          </a:p>
        </p:txBody>
      </p:sp>
      <p:sp>
        <p:nvSpPr>
          <p:cNvPr id="13" name="Oval 12">
            <a:hlinkHover tooltip="Share of Jira acceptance criteria that have matching production code changes in the linked PR. Green ≥85%, amber 70–84.9%, red below 70%." action="ppaction://noaction"/>
          </p:cNvPr>
          <p:cNvSpPr/>
          <p:nvPr/>
        </p:nvSpPr>
        <p:spPr>
          <a:xfrm>
            <a:off x="272592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4" name="Rectangle 13">
            <a:hlinkHover tooltip="Share of dev-owned acceptance criteria covered by unit or integration tests added or updated in the PR (not E2E or manual QA)." action="ppaction://noaction"/>
          </p:cNvPr>
          <p:cNvSpPr/>
          <p:nvPr/>
        </p:nvSpPr>
        <p:spPr>
          <a:xfrm>
            <a:off x="298196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Dev tests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Share of dev-owned acceptance criteria covered by unit or integration test…</a:t>
            </a:r>
          </a:p>
        </p:txBody>
      </p:sp>
      <p:sp>
        <p:nvSpPr>
          <p:cNvPr id="15" name="Oval 14">
            <a:hlinkHover tooltip="Share of dev-owned acceptance criteria covered by unit or integration tests added or updated in the PR (not E2E or manual QA)." action="ppaction://noaction"/>
          </p:cNvPr>
          <p:cNvSpPr/>
          <p:nvPr/>
        </p:nvSpPr>
        <p:spPr>
          <a:xfrm>
            <a:off x="396544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6" name="Rectangle 15">
            <a:hlinkHover tooltip="How many Jira acceptance criteria were extracted from the story and scored in this report (e.g. R1–R4)." action="ppaction://noaction"/>
          </p:cNvPr>
          <p:cNvSpPr/>
          <p:nvPr/>
        </p:nvSpPr>
        <p:spPr>
          <a:xfrm>
            <a:off x="422148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Req mapped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How many Jira acceptance criteria were extracted from the story and scored…</a:t>
            </a:r>
          </a:p>
        </p:txBody>
      </p:sp>
      <p:sp>
        <p:nvSpPr>
          <p:cNvPr id="17" name="Oval 16">
            <a:hlinkHover tooltip="How many Jira acceptance criteria were extracted from the story and scored in this report (e.g. R1–R4)." action="ppaction://noaction"/>
          </p:cNvPr>
          <p:cNvSpPr/>
          <p:nvPr/>
        </p:nvSpPr>
        <p:spPr>
          <a:xfrm>
            <a:off x="520496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8" name="Rectangle 17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/>
          <p:nvPr/>
        </p:nvSpPr>
        <p:spPr>
          <a:xfrm>
            <a:off x="546100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Test plan AC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Share of Jira acceptance criteria and linked LADR/Confluence ESS scenarios…</a:t>
            </a:r>
          </a:p>
        </p:txBody>
      </p:sp>
      <p:sp>
        <p:nvSpPr>
          <p:cNvPr id="19" name="Oval 18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/>
          <p:nvPr/>
        </p:nvSpPr>
        <p:spPr>
          <a:xfrm>
            <a:off x="644448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0" name="Rectangle 19">
            <a:hlinkHover tooltip="Count of requirements still needing QA verification—E2E, manual, regression, or spot-check—because dev tests do not fully cover them." action="ppaction://noaction"/>
          </p:cNvPr>
          <p:cNvSpPr/>
          <p:nvPr/>
        </p:nvSpPr>
        <p:spPr>
          <a:xfrm>
            <a:off x="670052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QA scope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Count of requirements still needing QA verification—E2E, manual, regressio…</a:t>
            </a:r>
          </a:p>
        </p:txBody>
      </p:sp>
      <p:sp>
        <p:nvSpPr>
          <p:cNvPr id="21" name="Oval 20">
            <a:hlinkHover tooltip="Count of requirements still needing QA verification—E2E, manual, regression, or spot-check—because dev tests do not fully cover them." action="ppaction://noaction"/>
          </p:cNvPr>
          <p:cNvSpPr/>
          <p:nvPr/>
        </p:nvSpPr>
        <p:spPr>
          <a:xfrm>
            <a:off x="768400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2" name="Rectangle 21">
            <a:hlinkHover tooltip="Implementation or test-plan concerns from the review, summarized by severity (e.g. High, Medium)." action="ppaction://noaction"/>
          </p:cNvPr>
          <p:cNvSpPr/>
          <p:nvPr/>
        </p:nvSpPr>
        <p:spPr>
          <a:xfrm>
            <a:off x="794004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Open gaps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Implementation or test-plan concerns from the review, summarized by severi…</a:t>
            </a:r>
          </a:p>
        </p:txBody>
      </p:sp>
      <p:sp>
        <p:nvSpPr>
          <p:cNvPr id="23" name="Oval 22">
            <a:hlinkHover tooltip="Implementation or test-plan concerns from the review, summarized by severity (e.g. High, Medium)." action="ppaction://noaction"/>
          </p:cNvPr>
          <p:cNvSpPr/>
          <p:nvPr/>
        </p:nvSpPr>
        <p:spPr>
          <a:xfrm>
            <a:off x="892352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4" name="Rectangle 23">
            <a:hlinkHover tooltip="Percentage of code lines executed by automated tests in CI, from Codecov, SonarQube, or pytest-cov on the linked PR." action="ppaction://noaction"/>
          </p:cNvPr>
          <p:cNvSpPr/>
          <p:nvPr/>
        </p:nvSpPr>
        <p:spPr>
          <a:xfrm>
            <a:off x="917956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CI line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Percentage of code lines executed by automated tests in CI, from Codecov,…</a:t>
            </a:r>
          </a:p>
        </p:txBody>
      </p:sp>
      <p:sp>
        <p:nvSpPr>
          <p:cNvPr id="25" name="Oval 24">
            <a:hlinkHover tooltip="Percentage of code lines executed by automated tests in CI, from Codecov, SonarQube, or pytest-cov on the linked PR." action="ppaction://noaction"/>
          </p:cNvPr>
          <p:cNvSpPr/>
          <p:nvPr/>
        </p:nvSpPr>
        <p:spPr>
          <a:xfrm>
            <a:off x="1016304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6" name="Rectangle 25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10419080" y="1207008"/>
            <a:ext cx="1212088" cy="502920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  <a:p>
            <a:pPr algn="ctr">
              <a:defRPr sz="700" i="1">
                <a:solidFill>
                  <a:srgbClr val="BFDBFE"/>
                </a:solidFill>
                <a:latin typeface="Calibri"/>
              </a:defRPr>
            </a:pPr>
            <a:r>
              <a:t>Overall readiness: Pass when requirements are met; Pass with gaps when min…</a:t>
            </a:r>
          </a:p>
        </p:txBody>
      </p:sp>
      <p:sp>
        <p:nvSpPr>
          <p:cNvPr id="27" name="Oval 26">
            <a:hlinkHover tooltip="Overall readiness: Pass when requirements are met; Pass with gaps when minor items remain; Fail when critical gaps or contradictions exist." action="ppaction://noaction"/>
          </p:cNvPr>
          <p:cNvSpPr/>
          <p:nvPr/>
        </p:nvSpPr>
        <p:spPr>
          <a:xfrm>
            <a:off x="11402568" y="1252728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28" name="TextBox 27">
            <a:hlinkHover tooltip="Column headers: hover coral ⓘ or see Definitions glossary slide for full text." action="ppaction://noaction"/>
          </p:cNvPr>
          <p:cNvSpPr txBox="1"/>
          <p:nvPr/>
        </p:nvSpPr>
        <p:spPr>
          <a:xfrm>
            <a:off x="502920" y="17190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Calibri"/>
              </a:defRPr>
            </a:pPr>
            <a:r>
              <a:t>Column headers: hover coral ⓘ or see Definitions glossary slide for full text.</a:t>
            </a:r>
          </a:p>
        </p:txBody>
      </p:sp>
      <p:sp>
        <p:nvSpPr>
          <p:cNvPr id="29" name="Rectangle 28">
            <a:hlinkHover tooltip="MSC-212571" action="ppaction://noaction"/>
          </p:cNvPr>
          <p:cNvSpPr/>
          <p:nvPr/>
        </p:nvSpPr>
        <p:spPr>
          <a:xfrm>
            <a:off x="50292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MSC-212571</a:t>
            </a:r>
          </a:p>
        </p:txBody>
      </p:sp>
      <p:sp>
        <p:nvSpPr>
          <p:cNvPr id="30" name="Rectangle 29">
            <a:hlinkHover tooltip="100.0%" action="ppaction://noaction"/>
          </p:cNvPr>
          <p:cNvSpPr/>
          <p:nvPr/>
        </p:nvSpPr>
        <p:spPr>
          <a:xfrm>
            <a:off x="174244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31" name="Rectangle 30">
            <a:hlinkHover tooltip="5.6%" action="ppaction://noaction"/>
          </p:cNvPr>
          <p:cNvSpPr/>
          <p:nvPr/>
        </p:nvSpPr>
        <p:spPr>
          <a:xfrm>
            <a:off x="298196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32" name="Rectangle 31">
            <a:hlinkHover tooltip="6/9 AC in test plan" action="ppaction://noaction"/>
          </p:cNvPr>
          <p:cNvSpPr/>
          <p:nvPr/>
        </p:nvSpPr>
        <p:spPr>
          <a:xfrm>
            <a:off x="422148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6/9 AC in test plan</a:t>
            </a:r>
          </a:p>
        </p:txBody>
      </p:sp>
      <p:sp>
        <p:nvSpPr>
          <p:cNvPr id="33" name="Rectangle 32">
            <a:hlinkHover tooltip="66.7%" action="ppaction://noaction"/>
          </p:cNvPr>
          <p:cNvSpPr/>
          <p:nvPr/>
        </p:nvSpPr>
        <p:spPr>
          <a:xfrm>
            <a:off x="546100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34" name="Rectangle 33">
            <a:hlinkHover tooltip="9 item(s)" action="ppaction://noaction"/>
          </p:cNvPr>
          <p:cNvSpPr/>
          <p:nvPr/>
        </p:nvSpPr>
        <p:spPr>
          <a:xfrm>
            <a:off x="670052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9 item(s)</a:t>
            </a:r>
          </a:p>
        </p:txBody>
      </p:sp>
      <p:sp>
        <p:nvSpPr>
          <p:cNvPr id="35" name="Rectangle 34">
            <a:hlinkHover tooltip="0 High · 11 Med" action="ppaction://noaction"/>
          </p:cNvPr>
          <p:cNvSpPr/>
          <p:nvPr/>
        </p:nvSpPr>
        <p:spPr>
          <a:xfrm>
            <a:off x="794004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11 Med</a:t>
            </a:r>
          </a:p>
        </p:txBody>
      </p:sp>
      <p:sp>
        <p:nvSpPr>
          <p:cNvPr id="36" name="Rectangle 35">
            <a:hlinkHover tooltip="99.2%" action="ppaction://noaction"/>
          </p:cNvPr>
          <p:cNvSpPr/>
          <p:nvPr/>
        </p:nvSpPr>
        <p:spPr>
          <a:xfrm>
            <a:off x="917956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37" name="Rectangle 36">
            <a:hlinkHover tooltip="Fail" action="ppaction://noaction"/>
          </p:cNvPr>
          <p:cNvSpPr/>
          <p:nvPr/>
        </p:nvSpPr>
        <p:spPr>
          <a:xfrm>
            <a:off x="10419080" y="1938528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Rectangle 37">
            <a:hlinkHover tooltip="MSC-205625" action="ppaction://noaction"/>
          </p:cNvPr>
          <p:cNvSpPr/>
          <p:nvPr/>
        </p:nvSpPr>
        <p:spPr>
          <a:xfrm>
            <a:off x="50292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MSC-205625</a:t>
            </a:r>
          </a:p>
        </p:txBody>
      </p:sp>
      <p:sp>
        <p:nvSpPr>
          <p:cNvPr id="39" name="Rectangle 38">
            <a:hlinkHover tooltip="87.5%" action="ppaction://noaction"/>
          </p:cNvPr>
          <p:cNvSpPr/>
          <p:nvPr/>
        </p:nvSpPr>
        <p:spPr>
          <a:xfrm>
            <a:off x="174244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40" name="Rectangle 39">
            <a:hlinkHover tooltip="83.3%" action="ppaction://noaction"/>
          </p:cNvPr>
          <p:cNvSpPr/>
          <p:nvPr/>
        </p:nvSpPr>
        <p:spPr>
          <a:xfrm>
            <a:off x="298196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1" name="Rectangle 40">
            <a:hlinkHover tooltip="7/9 AC in test plan" action="ppaction://noaction"/>
          </p:cNvPr>
          <p:cNvSpPr/>
          <p:nvPr/>
        </p:nvSpPr>
        <p:spPr>
          <a:xfrm>
            <a:off x="422148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7/9 AC in test plan</a:t>
            </a:r>
          </a:p>
        </p:txBody>
      </p:sp>
      <p:sp>
        <p:nvSpPr>
          <p:cNvPr id="42" name="Rectangle 41">
            <a:hlinkHover tooltip="77.8%" action="ppaction://noaction"/>
          </p:cNvPr>
          <p:cNvSpPr/>
          <p:nvPr/>
        </p:nvSpPr>
        <p:spPr>
          <a:xfrm>
            <a:off x="546100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43" name="Rectangle 42">
            <a:hlinkHover tooltip="2 item(s)" action="ppaction://noaction"/>
          </p:cNvPr>
          <p:cNvSpPr/>
          <p:nvPr/>
        </p:nvSpPr>
        <p:spPr>
          <a:xfrm>
            <a:off x="670052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 item(s)</a:t>
            </a:r>
          </a:p>
        </p:txBody>
      </p:sp>
      <p:sp>
        <p:nvSpPr>
          <p:cNvPr id="44" name="Rectangle 43">
            <a:hlinkHover tooltip="0 High · 1 Med" action="ppaction://noaction"/>
          </p:cNvPr>
          <p:cNvSpPr/>
          <p:nvPr/>
        </p:nvSpPr>
        <p:spPr>
          <a:xfrm>
            <a:off x="794004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1 Med</a:t>
            </a:r>
          </a:p>
        </p:txBody>
      </p:sp>
      <p:sp>
        <p:nvSpPr>
          <p:cNvPr id="45" name="Rectangle 44">
            <a:hlinkHover tooltip="95.3%" action="ppaction://noaction"/>
          </p:cNvPr>
          <p:cNvSpPr/>
          <p:nvPr/>
        </p:nvSpPr>
        <p:spPr>
          <a:xfrm>
            <a:off x="917956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46" name="Rectangle 45">
            <a:hlinkHover tooltip="Fail" action="ppaction://noaction"/>
          </p:cNvPr>
          <p:cNvSpPr/>
          <p:nvPr/>
        </p:nvSpPr>
        <p:spPr>
          <a:xfrm>
            <a:off x="10419080" y="2286000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7" name="Rectangle 46">
            <a:hlinkHover tooltip="MSC-204417" action="ppaction://noaction"/>
          </p:cNvPr>
          <p:cNvSpPr/>
          <p:nvPr/>
        </p:nvSpPr>
        <p:spPr>
          <a:xfrm>
            <a:off x="50292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MSC-204417</a:t>
            </a:r>
          </a:p>
        </p:txBody>
      </p:sp>
      <p:sp>
        <p:nvSpPr>
          <p:cNvPr id="48" name="Rectangle 47">
            <a:hlinkHover tooltip="100.0%" action="ppaction://noaction"/>
          </p:cNvPr>
          <p:cNvSpPr/>
          <p:nvPr/>
        </p:nvSpPr>
        <p:spPr>
          <a:xfrm>
            <a:off x="174244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49" name="Rectangle 48">
            <a:hlinkHover tooltip="33.3%" action="ppaction://noaction"/>
          </p:cNvPr>
          <p:cNvSpPr/>
          <p:nvPr/>
        </p:nvSpPr>
        <p:spPr>
          <a:xfrm>
            <a:off x="298196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33.3%</a:t>
            </a:r>
          </a:p>
        </p:txBody>
      </p:sp>
      <p:sp>
        <p:nvSpPr>
          <p:cNvPr id="50" name="Rectangle 49">
            <a:hlinkHover tooltip="15/27 AC in test plan" action="ppaction://noaction"/>
          </p:cNvPr>
          <p:cNvSpPr/>
          <p:nvPr/>
        </p:nvSpPr>
        <p:spPr>
          <a:xfrm>
            <a:off x="422148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15/27 AC in test plan</a:t>
            </a:r>
          </a:p>
        </p:txBody>
      </p:sp>
      <p:sp>
        <p:nvSpPr>
          <p:cNvPr id="51" name="Rectangle 50">
            <a:hlinkHover tooltip="55.6%" action="ppaction://noaction"/>
          </p:cNvPr>
          <p:cNvSpPr/>
          <p:nvPr/>
        </p:nvSpPr>
        <p:spPr>
          <a:xfrm>
            <a:off x="546100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55.6%</a:t>
            </a:r>
          </a:p>
        </p:txBody>
      </p:sp>
      <p:sp>
        <p:nvSpPr>
          <p:cNvPr id="52" name="Rectangle 51">
            <a:hlinkHover tooltip="2 item(s)" action="ppaction://noaction"/>
          </p:cNvPr>
          <p:cNvSpPr/>
          <p:nvPr/>
        </p:nvSpPr>
        <p:spPr>
          <a:xfrm>
            <a:off x="670052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 item(s)</a:t>
            </a:r>
          </a:p>
        </p:txBody>
      </p:sp>
      <p:sp>
        <p:nvSpPr>
          <p:cNvPr id="53" name="Rectangle 52">
            <a:hlinkHover tooltip="0 High · 2 Med" action="ppaction://noaction"/>
          </p:cNvPr>
          <p:cNvSpPr/>
          <p:nvPr/>
        </p:nvSpPr>
        <p:spPr>
          <a:xfrm>
            <a:off x="794004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2 Med</a:t>
            </a:r>
          </a:p>
        </p:txBody>
      </p:sp>
      <p:sp>
        <p:nvSpPr>
          <p:cNvPr id="54" name="Rectangle 53">
            <a:hlinkHover tooltip="NA" action="ppaction://noaction"/>
          </p:cNvPr>
          <p:cNvSpPr/>
          <p:nvPr/>
        </p:nvSpPr>
        <p:spPr>
          <a:xfrm>
            <a:off x="917956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NA</a:t>
            </a:r>
          </a:p>
        </p:txBody>
      </p:sp>
      <p:sp>
        <p:nvSpPr>
          <p:cNvPr id="55" name="Rectangle 54">
            <a:hlinkHover tooltip="Fail" action="ppaction://noaction"/>
          </p:cNvPr>
          <p:cNvSpPr/>
          <p:nvPr/>
        </p:nvSpPr>
        <p:spPr>
          <a:xfrm>
            <a:off x="10419080" y="2633472"/>
            <a:ext cx="121208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56" name="Rectangle 55">
            <a:hlinkHover tooltip="MSC-195138" action="ppaction://noaction"/>
          </p:cNvPr>
          <p:cNvSpPr/>
          <p:nvPr/>
        </p:nvSpPr>
        <p:spPr>
          <a:xfrm>
            <a:off x="50292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1A"/>
                </a:solidFill>
                <a:latin typeface="Calibri"/>
              </a:defRPr>
            </a:pPr>
            <a:r>
              <a:t>MSC-195138</a:t>
            </a:r>
          </a:p>
        </p:txBody>
      </p:sp>
      <p:sp>
        <p:nvSpPr>
          <p:cNvPr id="57" name="Rectangle 56">
            <a:hlinkHover tooltip="83.3%" action="ppaction://noaction"/>
          </p:cNvPr>
          <p:cNvSpPr/>
          <p:nvPr/>
        </p:nvSpPr>
        <p:spPr>
          <a:xfrm>
            <a:off x="174244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58" name="Rectangle 57">
            <a:hlinkHover tooltip="0.0%" action="ppaction://noaction"/>
          </p:cNvPr>
          <p:cNvSpPr/>
          <p:nvPr/>
        </p:nvSpPr>
        <p:spPr>
          <a:xfrm>
            <a:off x="298196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59" name="Rectangle 58">
            <a:hlinkHover tooltip="2/3 AC in test plan" action="ppaction://noaction"/>
          </p:cNvPr>
          <p:cNvSpPr/>
          <p:nvPr/>
        </p:nvSpPr>
        <p:spPr>
          <a:xfrm>
            <a:off x="422148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2/3 AC in test plan</a:t>
            </a:r>
          </a:p>
        </p:txBody>
      </p:sp>
      <p:sp>
        <p:nvSpPr>
          <p:cNvPr id="60" name="Rectangle 59">
            <a:hlinkHover tooltip="66.7%" action="ppaction://noaction"/>
          </p:cNvPr>
          <p:cNvSpPr/>
          <p:nvPr/>
        </p:nvSpPr>
        <p:spPr>
          <a:xfrm>
            <a:off x="546100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61" name="Rectangle 60">
            <a:hlinkHover tooltip="3 item(s)" action="ppaction://noaction"/>
          </p:cNvPr>
          <p:cNvSpPr/>
          <p:nvPr/>
        </p:nvSpPr>
        <p:spPr>
          <a:xfrm>
            <a:off x="670052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3 item(s)</a:t>
            </a:r>
          </a:p>
        </p:txBody>
      </p:sp>
      <p:sp>
        <p:nvSpPr>
          <p:cNvPr id="62" name="Rectangle 61">
            <a:hlinkHover tooltip="0 High · 2 Med" action="ppaction://noaction"/>
          </p:cNvPr>
          <p:cNvSpPr/>
          <p:nvPr/>
        </p:nvSpPr>
        <p:spPr>
          <a:xfrm>
            <a:off x="794004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0 High · 2 Med</a:t>
            </a:r>
          </a:p>
        </p:txBody>
      </p:sp>
      <p:sp>
        <p:nvSpPr>
          <p:cNvPr id="63" name="Rectangle 62">
            <a:hlinkHover tooltip="77.7%" action="ppaction://noaction"/>
          </p:cNvPr>
          <p:cNvSpPr/>
          <p:nvPr/>
        </p:nvSpPr>
        <p:spPr>
          <a:xfrm>
            <a:off x="917956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77.7%</a:t>
            </a:r>
          </a:p>
        </p:txBody>
      </p:sp>
      <p:sp>
        <p:nvSpPr>
          <p:cNvPr id="64" name="Rectangle 63">
            <a:hlinkHover tooltip="Fail" action="ppaction://noaction"/>
          </p:cNvPr>
          <p:cNvSpPr/>
          <p:nvPr/>
        </p:nvSpPr>
        <p:spPr>
          <a:xfrm>
            <a:off x="10419080" y="2980944"/>
            <a:ext cx="1212088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65" name="Rounded Rectangle 64">
            <a:hlinkHover tooltip="Report artifacts (latest)" action="ppaction://noaction"/>
          </p:cNvPr>
          <p:cNvSpPr/>
          <p:nvPr/>
        </p:nvSpPr>
        <p:spPr>
          <a:xfrm>
            <a:off x="502920" y="2697480"/>
            <a:ext cx="11155680" cy="292608"/>
          </a:xfrm>
          <a:prstGeom prst="roundRect">
            <a:avLst/>
          </a:prstGeom>
          <a:solidFill>
            <a:srgbClr val="FF5E4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 artifacts (latest)</a:t>
            </a:r>
          </a:p>
        </p:txBody>
      </p:sp>
      <p:sp>
        <p:nvSpPr>
          <p:cNvPr id="66" name="Rectangle 65">
            <a:hlinkHover tooltip="MSC-212571 · MSC-212571-06-02-2026-17-33-50-IST.html · 06-02-2026 17:33 IST · PR #99 pegasus-partner-config-service · #148 pegasus-transmogrifier · Scenarios · 28 scenarios · 28/28 GWT · LADR requirements in cache" action="ppaction://noaction"/>
          </p:cNvPr>
          <p:cNvSpPr/>
          <p:nvPr/>
        </p:nvSpPr>
        <p:spPr>
          <a:xfrm>
            <a:off x="502920" y="3035808"/>
            <a:ext cx="11155680" cy="27432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4066C"/>
                </a:solidFill>
                <a:latin typeface="Calibri"/>
              </a:defRPr>
            </a:pPr>
            <a:r>
              <a:t>MSC-212571 · MSC-212571-06-02-2026-17-33-50-IST.html · 06-02-2026 17:33 IST · PR #99 pegasus-partner-config-service · #148 pegasus-transmogrifier · Scenarios · 28 scenarios · 28/28 GWT · LADR requirements in cache</a:t>
            </a:r>
          </a:p>
        </p:txBody>
      </p:sp>
      <p:sp>
        <p:nvSpPr>
          <p:cNvPr id="67" name="Rectangle 66">
            <a:hlinkHover tooltip="MSC-205625 · MSC-205625-06-02-2026-17-29-55-IST.html · 06-02-2026 17:29 IST · PR #161 pegasus-pick-genie · #195 pegasus-encode-monitor · Inc · 5/5 GWT · LADR requirements in cache" action="ppaction://noaction"/>
          </p:cNvPr>
          <p:cNvSpPr/>
          <p:nvPr/>
        </p:nvSpPr>
        <p:spPr>
          <a:xfrm>
            <a:off x="502920" y="3328416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MSC-205625 · MSC-205625-06-02-2026-17-29-55-IST.html · 06-02-2026 17:29 IST · PR #161 pegasus-pick-genie · #195 pegasus-encode-monitor · Inc · 5/5 GWT · LADR requirements in cache</a:t>
            </a:r>
          </a:p>
        </p:txBody>
      </p:sp>
      <p:sp>
        <p:nvSpPr>
          <p:cNvPr id="68" name="Rectangle 67">
            <a:hlinkHover tooltip="MSC-204417 · MSC-204417-06-02-2026-17-26-52-IST.html · 06-02-2026 17:26 IST · No PR · develop branch (pegasus-ess) · Caption · 12 scenarios · 12/12 GWT · LADR Confluence in quick links only" action="ppaction://noaction"/>
          </p:cNvPr>
          <p:cNvSpPr/>
          <p:nvPr/>
        </p:nvSpPr>
        <p:spPr>
          <a:xfrm>
            <a:off x="502920" y="3621024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MSC-204417 · MSC-204417-06-02-2026-17-26-52-IST.html · 06-02-2026 17:26 IST · No PR · develop branch (pegasus-ess) · Caption · 12 scenarios · 12/12 GWT · LADR Confluence in quick links only</a:t>
            </a:r>
          </a:p>
        </p:txBody>
      </p:sp>
      <p:sp>
        <p:nvSpPr>
          <p:cNvPr id="69" name="Rectangle 68">
            <a:hlinkHover tooltip="MSC-195138 · MSC-195138-06-02-2026-17-32-47-IST.html · 06-02-2026 17:32 IST · PR #22 pegasus-reps · #75 pegasus-texttransform · Scenarios · 11 scenarios · 11/11 GWT · LADR requirements in cache" action="ppaction://noaction"/>
          </p:cNvPr>
          <p:cNvSpPr/>
          <p:nvPr/>
        </p:nvSpPr>
        <p:spPr>
          <a:xfrm>
            <a:off x="502920" y="3913632"/>
            <a:ext cx="11155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334155"/>
                </a:solidFill>
                <a:latin typeface="Calibri"/>
              </a:defRPr>
            </a:pPr>
            <a:r>
              <a:t>MSC-195138 · MSC-195138-06-02-2026-17-32-47-IST.html · 06-02-2026 17:32 IST · PR #22 pegasus-reps · #75 pegasus-texttransform · Scenarios · 11 scenarios · 11/11 GWT · LADR requirements in cache</a:t>
            </a:r>
          </a:p>
        </p:txBody>
      </p:sp>
      <p:sp>
        <p:nvSpPr>
          <p:cNvPr id="70" name="Rectangle 69">
            <a:hlinkHover tooltip="MSC-212571 — newest §1 cards" action="ppaction://noaction"/>
          </p:cNvPr>
          <p:cNvSpPr/>
          <p:nvPr/>
        </p:nvSpPr>
        <p:spPr>
          <a:xfrm>
            <a:off x="502920" y="4160520"/>
            <a:ext cx="5394960" cy="29260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MSC-212571 — newest §1 cards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56232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47672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9384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09544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00984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2696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62856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54296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36008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CI line</a:t>
            </a:r>
          </a:p>
        </p:txBody>
      </p:sp>
      <p:sp>
        <p:nvSpPr>
          <p:cNvPr id="83" name="Rectangle 82">
            <a:hlinkHover tooltip="MSC-204417 — branch-only (no PR)" action="ppaction://noaction"/>
          </p:cNvPr>
          <p:cNvSpPr/>
          <p:nvPr/>
        </p:nvSpPr>
        <p:spPr>
          <a:xfrm>
            <a:off x="6080760" y="4160520"/>
            <a:ext cx="5577840" cy="29260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MSC-204417 — branch-only (no PR)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60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53912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34072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25512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33.3%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07224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787384" y="4498848"/>
            <a:ext cx="1261872" cy="7498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78824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55.6%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0536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40696" y="4498848"/>
            <a:ext cx="1261872" cy="749808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32136" y="460857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4066C"/>
                </a:solidFill>
                <a:latin typeface="Calibri"/>
              </a:defRPr>
            </a:pPr>
            <a:r>
              <a:t>NA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13848" y="502920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4066C"/>
                </a:solidFill>
                <a:latin typeface="Calibri"/>
              </a:defRPr>
            </a:pPr>
            <a:r>
              <a:t>CI line</a:t>
            </a:r>
          </a:p>
        </p:txBody>
      </p:sp>
      <p:sp>
        <p:nvSpPr>
          <p:cNvPr id="96" name="Rounded Rectangle 95">
            <a:hlinkHover tooltip="MSC-205625 — dual PR + passport Confluence LADR · CI 95%+" action="ppaction://noaction"/>
          </p:cNvPr>
          <p:cNvSpPr/>
          <p:nvPr/>
        </p:nvSpPr>
        <p:spPr>
          <a:xfrm>
            <a:off x="502920" y="5349240"/>
            <a:ext cx="11155680" cy="292608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4066C"/>
                </a:solidFill>
                <a:latin typeface="Calibri"/>
              </a:defRPr>
            </a:pPr>
            <a:r>
              <a:t>MSC-205625 — dual PR + passport Confluence LADR · CI 95%+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4360" y="579729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6072" y="621792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Dev code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56232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947672" y="579729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29384" y="621792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209544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00984" y="579729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82696" y="621792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Test plan AC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62856" y="5687568"/>
            <a:ext cx="1261872" cy="685800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654296" y="579729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36008" y="621792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CI 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Recent MSC-204417, MSC-205625, MSC-195138, MSC-212571 validation runs.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Proven MSC outcomes</a:t>
            </a:r>
          </a:p>
        </p:txBody>
      </p:sp>
      <p:sp>
        <p:nvSpPr>
          <p:cNvPr id="7" name="Oval 6">
            <a:hlinkHover tooltip="Recent MSC-204417, MSC-205625, MSC-195138, MSC-212571 validation runs.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Recent MSC-204417, MSC-205625, MSC-195138, MSC-212571 validation runs.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Latest HTML reports — see full 8-card matrix on prior slide</a:t>
            </a:r>
          </a:p>
        </p:txBody>
      </p:sp>
      <p:sp>
        <p:nvSpPr>
          <p:cNvPr id="9" name="TextBox 8">
            <a:hlinkHover tooltip="Recent MSC-204417, MSC-205625, MSC-195138, MSC-212571 validation runs.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Recent MSC-204417, MSC-205625, MSC-195138, MSC-212571 validation runs.</a:t>
            </a:r>
          </a:p>
        </p:txBody>
      </p:sp>
      <p:sp>
        <p:nvSpPr>
          <p:cNvPr id="10" name="Rectangle 9">
            <a:hlinkHover tooltip="Ticket" action="ppaction://noaction"/>
          </p:cNvPr>
          <p:cNvSpPr/>
          <p:nvPr/>
        </p:nvSpPr>
        <p:spPr>
          <a:xfrm>
            <a:off x="502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</a:p>
        </p:txBody>
      </p:sp>
      <p:sp>
        <p:nvSpPr>
          <p:cNvPr id="11" name="Rectangle 10">
            <a:hlinkHover tooltip="Type" action="ppaction://noaction"/>
          </p:cNvPr>
          <p:cNvSpPr/>
          <p:nvPr/>
        </p:nvSpPr>
        <p:spPr>
          <a:xfrm>
            <a:off x="2103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2" name="Rectangle 11">
            <a:hlinkHover tooltip="Code" action="ppaction://noaction"/>
          </p:cNvPr>
          <p:cNvSpPr/>
          <p:nvPr/>
        </p:nvSpPr>
        <p:spPr>
          <a:xfrm>
            <a:off x="37033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3" name="Rectangle 12">
            <a:hlinkHover tooltip="Dev tests" action="ppaction://noaction"/>
          </p:cNvPr>
          <p:cNvSpPr/>
          <p:nvPr/>
        </p:nvSpPr>
        <p:spPr>
          <a:xfrm>
            <a:off x="53035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Dev tests</a:t>
            </a:r>
          </a:p>
        </p:txBody>
      </p:sp>
      <p:sp>
        <p:nvSpPr>
          <p:cNvPr id="14" name="Rectangle 13">
            <a:hlinkHover tooltip="Plan AC" action="ppaction://noaction"/>
          </p:cNvPr>
          <p:cNvSpPr/>
          <p:nvPr/>
        </p:nvSpPr>
        <p:spPr>
          <a:xfrm>
            <a:off x="69037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 AC</a:t>
            </a:r>
          </a:p>
        </p:txBody>
      </p:sp>
      <p:sp>
        <p:nvSpPr>
          <p:cNvPr id="15" name="Rectangle 14">
            <a:hlinkHover tooltip="Verdict" action="ppaction://noaction"/>
          </p:cNvPr>
          <p:cNvSpPr/>
          <p:nvPr/>
        </p:nvSpPr>
        <p:spPr>
          <a:xfrm>
            <a:off x="85039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6" name="Rectangle 15">
            <a:hlinkHover tooltip="Notes" action="ppaction://noaction"/>
          </p:cNvPr>
          <p:cNvSpPr/>
          <p:nvPr/>
        </p:nvSpPr>
        <p:spPr>
          <a:xfrm>
            <a:off x="10104120" y="1234440"/>
            <a:ext cx="1508760" cy="384048"/>
          </a:xfrm>
          <a:prstGeom prst="rect">
            <a:avLst/>
          </a:prstGeom>
          <a:solidFill>
            <a:srgbClr val="04066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7" name="Rectangle 16">
            <a:hlinkHover tooltip="MSC-212571" action="ppaction://noaction"/>
          </p:cNvPr>
          <p:cNvSpPr/>
          <p:nvPr/>
        </p:nvSpPr>
        <p:spPr>
          <a:xfrm>
            <a:off x="502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MSC-212571</a:t>
            </a:r>
          </a:p>
        </p:txBody>
      </p:sp>
      <p:sp>
        <p:nvSpPr>
          <p:cNvPr id="18" name="Rectangle 17">
            <a:hlinkHover tooltip="Story · In QA" action="ppaction://noaction"/>
          </p:cNvPr>
          <p:cNvSpPr/>
          <p:nvPr/>
        </p:nvSpPr>
        <p:spPr>
          <a:xfrm>
            <a:off x="2103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In QA</a:t>
            </a:r>
          </a:p>
        </p:txBody>
      </p:sp>
      <p:sp>
        <p:nvSpPr>
          <p:cNvPr id="19" name="Rectangle 18">
            <a:hlinkHover tooltip="100.0%" action="ppaction://noaction"/>
          </p:cNvPr>
          <p:cNvSpPr/>
          <p:nvPr/>
        </p:nvSpPr>
        <p:spPr>
          <a:xfrm>
            <a:off x="37033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20" name="Rectangle 19">
            <a:hlinkHover tooltip="5.6%" action="ppaction://noaction"/>
          </p:cNvPr>
          <p:cNvSpPr/>
          <p:nvPr/>
        </p:nvSpPr>
        <p:spPr>
          <a:xfrm>
            <a:off x="53035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21" name="Rectangle 20">
            <a:hlinkHover tooltip="66.7%" action="ppaction://noaction"/>
          </p:cNvPr>
          <p:cNvSpPr/>
          <p:nvPr/>
        </p:nvSpPr>
        <p:spPr>
          <a:xfrm>
            <a:off x="69037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22" name="Rectangle 21">
            <a:hlinkHover tooltip="Fail" action="ppaction://noaction"/>
          </p:cNvPr>
          <p:cNvSpPr/>
          <p:nvPr/>
        </p:nvSpPr>
        <p:spPr>
          <a:xfrm>
            <a:off x="85039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23" name="Rectangle 22">
            <a:hlinkHover tooltip="LADR requirements in cache · PR #99 pegasu…" action="ppaction://noaction"/>
          </p:cNvPr>
          <p:cNvSpPr/>
          <p:nvPr/>
        </p:nvSpPr>
        <p:spPr>
          <a:xfrm>
            <a:off x="10104120" y="1691640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LADR requirements in cache · PR #99 pegasu…</a:t>
            </a:r>
          </a:p>
        </p:txBody>
      </p:sp>
      <p:sp>
        <p:nvSpPr>
          <p:cNvPr id="24" name="Rectangle 23">
            <a:hlinkHover tooltip="MSC-205625" action="ppaction://noaction"/>
          </p:cNvPr>
          <p:cNvSpPr/>
          <p:nvPr/>
        </p:nvSpPr>
        <p:spPr>
          <a:xfrm>
            <a:off x="502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MSC-205625</a:t>
            </a:r>
          </a:p>
        </p:txBody>
      </p:sp>
      <p:sp>
        <p:nvSpPr>
          <p:cNvPr id="25" name="Rectangle 24">
            <a:hlinkHover tooltip="Bug · Ready for Release" action="ppaction://noaction"/>
          </p:cNvPr>
          <p:cNvSpPr/>
          <p:nvPr/>
        </p:nvSpPr>
        <p:spPr>
          <a:xfrm>
            <a:off x="2103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Bug · Ready for Release</a:t>
            </a:r>
          </a:p>
        </p:txBody>
      </p:sp>
      <p:sp>
        <p:nvSpPr>
          <p:cNvPr id="26" name="Rectangle 25">
            <a:hlinkHover tooltip="87.5%" action="ppaction://noaction"/>
          </p:cNvPr>
          <p:cNvSpPr/>
          <p:nvPr/>
        </p:nvSpPr>
        <p:spPr>
          <a:xfrm>
            <a:off x="37033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27" name="Rectangle 26">
            <a:hlinkHover tooltip="83.3%" action="ppaction://noaction"/>
          </p:cNvPr>
          <p:cNvSpPr/>
          <p:nvPr/>
        </p:nvSpPr>
        <p:spPr>
          <a:xfrm>
            <a:off x="53035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28" name="Rectangle 27">
            <a:hlinkHover tooltip="77.8%" action="ppaction://noaction"/>
          </p:cNvPr>
          <p:cNvSpPr/>
          <p:nvPr/>
        </p:nvSpPr>
        <p:spPr>
          <a:xfrm>
            <a:off x="69037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77.8%</a:t>
            </a:r>
          </a:p>
        </p:txBody>
      </p:sp>
      <p:sp>
        <p:nvSpPr>
          <p:cNvPr id="29" name="Rectangle 28">
            <a:hlinkHover tooltip="Fail" action="ppaction://noaction"/>
          </p:cNvPr>
          <p:cNvSpPr/>
          <p:nvPr/>
        </p:nvSpPr>
        <p:spPr>
          <a:xfrm>
            <a:off x="85039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0" name="Rectangle 29">
            <a:hlinkHover tooltip="LADR requirements in cache · PR #161 pegas…" action="ppaction://noaction"/>
          </p:cNvPr>
          <p:cNvSpPr/>
          <p:nvPr/>
        </p:nvSpPr>
        <p:spPr>
          <a:xfrm>
            <a:off x="10104120" y="2167128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LADR requirements in cache · PR #161 pegas…</a:t>
            </a:r>
          </a:p>
        </p:txBody>
      </p:sp>
      <p:sp>
        <p:nvSpPr>
          <p:cNvPr id="31" name="Rectangle 30">
            <a:hlinkHover tooltip="MSC-204417" action="ppaction://noaction"/>
          </p:cNvPr>
          <p:cNvSpPr/>
          <p:nvPr/>
        </p:nvSpPr>
        <p:spPr>
          <a:xfrm>
            <a:off x="502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MSC-204417</a:t>
            </a:r>
          </a:p>
        </p:txBody>
      </p:sp>
      <p:sp>
        <p:nvSpPr>
          <p:cNvPr id="32" name="Rectangle 31">
            <a:hlinkHover tooltip="Story · Ready for Release" action="ppaction://noaction"/>
          </p:cNvPr>
          <p:cNvSpPr/>
          <p:nvPr/>
        </p:nvSpPr>
        <p:spPr>
          <a:xfrm>
            <a:off x="2103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Ready for Release</a:t>
            </a:r>
          </a:p>
        </p:txBody>
      </p:sp>
      <p:sp>
        <p:nvSpPr>
          <p:cNvPr id="33" name="Rectangle 32">
            <a:hlinkHover tooltip="100.0%" action="ppaction://noaction"/>
          </p:cNvPr>
          <p:cNvSpPr/>
          <p:nvPr/>
        </p:nvSpPr>
        <p:spPr>
          <a:xfrm>
            <a:off x="37033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6A34A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34" name="Rectangle 33">
            <a:hlinkHover tooltip="33.3%" action="ppaction://noaction"/>
          </p:cNvPr>
          <p:cNvSpPr/>
          <p:nvPr/>
        </p:nvSpPr>
        <p:spPr>
          <a:xfrm>
            <a:off x="53035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33.3%</a:t>
            </a:r>
          </a:p>
        </p:txBody>
      </p:sp>
      <p:sp>
        <p:nvSpPr>
          <p:cNvPr id="35" name="Rectangle 34">
            <a:hlinkHover tooltip="55.6%" action="ppaction://noaction"/>
          </p:cNvPr>
          <p:cNvSpPr/>
          <p:nvPr/>
        </p:nvSpPr>
        <p:spPr>
          <a:xfrm>
            <a:off x="69037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55.6%</a:t>
            </a:r>
          </a:p>
        </p:txBody>
      </p:sp>
      <p:sp>
        <p:nvSpPr>
          <p:cNvPr id="36" name="Rectangle 35">
            <a:hlinkHover tooltip="Fail" action="ppaction://noaction"/>
          </p:cNvPr>
          <p:cNvSpPr/>
          <p:nvPr/>
        </p:nvSpPr>
        <p:spPr>
          <a:xfrm>
            <a:off x="85039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Rectangle 36">
            <a:hlinkHover tooltip="LADR Confluence in quick links only · No P…" action="ppaction://noaction"/>
          </p:cNvPr>
          <p:cNvSpPr/>
          <p:nvPr/>
        </p:nvSpPr>
        <p:spPr>
          <a:xfrm>
            <a:off x="10104120" y="2642616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LADR Confluence in quick links only · No P…</a:t>
            </a:r>
          </a:p>
        </p:txBody>
      </p:sp>
      <p:sp>
        <p:nvSpPr>
          <p:cNvPr id="38" name="Rectangle 37">
            <a:hlinkHover tooltip="MSC-195138" action="ppaction://noaction"/>
          </p:cNvPr>
          <p:cNvSpPr/>
          <p:nvPr/>
        </p:nvSpPr>
        <p:spPr>
          <a:xfrm>
            <a:off x="5029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  <a:latin typeface="Calibri"/>
              </a:defRPr>
            </a:pPr>
            <a:r>
              <a:t>MSC-195138</a:t>
            </a:r>
          </a:p>
        </p:txBody>
      </p:sp>
      <p:sp>
        <p:nvSpPr>
          <p:cNvPr id="39" name="Rectangle 38">
            <a:hlinkHover tooltip="Story · Done" action="ppaction://noaction"/>
          </p:cNvPr>
          <p:cNvSpPr/>
          <p:nvPr/>
        </p:nvSpPr>
        <p:spPr>
          <a:xfrm>
            <a:off x="21031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1A"/>
                </a:solidFill>
                <a:latin typeface="Calibri"/>
              </a:defRPr>
            </a:pPr>
            <a:r>
              <a:t>Story · Done</a:t>
            </a:r>
          </a:p>
        </p:txBody>
      </p:sp>
      <p:sp>
        <p:nvSpPr>
          <p:cNvPr id="40" name="Rectangle 39">
            <a:hlinkHover tooltip="83.3%" action="ppaction://noaction"/>
          </p:cNvPr>
          <p:cNvSpPr/>
          <p:nvPr/>
        </p:nvSpPr>
        <p:spPr>
          <a:xfrm>
            <a:off x="37033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1" name="Rectangle 40">
            <a:hlinkHover tooltip="0.0%" action="ppaction://noaction"/>
          </p:cNvPr>
          <p:cNvSpPr/>
          <p:nvPr/>
        </p:nvSpPr>
        <p:spPr>
          <a:xfrm>
            <a:off x="53035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42" name="Rectangle 41">
            <a:hlinkHover tooltip="66.7%" action="ppaction://noaction"/>
          </p:cNvPr>
          <p:cNvSpPr/>
          <p:nvPr/>
        </p:nvSpPr>
        <p:spPr>
          <a:xfrm>
            <a:off x="69037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66.7%</a:t>
            </a:r>
          </a:p>
        </p:txBody>
      </p:sp>
      <p:sp>
        <p:nvSpPr>
          <p:cNvPr id="43" name="Rectangle 42">
            <a:hlinkHover tooltip="Fail" action="ppaction://noaction"/>
          </p:cNvPr>
          <p:cNvSpPr/>
          <p:nvPr/>
        </p:nvSpPr>
        <p:spPr>
          <a:xfrm>
            <a:off x="85039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97706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Rectangle 43">
            <a:hlinkHover tooltip="LADR requirements in cache · PR #22 pegasu…" action="ppaction://noaction"/>
          </p:cNvPr>
          <p:cNvSpPr/>
          <p:nvPr/>
        </p:nvSpPr>
        <p:spPr>
          <a:xfrm>
            <a:off x="10104120" y="3118104"/>
            <a:ext cx="150876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LADR requirements in cache · PR #22 pegasu…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©LTM  |  Privileged and Confidential  |  MSC Dev Code and QA Test Coverage Validator  |  Developed by Mayur Gunjal  |  Gray text = definitions  |  F5 = hover tips on 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Hover tooltip="Guide: Definitions glossary — matches HTML report tooltips" action="ppaction://noaction"/>
          </p:cNvPr>
          <p:cNvSpPr txBox="1"/>
          <p:nvPr/>
        </p:nvSpPr>
        <p:spPr>
          <a:xfrm>
            <a:off x="502920" y="29260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4066C"/>
                </a:solidFill>
                <a:latin typeface="Calibri"/>
              </a:defRPr>
            </a:pPr>
            <a:r>
              <a:t>Definitions glossary — matches HTML report tooltips</a:t>
            </a:r>
          </a:p>
        </p:txBody>
      </p:sp>
      <p:sp>
        <p:nvSpPr>
          <p:cNvPr id="7" name="Oval 6">
            <a:hlinkHover tooltip="Guide: Definitions glossary — matches HTML report tooltips" action="ppaction://noaction"/>
          </p:cNvPr>
          <p:cNvSpPr/>
          <p:nvPr/>
        </p:nvSpPr>
        <p:spPr>
          <a:xfrm>
            <a:off x="11384280" y="310896"/>
            <a:ext cx="256032" cy="256032"/>
          </a:xfrm>
          <a:prstGeom prst="ellipse">
            <a:avLst/>
          </a:prstGeom>
          <a:solidFill>
            <a:srgbClr val="FF5E4F"/>
          </a:solidFill>
          <a:ln w="6350">
            <a:solidFill>
              <a:srgbClr val="E2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i="1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8" name="TextBox 7">
            <a:hlinkHover tooltip="Guide: Definitions glossary — matches HTML report tooltips" action="ppaction://noaction"/>
          </p:cNvPr>
          <p:cNvSpPr txBox="1"/>
          <p:nvPr/>
        </p:nvSpPr>
        <p:spPr>
          <a:xfrm>
            <a:off x="50292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Same text as info (i) icons in coverage validation HTML · gray captions on other slides are shortened</a:t>
            </a:r>
          </a:p>
        </p:txBody>
      </p:sp>
      <p:sp>
        <p:nvSpPr>
          <p:cNvPr id="9" name="TextBox 8">
            <a:hlinkHover tooltip="Guide: Definitions glossary — matches HTML report tooltips" action="ppaction://noaction"/>
          </p:cNvPr>
          <p:cNvSpPr txBox="1"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Calibri"/>
              </a:defRPr>
            </a:pPr>
            <a:r>
              <a:t>Guide: Definitions glossary — matches HTML report tooltips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Dev code coverage</a:t>
            </a:r>
          </a:p>
        </p:txBody>
      </p:sp>
      <p:sp>
        <p:nvSpPr>
          <p:cNvPr id="11" name="TextBox 10">
            <a:hlinkHover tooltip="Share of Jira acceptance criteria that have matching production code changes in the linked PR. Green ≥85%, amber 70–84.9%, red below 70%." action="ppaction://noaction"/>
          </p:cNvPr>
          <p:cNvSpPr txBox="1"/>
          <p:nvPr/>
        </p:nvSpPr>
        <p:spPr>
          <a:xfrm>
            <a:off x="502920" y="1453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Share of Jira acceptance criteria that have matching production code changes in the linked PR. Green ≥85%, am…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Dev unit / integration test coverage</a:t>
            </a:r>
          </a:p>
        </p:txBody>
      </p:sp>
      <p:sp>
        <p:nvSpPr>
          <p:cNvPr id="13" name="TextBox 12">
            <a:hlinkHover tooltip="Share of dev-owned acceptance criteria covered by unit or integration tests added or updated in the PR (not E2E or manual QA)." action="ppaction://noaction"/>
          </p:cNvPr>
          <p:cNvSpPr txBox="1"/>
          <p:nvPr/>
        </p:nvSpPr>
        <p:spPr>
          <a:xfrm>
            <a:off x="502920" y="1929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Share of dev-owned acceptance criteria covered by unit or integration tests added or updated in the PR (not 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9424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Requirements mapped</a:t>
            </a:r>
          </a:p>
        </p:txBody>
      </p:sp>
      <p:sp>
        <p:nvSpPr>
          <p:cNvPr id="15" name="TextBox 14">
            <a:hlinkHover tooltip="How many Jira acceptance criteria were extracted from the story and scored in this report (e.g. R1–R4)." action="ppaction://noaction"/>
          </p:cNvPr>
          <p:cNvSpPr txBox="1"/>
          <p:nvPr/>
        </p:nvSpPr>
        <p:spPr>
          <a:xfrm>
            <a:off x="502920" y="2404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How many Jira acceptance criteria were extracted from the story and scored in this report (e.g. R1–R4).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2491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Test plan acceptance criteria coverage</a:t>
            </a:r>
          </a:p>
        </p:txBody>
      </p:sp>
      <p:sp>
        <p:nvSpPr>
          <p:cNvPr id="17" name="TextBox 16">
            <a:hlinkHover tooltip="Share of Jira acceptance criteria and linked LADR/Confluence ESS scenarios that have at least one mapped test case in the attached test plan with Given/When/Then steps." action="ppaction://noaction"/>
          </p:cNvPr>
          <p:cNvSpPr txBox="1"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Share of Jira acceptance criteria and linked LADR/Confluence ESS scenarios that have at least one mapped test…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QA scope remaining</a:t>
            </a:r>
          </a:p>
        </p:txBody>
      </p:sp>
      <p:sp>
        <p:nvSpPr>
          <p:cNvPr id="19" name="TextBox 18">
            <a:hlinkHover tooltip="Count of requirements still needing QA verification—E2E, manual, regression, or spot-check—because dev tests do not fully cover them." action="ppaction://noaction"/>
          </p:cNvPr>
          <p:cNvSpPr txBox="1"/>
          <p:nvPr/>
        </p:nvSpPr>
        <p:spPr>
          <a:xfrm>
            <a:off x="502920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Count of requirements still needing QA verification—E2E, manual, regression, or spot-check—because dev tests…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75888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Open gaps</a:t>
            </a:r>
          </a:p>
        </p:txBody>
      </p:sp>
      <p:sp>
        <p:nvSpPr>
          <p:cNvPr id="21" name="TextBox 20">
            <a:hlinkHover tooltip="Implementation or test-plan concerns from the review, summarized by severity (e.g. High, Medium)." action="ppaction://noaction"/>
          </p:cNvPr>
          <p:cNvSpPr txBox="1"/>
          <p:nvPr/>
        </p:nvSpPr>
        <p:spPr>
          <a:xfrm>
            <a:off x="502920" y="38313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Implementation or test-plan concerns from the review, summarized by severity (e.g. High, Medium).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51376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CI line coverage</a:t>
            </a:r>
          </a:p>
        </p:txBody>
      </p:sp>
      <p:sp>
        <p:nvSpPr>
          <p:cNvPr id="23" name="TextBox 22">
            <a:hlinkHover tooltip="Percentage of code lines executed by automated tests in CI, from Codecov, SonarQube, or pytest-cov on the linked PR." action="ppaction://noaction"/>
          </p:cNvPr>
          <p:cNvSpPr txBox="1"/>
          <p:nvPr/>
        </p:nvSpPr>
        <p:spPr>
          <a:xfrm>
            <a:off x="502920" y="43068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Percentage of code lines executed by automated tests in CI, from Codecov, SonarQube, or pytest-cov on the lin…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26864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CI branch coverage</a:t>
            </a:r>
          </a:p>
        </p:txBody>
      </p:sp>
      <p:sp>
        <p:nvSpPr>
          <p:cNvPr id="25" name="TextBox 24">
            <a:hlinkHover tooltip="Percentage of code branches (if/else paths) covered by automated tests in CI, from Codecov, SonarQube, or pytest-cov on the linked PR." action="ppaction://noaction"/>
          </p:cNvPr>
          <p:cNvSpPr txBox="1"/>
          <p:nvPr/>
        </p:nvSpPr>
        <p:spPr>
          <a:xfrm>
            <a:off x="502920" y="4782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Percentage of code branches (if/else paths) covered by automated tests in CI, from Codecov, SonarQube, or pyt…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023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Release readiness score</a:t>
            </a:r>
          </a:p>
        </p:txBody>
      </p:sp>
      <p:sp>
        <p:nvSpPr>
          <p:cNvPr id="27" name="TextBox 26">
            <a:hlinkHover tooltip="Weighted composite score from dev code coverage, dev test coverage, test plan coverage, and open-gap severity (higher is better)." action="ppaction://noaction"/>
          </p:cNvPr>
          <p:cNvSpPr txBox="1"/>
          <p:nvPr/>
        </p:nvSpPr>
        <p:spPr>
          <a:xfrm>
            <a:off x="50292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Weighted composite score from dev code coverage, dev test coverage, test plan coverage, and open-gap severity…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Coverage summary</a:t>
            </a:r>
          </a:p>
        </p:txBody>
      </p:sp>
      <p:sp>
        <p:nvSpPr>
          <p:cNvPr id="29" name="TextBox 28">
            <a:hlinkHover tooltip="High-level readiness metrics from Jira acceptance criteria, linked PR code and tests, attached test plan, and CI pipeline coverage." action="ppaction://noaction"/>
          </p:cNvPr>
          <p:cNvSpPr txBox="1"/>
          <p:nvPr/>
        </p:nvSpPr>
        <p:spPr>
          <a:xfrm>
            <a:off x="502920" y="5733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High-level readiness metrics from Jira acceptance criteria, linked PR code and tests, attached test plan,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298448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Dev vs QA test ownership</a:t>
            </a:r>
          </a:p>
        </p:txBody>
      </p:sp>
      <p:sp>
        <p:nvSpPr>
          <p:cNvPr id="31" name="TextBox 30">
            <a:hlinkHover tooltip="Which requirements are proven by dev unit/integration tests in the PR versus handed off to QA for E2E, manual, or regression verification." action="ppaction://noaction"/>
          </p:cNvPr>
          <p:cNvSpPr txBox="1"/>
          <p:nvPr/>
        </p:nvSpPr>
        <p:spPr>
          <a:xfrm>
            <a:off x="6217920" y="1453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Which requirements are proven by dev unit/integration tests in the PR versus handed off to QA for E2E, manual…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773936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Requirements traceability</a:t>
            </a:r>
          </a:p>
        </p:txBody>
      </p:sp>
      <p:sp>
        <p:nvSpPr>
          <p:cNvPr id="33" name="TextBox 32">
            <a:hlinkHover tooltip="Per-requirement view of implementation status, dev test coverage, ownership, and evidence citations." action="ppaction://noaction"/>
          </p:cNvPr>
          <p:cNvSpPr txBox="1"/>
          <p:nvPr/>
        </p:nvSpPr>
        <p:spPr>
          <a:xfrm>
            <a:off x="6217920" y="1929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Per-requirement view of implementation status, dev test coverage, ownership, and evidence citations.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249424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Implementation review</a:t>
            </a:r>
          </a:p>
        </p:txBody>
      </p:sp>
      <p:sp>
        <p:nvSpPr>
          <p:cNvPr id="35" name="TextBox 34">
            <a:hlinkHover tooltip="Summary of what is correctly implemented in the PR and remaining gaps or concerns from the code and test-plan review." action="ppaction://noaction"/>
          </p:cNvPr>
          <p:cNvSpPr txBox="1"/>
          <p:nvPr/>
        </p:nvSpPr>
        <p:spPr>
          <a:xfrm>
            <a:off x="6217920" y="2404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Summary of what is correctly implemented in the PR and remaining gaps or concerns from the code and test-plan…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72491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Assumptions and open questions</a:t>
            </a:r>
          </a:p>
        </p:txBody>
      </p:sp>
      <p:sp>
        <p:nvSpPr>
          <p:cNvPr id="37" name="TextBox 36">
            <a:hlinkHover tooltip="Scoring assumptions, mapping rules, and unresolved questions used when generating this report." action="ppaction://noaction"/>
          </p:cNvPr>
          <p:cNvSpPr txBox="1"/>
          <p:nvPr/>
        </p:nvSpPr>
        <p:spPr>
          <a:xfrm>
            <a:off x="621792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Scoring assumptions, mapping rules, and unresolved questions used when generating this report.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00400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§ Recommended actions</a:t>
            </a:r>
          </a:p>
        </p:txBody>
      </p:sp>
      <p:sp>
        <p:nvSpPr>
          <p:cNvPr id="39" name="TextBox 38">
            <a:hlinkHover tooltip="Suggested next steps for dev or QA before release based on open gaps." action="ppaction://noaction"/>
          </p:cNvPr>
          <p:cNvSpPr txBox="1"/>
          <p:nvPr/>
        </p:nvSpPr>
        <p:spPr>
          <a:xfrm>
            <a:off x="6217920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Suggested next steps for dev or QA before release based on open gaps.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75888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41" name="TextBox 40">
            <a:hlinkHover tooltip="Overall readiness: Pass when requirements are met; Pass with gaps when minor items remain; Fail when critical gaps or contradictions exist." action="ppaction://noaction"/>
          </p:cNvPr>
          <p:cNvSpPr txBox="1"/>
          <p:nvPr/>
        </p:nvSpPr>
        <p:spPr>
          <a:xfrm>
            <a:off x="6217920" y="38313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Overall readiness: Pass when requirements are met; Pass with gaps when minor items remain; Fail when critical…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151376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Quick links</a:t>
            </a:r>
          </a:p>
        </p:txBody>
      </p:sp>
      <p:sp>
        <p:nvSpPr>
          <p:cNvPr id="43" name="TextBox 42">
            <a:hlinkHover tooltip="Quick navigation to the Jira story, SharePoint test plan, linked pull requests, and LADR Confluence (only when a LADR or design-requirements page is linked)." action="ppaction://noaction"/>
          </p:cNvPr>
          <p:cNvSpPr txBox="1"/>
          <p:nvPr/>
        </p:nvSpPr>
        <p:spPr>
          <a:xfrm>
            <a:off x="6217920" y="43068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Quick navigation to the Jira story, SharePoint test plan, linked pull requests, and LADR Confluence (only whe…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26864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Readiness: Acceptance criteria</a:t>
            </a:r>
          </a:p>
        </p:txBody>
      </p:sp>
      <p:sp>
        <p:nvSpPr>
          <p:cNvPr id="45" name="TextBox 44">
            <a:hlinkHover tooltip="Numbered requirements (R1, R2, …) extracted from the Jira description for traceability." action="ppaction://noaction"/>
          </p:cNvPr>
          <p:cNvSpPr txBox="1"/>
          <p:nvPr/>
        </p:nvSpPr>
        <p:spPr>
          <a:xfrm>
            <a:off x="6217920" y="4782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Numbered requirements (R1, R2, …) extracted from the Jira description for traceability.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0235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Readiness: GitHub PR</a:t>
            </a:r>
          </a:p>
        </p:txBody>
      </p:sp>
      <p:sp>
        <p:nvSpPr>
          <p:cNvPr id="47" name="TextBox 46">
            <a:hlinkHover tooltip="Pull requests linked in Jira or discovered during prefetch — source of code and dev tests." action="ppaction://noaction"/>
          </p:cNvPr>
          <p:cNvSpPr txBox="1"/>
          <p:nvPr/>
        </p:nvSpPr>
        <p:spPr>
          <a:xfrm>
            <a:off x="621792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Pull requests linked in Jira or discovered during prefetch — source of code and dev tests.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577840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4066C"/>
                </a:solidFill>
                <a:latin typeface="Calibri"/>
              </a:defRPr>
            </a:pPr>
            <a:r>
              <a:t>Readiness: Test plan</a:t>
            </a:r>
          </a:p>
        </p:txBody>
      </p:sp>
      <p:sp>
        <p:nvSpPr>
          <p:cNvPr id="49" name="TextBox 48">
            <a:hlinkHover tooltip="QMetry Excel attachment parsed for scenarios, Given/When/Then steps, and requirement mapping." action="ppaction://noaction"/>
          </p:cNvPr>
          <p:cNvSpPr txBox="1"/>
          <p:nvPr/>
        </p:nvSpPr>
        <p:spPr>
          <a:xfrm>
            <a:off x="6217920" y="5733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Calibri"/>
              </a:defRPr>
            </a:pPr>
            <a:r>
              <a:t>QMetry Excel attachment parsed for scenarios, Given/When/Then steps, and requirement mapping.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Calibri"/>
              </a:defRPr>
            </a:pPr>
            <a:r>
              <a:t>It's time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C000"/>
                </a:solidFill>
                <a:latin typeface="Calibri"/>
              </a:defRPr>
            </a:pPr>
            <a:r>
              <a:t>Outcreate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  <a:latin typeface="Consolas"/>
              </a:defRPr>
            </a:pPr>
            <a:r>
              <a:t>/msc-dev-code-and-qa-test-coverage-validator {YOUR-MSC-KEY}  ·  Developed by Mayur Gunjal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